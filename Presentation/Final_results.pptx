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3" r:id="rId2"/>
  </p:sldMasterIdLst>
  <p:notesMasterIdLst>
    <p:notesMasterId r:id="rId26"/>
  </p:notesMasterIdLst>
  <p:sldIdLst>
    <p:sldId id="989" r:id="rId3"/>
    <p:sldId id="1058" r:id="rId4"/>
    <p:sldId id="1087" r:id="rId5"/>
    <p:sldId id="1088" r:id="rId6"/>
    <p:sldId id="1089" r:id="rId7"/>
    <p:sldId id="1090" r:id="rId8"/>
    <p:sldId id="1091" r:id="rId9"/>
    <p:sldId id="1092" r:id="rId10"/>
    <p:sldId id="1093" r:id="rId11"/>
    <p:sldId id="1094" r:id="rId12"/>
    <p:sldId id="1074" r:id="rId13"/>
    <p:sldId id="1075" r:id="rId14"/>
    <p:sldId id="1076" r:id="rId15"/>
    <p:sldId id="1078" r:id="rId16"/>
    <p:sldId id="1077" r:id="rId17"/>
    <p:sldId id="1079" r:id="rId18"/>
    <p:sldId id="1080" r:id="rId19"/>
    <p:sldId id="1081" r:id="rId20"/>
    <p:sldId id="1082" r:id="rId21"/>
    <p:sldId id="1083" r:id="rId22"/>
    <p:sldId id="1084" r:id="rId23"/>
    <p:sldId id="1085" r:id="rId24"/>
    <p:sldId id="1086" r:id="rId2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A00"/>
    <a:srgbClr val="30A650"/>
    <a:srgbClr val="FDD151"/>
    <a:srgbClr val="EA4235"/>
    <a:srgbClr val="EA4739"/>
    <a:srgbClr val="397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10" autoAdjust="0"/>
    <p:restoredTop sz="95527" autoAdjust="0"/>
  </p:normalViewPr>
  <p:slideViewPr>
    <p:cSldViewPr snapToGrid="0">
      <p:cViewPr varScale="1">
        <p:scale>
          <a:sx n="93" d="100"/>
          <a:sy n="93" d="100"/>
        </p:scale>
        <p:origin x="126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554"/>
    </p:cViewPr>
  </p:sorterViewPr>
  <p:notesViewPr>
    <p:cSldViewPr snapToGrid="0">
      <p:cViewPr varScale="1">
        <p:scale>
          <a:sx n="71" d="100"/>
          <a:sy n="71" d="100"/>
        </p:scale>
        <p:origin x="2742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469045-CF7F-4CD6-892D-482E64FD5B4F}" type="doc">
      <dgm:prSet loTypeId="urn:microsoft.com/office/officeart/2005/8/layout/orgChart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23E3BA7-8B1E-482D-BD2E-271FDFC41FAB}">
      <dgm:prSet custT="1"/>
      <dgm:spPr>
        <a:ln>
          <a:solidFill>
            <a:schemeClr val="tx1"/>
          </a:solidFill>
        </a:ln>
      </dgm:spPr>
      <dgm:t>
        <a:bodyPr/>
        <a:lstStyle/>
        <a:p>
          <a:r>
            <a:rPr lang="en-GB" sz="1800" noProof="0" dirty="0">
              <a:latin typeface="+mj-lt"/>
            </a:rPr>
            <a:t>Up to 5–7 batteries on a high-end MTB</a:t>
          </a:r>
        </a:p>
      </dgm:t>
    </dgm:pt>
    <dgm:pt modelId="{47E3374A-4743-487A-9657-D0294D49ACB5}" type="parTrans" cxnId="{F933A779-568B-4642-B441-FF0A0A08FC3D}">
      <dgm:prSet/>
      <dgm:spPr/>
      <dgm:t>
        <a:bodyPr/>
        <a:lstStyle/>
        <a:p>
          <a:endParaRPr lang="en-US"/>
        </a:p>
      </dgm:t>
    </dgm:pt>
    <dgm:pt modelId="{23FB4839-E96F-4A36-BFE7-06BB23FAF5C8}" type="sibTrans" cxnId="{F933A779-568B-4642-B441-FF0A0A08FC3D}">
      <dgm:prSet/>
      <dgm:spPr/>
      <dgm:t>
        <a:bodyPr/>
        <a:lstStyle/>
        <a:p>
          <a:endParaRPr lang="en-US"/>
        </a:p>
      </dgm:t>
    </dgm:pt>
    <dgm:pt modelId="{D508D15C-CFEE-427A-B5B8-1B8D9C6A8710}">
      <dgm:prSet custT="1"/>
      <dgm:spPr>
        <a:solidFill>
          <a:schemeClr val="accent4">
            <a:lumMod val="20000"/>
            <a:lumOff val="80000"/>
          </a:schemeClr>
        </a:solidFill>
        <a:ln>
          <a:solidFill>
            <a:schemeClr val="accent1"/>
          </a:solidFill>
        </a:ln>
      </dgm:spPr>
      <dgm:t>
        <a:bodyPr/>
        <a:lstStyle/>
        <a:p>
          <a:r>
            <a:rPr lang="en-GB" sz="1800" noProof="0" dirty="0">
              <a:solidFill>
                <a:schemeClr val="tx1"/>
              </a:solidFill>
              <a:latin typeface="+mj-lt"/>
            </a:rPr>
            <a:t>Recharging burden and failures</a:t>
          </a:r>
        </a:p>
      </dgm:t>
    </dgm:pt>
    <dgm:pt modelId="{FFACBF7F-36BE-4FE4-9F9A-1DA9549B9E12}" type="parTrans" cxnId="{45B47F8B-67DA-4059-B901-1CE0A9CCE0F5}">
      <dgm:prSet/>
      <dgm:spPr>
        <a:ln>
          <a:solidFill>
            <a:schemeClr val="accent1"/>
          </a:solidFill>
        </a:ln>
      </dgm:spPr>
      <dgm:t>
        <a:bodyPr/>
        <a:lstStyle/>
        <a:p>
          <a:endParaRPr lang="en-US"/>
        </a:p>
      </dgm:t>
    </dgm:pt>
    <dgm:pt modelId="{49752786-DEFD-4E4A-B44A-38F42BF3B285}" type="sibTrans" cxnId="{45B47F8B-67DA-4059-B901-1CE0A9CCE0F5}">
      <dgm:prSet/>
      <dgm:spPr/>
      <dgm:t>
        <a:bodyPr/>
        <a:lstStyle/>
        <a:p>
          <a:endParaRPr lang="en-US"/>
        </a:p>
      </dgm:t>
    </dgm:pt>
    <dgm:pt modelId="{7E497AD7-BF95-4F33-A3BD-5AFA963A70DD}">
      <dgm:prSet custT="1"/>
      <dgm:spPr>
        <a:solidFill>
          <a:schemeClr val="accent4">
            <a:lumMod val="20000"/>
            <a:lumOff val="80000"/>
          </a:schemeClr>
        </a:solidFill>
        <a:ln>
          <a:solidFill>
            <a:schemeClr val="accent1"/>
          </a:solidFill>
        </a:ln>
      </dgm:spPr>
      <dgm:t>
        <a:bodyPr/>
        <a:lstStyle/>
        <a:p>
          <a:r>
            <a:rPr lang="en-GB" sz="1800" noProof="0" dirty="0">
              <a:solidFill>
                <a:schemeClr val="tx1"/>
              </a:solidFill>
              <a:latin typeface="+mj-lt"/>
            </a:rPr>
            <a:t>Environmental impact</a:t>
          </a:r>
        </a:p>
      </dgm:t>
    </dgm:pt>
    <dgm:pt modelId="{8FDBA627-6398-4E5B-B072-46D3C3F5E5AF}" type="parTrans" cxnId="{05A62A47-3FEC-4B8A-89C1-F4D5610C7A51}">
      <dgm:prSet/>
      <dgm:spPr>
        <a:ln>
          <a:solidFill>
            <a:schemeClr val="accent1"/>
          </a:solidFill>
        </a:ln>
      </dgm:spPr>
      <dgm:t>
        <a:bodyPr/>
        <a:lstStyle/>
        <a:p>
          <a:endParaRPr lang="en-US"/>
        </a:p>
      </dgm:t>
    </dgm:pt>
    <dgm:pt modelId="{B79C72A9-0D0A-4054-8C4B-E0F535E545A2}" type="sibTrans" cxnId="{05A62A47-3FEC-4B8A-89C1-F4D5610C7A51}">
      <dgm:prSet/>
      <dgm:spPr/>
      <dgm:t>
        <a:bodyPr/>
        <a:lstStyle/>
        <a:p>
          <a:endParaRPr lang="en-US"/>
        </a:p>
      </dgm:t>
    </dgm:pt>
    <dgm:pt modelId="{6E271660-8E14-4F23-8218-8ED90C54F07C}" type="pres">
      <dgm:prSet presAssocID="{BD469045-CF7F-4CD6-892D-482E64FD5B4F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F3823C2-7F5B-4D50-BD5C-1073E00E03E3}" type="pres">
      <dgm:prSet presAssocID="{123E3BA7-8B1E-482D-BD2E-271FDFC41FAB}" presName="hierRoot1" presStyleCnt="0">
        <dgm:presLayoutVars>
          <dgm:hierBranch val="init"/>
        </dgm:presLayoutVars>
      </dgm:prSet>
      <dgm:spPr/>
    </dgm:pt>
    <dgm:pt modelId="{1C02282C-543A-40B9-83BC-AE17B1F442EB}" type="pres">
      <dgm:prSet presAssocID="{123E3BA7-8B1E-482D-BD2E-271FDFC41FAB}" presName="rootComposite1" presStyleCnt="0"/>
      <dgm:spPr/>
    </dgm:pt>
    <dgm:pt modelId="{A2234E2B-277E-4F7B-A672-9ADA3DD47FBE}" type="pres">
      <dgm:prSet presAssocID="{123E3BA7-8B1E-482D-BD2E-271FDFC41FAB}" presName="rootText1" presStyleLbl="node0" presStyleIdx="0" presStyleCnt="1">
        <dgm:presLayoutVars>
          <dgm:chPref val="3"/>
        </dgm:presLayoutVars>
      </dgm:prSet>
      <dgm:spPr>
        <a:prstGeom prst="roundRect">
          <a:avLst/>
        </a:prstGeom>
      </dgm:spPr>
    </dgm:pt>
    <dgm:pt modelId="{0C8894B0-70FD-4C9E-9E9C-A90DACEB1567}" type="pres">
      <dgm:prSet presAssocID="{123E3BA7-8B1E-482D-BD2E-271FDFC41FAB}" presName="rootConnector1" presStyleLbl="node1" presStyleIdx="0" presStyleCnt="0"/>
      <dgm:spPr/>
    </dgm:pt>
    <dgm:pt modelId="{59A02A98-84A8-4B2F-8361-DE2925FB151C}" type="pres">
      <dgm:prSet presAssocID="{123E3BA7-8B1E-482D-BD2E-271FDFC41FAB}" presName="hierChild2" presStyleCnt="0"/>
      <dgm:spPr/>
    </dgm:pt>
    <dgm:pt modelId="{673F8997-A6ED-40E6-93C5-C3B267AF4C20}" type="pres">
      <dgm:prSet presAssocID="{FFACBF7F-36BE-4FE4-9F9A-1DA9549B9E12}" presName="Name37" presStyleLbl="parChTrans1D2" presStyleIdx="0" presStyleCnt="2"/>
      <dgm:spPr/>
    </dgm:pt>
    <dgm:pt modelId="{F7FA87C5-CDF1-412C-994C-C7F05310FAAA}" type="pres">
      <dgm:prSet presAssocID="{D508D15C-CFEE-427A-B5B8-1B8D9C6A8710}" presName="hierRoot2" presStyleCnt="0">
        <dgm:presLayoutVars>
          <dgm:hierBranch val="init"/>
        </dgm:presLayoutVars>
      </dgm:prSet>
      <dgm:spPr/>
    </dgm:pt>
    <dgm:pt modelId="{2542689D-CABF-423D-9AD2-F947E73A34C4}" type="pres">
      <dgm:prSet presAssocID="{D508D15C-CFEE-427A-B5B8-1B8D9C6A8710}" presName="rootComposite" presStyleCnt="0"/>
      <dgm:spPr/>
    </dgm:pt>
    <dgm:pt modelId="{147769AF-2224-44FA-9356-7AE2A10DB39D}" type="pres">
      <dgm:prSet presAssocID="{D508D15C-CFEE-427A-B5B8-1B8D9C6A8710}" presName="rootText" presStyleLbl="node2" presStyleIdx="0" presStyleCnt="2">
        <dgm:presLayoutVars>
          <dgm:chPref val="3"/>
        </dgm:presLayoutVars>
      </dgm:prSet>
      <dgm:spPr>
        <a:prstGeom prst="roundRect">
          <a:avLst/>
        </a:prstGeom>
      </dgm:spPr>
    </dgm:pt>
    <dgm:pt modelId="{6A924D03-90B6-46A9-9897-76BB8843807A}" type="pres">
      <dgm:prSet presAssocID="{D508D15C-CFEE-427A-B5B8-1B8D9C6A8710}" presName="rootConnector" presStyleLbl="node2" presStyleIdx="0" presStyleCnt="2"/>
      <dgm:spPr/>
    </dgm:pt>
    <dgm:pt modelId="{E633B855-FE37-42C6-A9AB-41F987E5C6FD}" type="pres">
      <dgm:prSet presAssocID="{D508D15C-CFEE-427A-B5B8-1B8D9C6A8710}" presName="hierChild4" presStyleCnt="0"/>
      <dgm:spPr/>
    </dgm:pt>
    <dgm:pt modelId="{A73AAB06-9B1C-4917-8C8B-DB9BD18992B8}" type="pres">
      <dgm:prSet presAssocID="{D508D15C-CFEE-427A-B5B8-1B8D9C6A8710}" presName="hierChild5" presStyleCnt="0"/>
      <dgm:spPr/>
    </dgm:pt>
    <dgm:pt modelId="{00B311EA-0B6F-43BD-AA1B-28DAC8171AAC}" type="pres">
      <dgm:prSet presAssocID="{8FDBA627-6398-4E5B-B072-46D3C3F5E5AF}" presName="Name37" presStyleLbl="parChTrans1D2" presStyleIdx="1" presStyleCnt="2"/>
      <dgm:spPr/>
    </dgm:pt>
    <dgm:pt modelId="{1619D528-7525-4C87-8246-101EB70EDAF8}" type="pres">
      <dgm:prSet presAssocID="{7E497AD7-BF95-4F33-A3BD-5AFA963A70DD}" presName="hierRoot2" presStyleCnt="0">
        <dgm:presLayoutVars>
          <dgm:hierBranch val="init"/>
        </dgm:presLayoutVars>
      </dgm:prSet>
      <dgm:spPr/>
    </dgm:pt>
    <dgm:pt modelId="{F62D693C-226D-4709-84D3-E7FC909D3487}" type="pres">
      <dgm:prSet presAssocID="{7E497AD7-BF95-4F33-A3BD-5AFA963A70DD}" presName="rootComposite" presStyleCnt="0"/>
      <dgm:spPr/>
    </dgm:pt>
    <dgm:pt modelId="{9FABF31F-70A8-41F9-A2C1-F170E27316FF}" type="pres">
      <dgm:prSet presAssocID="{7E497AD7-BF95-4F33-A3BD-5AFA963A70DD}" presName="rootText" presStyleLbl="node2" presStyleIdx="1" presStyleCnt="2">
        <dgm:presLayoutVars>
          <dgm:chPref val="3"/>
        </dgm:presLayoutVars>
      </dgm:prSet>
      <dgm:spPr>
        <a:prstGeom prst="roundRect">
          <a:avLst/>
        </a:prstGeom>
      </dgm:spPr>
    </dgm:pt>
    <dgm:pt modelId="{0983FD14-EE16-44DA-AB93-956FA5143BEC}" type="pres">
      <dgm:prSet presAssocID="{7E497AD7-BF95-4F33-A3BD-5AFA963A70DD}" presName="rootConnector" presStyleLbl="node2" presStyleIdx="1" presStyleCnt="2"/>
      <dgm:spPr/>
    </dgm:pt>
    <dgm:pt modelId="{1C94D1DE-3D50-432A-8D1E-AAE6237842E8}" type="pres">
      <dgm:prSet presAssocID="{7E497AD7-BF95-4F33-A3BD-5AFA963A70DD}" presName="hierChild4" presStyleCnt="0"/>
      <dgm:spPr/>
    </dgm:pt>
    <dgm:pt modelId="{983163BE-9B1E-4C2F-9FDD-2AA8DECE1DB7}" type="pres">
      <dgm:prSet presAssocID="{7E497AD7-BF95-4F33-A3BD-5AFA963A70DD}" presName="hierChild5" presStyleCnt="0"/>
      <dgm:spPr/>
    </dgm:pt>
    <dgm:pt modelId="{0D346B90-2A62-488C-9783-C8B5206BA180}" type="pres">
      <dgm:prSet presAssocID="{123E3BA7-8B1E-482D-BD2E-271FDFC41FAB}" presName="hierChild3" presStyleCnt="0"/>
      <dgm:spPr/>
    </dgm:pt>
  </dgm:ptLst>
  <dgm:cxnLst>
    <dgm:cxn modelId="{80FAC70D-52F8-409E-9536-94E243C71943}" type="presOf" srcId="{8FDBA627-6398-4E5B-B072-46D3C3F5E5AF}" destId="{00B311EA-0B6F-43BD-AA1B-28DAC8171AAC}" srcOrd="0" destOrd="0" presId="urn:microsoft.com/office/officeart/2005/8/layout/orgChart1"/>
    <dgm:cxn modelId="{9C155612-CA94-4C54-A405-09C0984ABA49}" type="presOf" srcId="{7E497AD7-BF95-4F33-A3BD-5AFA963A70DD}" destId="{0983FD14-EE16-44DA-AB93-956FA5143BEC}" srcOrd="1" destOrd="0" presId="urn:microsoft.com/office/officeart/2005/8/layout/orgChart1"/>
    <dgm:cxn modelId="{D7C6A430-18C8-4F1A-8475-809BD20E18A4}" type="presOf" srcId="{BD469045-CF7F-4CD6-892D-482E64FD5B4F}" destId="{6E271660-8E14-4F23-8218-8ED90C54F07C}" srcOrd="0" destOrd="0" presId="urn:microsoft.com/office/officeart/2005/8/layout/orgChart1"/>
    <dgm:cxn modelId="{6CC1303D-5CB3-45F4-A954-429FAE0E1489}" type="presOf" srcId="{D508D15C-CFEE-427A-B5B8-1B8D9C6A8710}" destId="{6A924D03-90B6-46A9-9897-76BB8843807A}" srcOrd="1" destOrd="0" presId="urn:microsoft.com/office/officeart/2005/8/layout/orgChart1"/>
    <dgm:cxn modelId="{4263BB40-1DA6-4D4F-97F5-DFF4CB7A8A0F}" type="presOf" srcId="{123E3BA7-8B1E-482D-BD2E-271FDFC41FAB}" destId="{A2234E2B-277E-4F7B-A672-9ADA3DD47FBE}" srcOrd="0" destOrd="0" presId="urn:microsoft.com/office/officeart/2005/8/layout/orgChart1"/>
    <dgm:cxn modelId="{05A62A47-3FEC-4B8A-89C1-F4D5610C7A51}" srcId="{123E3BA7-8B1E-482D-BD2E-271FDFC41FAB}" destId="{7E497AD7-BF95-4F33-A3BD-5AFA963A70DD}" srcOrd="1" destOrd="0" parTransId="{8FDBA627-6398-4E5B-B072-46D3C3F5E5AF}" sibTransId="{B79C72A9-0D0A-4054-8C4B-E0F535E545A2}"/>
    <dgm:cxn modelId="{A8714A49-A469-4BEB-9BD8-B25CF79198EB}" type="presOf" srcId="{D508D15C-CFEE-427A-B5B8-1B8D9C6A8710}" destId="{147769AF-2224-44FA-9356-7AE2A10DB39D}" srcOrd="0" destOrd="0" presId="urn:microsoft.com/office/officeart/2005/8/layout/orgChart1"/>
    <dgm:cxn modelId="{F933A779-568B-4642-B441-FF0A0A08FC3D}" srcId="{BD469045-CF7F-4CD6-892D-482E64FD5B4F}" destId="{123E3BA7-8B1E-482D-BD2E-271FDFC41FAB}" srcOrd="0" destOrd="0" parTransId="{47E3374A-4743-487A-9657-D0294D49ACB5}" sibTransId="{23FB4839-E96F-4A36-BFE7-06BB23FAF5C8}"/>
    <dgm:cxn modelId="{45B47F8B-67DA-4059-B901-1CE0A9CCE0F5}" srcId="{123E3BA7-8B1E-482D-BD2E-271FDFC41FAB}" destId="{D508D15C-CFEE-427A-B5B8-1B8D9C6A8710}" srcOrd="0" destOrd="0" parTransId="{FFACBF7F-36BE-4FE4-9F9A-1DA9549B9E12}" sibTransId="{49752786-DEFD-4E4A-B44A-38F42BF3B285}"/>
    <dgm:cxn modelId="{C71FFC9C-46BF-485A-B280-96045F3BACFB}" type="presOf" srcId="{FFACBF7F-36BE-4FE4-9F9A-1DA9549B9E12}" destId="{673F8997-A6ED-40E6-93C5-C3B267AF4C20}" srcOrd="0" destOrd="0" presId="urn:microsoft.com/office/officeart/2005/8/layout/orgChart1"/>
    <dgm:cxn modelId="{509356AA-163D-4399-A0F0-155A3D530E30}" type="presOf" srcId="{123E3BA7-8B1E-482D-BD2E-271FDFC41FAB}" destId="{0C8894B0-70FD-4C9E-9E9C-A90DACEB1567}" srcOrd="1" destOrd="0" presId="urn:microsoft.com/office/officeart/2005/8/layout/orgChart1"/>
    <dgm:cxn modelId="{F5E80CC2-7014-4509-8E77-841D282F378A}" type="presOf" srcId="{7E497AD7-BF95-4F33-A3BD-5AFA963A70DD}" destId="{9FABF31F-70A8-41F9-A2C1-F170E27316FF}" srcOrd="0" destOrd="0" presId="urn:microsoft.com/office/officeart/2005/8/layout/orgChart1"/>
    <dgm:cxn modelId="{F9999AD6-5037-401E-9860-A502AA9EB726}" type="presParOf" srcId="{6E271660-8E14-4F23-8218-8ED90C54F07C}" destId="{4F3823C2-7F5B-4D50-BD5C-1073E00E03E3}" srcOrd="0" destOrd="0" presId="urn:microsoft.com/office/officeart/2005/8/layout/orgChart1"/>
    <dgm:cxn modelId="{92486E7D-5F0A-462A-9501-D800B934186F}" type="presParOf" srcId="{4F3823C2-7F5B-4D50-BD5C-1073E00E03E3}" destId="{1C02282C-543A-40B9-83BC-AE17B1F442EB}" srcOrd="0" destOrd="0" presId="urn:microsoft.com/office/officeart/2005/8/layout/orgChart1"/>
    <dgm:cxn modelId="{ECA44472-9803-4520-A21E-6FB0C5B0E58E}" type="presParOf" srcId="{1C02282C-543A-40B9-83BC-AE17B1F442EB}" destId="{A2234E2B-277E-4F7B-A672-9ADA3DD47FBE}" srcOrd="0" destOrd="0" presId="urn:microsoft.com/office/officeart/2005/8/layout/orgChart1"/>
    <dgm:cxn modelId="{1880DED1-7CF6-4E02-A7A8-55966806EE67}" type="presParOf" srcId="{1C02282C-543A-40B9-83BC-AE17B1F442EB}" destId="{0C8894B0-70FD-4C9E-9E9C-A90DACEB1567}" srcOrd="1" destOrd="0" presId="urn:microsoft.com/office/officeart/2005/8/layout/orgChart1"/>
    <dgm:cxn modelId="{B0103BF2-AE8F-4BBE-BCB0-FDD4EDDA6280}" type="presParOf" srcId="{4F3823C2-7F5B-4D50-BD5C-1073E00E03E3}" destId="{59A02A98-84A8-4B2F-8361-DE2925FB151C}" srcOrd="1" destOrd="0" presId="urn:microsoft.com/office/officeart/2005/8/layout/orgChart1"/>
    <dgm:cxn modelId="{ACF50470-82F6-43A3-A708-5B26A02BA067}" type="presParOf" srcId="{59A02A98-84A8-4B2F-8361-DE2925FB151C}" destId="{673F8997-A6ED-40E6-93C5-C3B267AF4C20}" srcOrd="0" destOrd="0" presId="urn:microsoft.com/office/officeart/2005/8/layout/orgChart1"/>
    <dgm:cxn modelId="{3432FA0D-09DC-4C57-8BC4-08E6BD2A9208}" type="presParOf" srcId="{59A02A98-84A8-4B2F-8361-DE2925FB151C}" destId="{F7FA87C5-CDF1-412C-994C-C7F05310FAAA}" srcOrd="1" destOrd="0" presId="urn:microsoft.com/office/officeart/2005/8/layout/orgChart1"/>
    <dgm:cxn modelId="{20562E7A-46BA-405C-B4F7-542B147426E8}" type="presParOf" srcId="{F7FA87C5-CDF1-412C-994C-C7F05310FAAA}" destId="{2542689D-CABF-423D-9AD2-F947E73A34C4}" srcOrd="0" destOrd="0" presId="urn:microsoft.com/office/officeart/2005/8/layout/orgChart1"/>
    <dgm:cxn modelId="{C4BCA38B-F1CB-4D87-A939-EEE172EE25A5}" type="presParOf" srcId="{2542689D-CABF-423D-9AD2-F947E73A34C4}" destId="{147769AF-2224-44FA-9356-7AE2A10DB39D}" srcOrd="0" destOrd="0" presId="urn:microsoft.com/office/officeart/2005/8/layout/orgChart1"/>
    <dgm:cxn modelId="{8A10843F-C0D6-4BC7-BC23-27A2A09EFD8D}" type="presParOf" srcId="{2542689D-CABF-423D-9AD2-F947E73A34C4}" destId="{6A924D03-90B6-46A9-9897-76BB8843807A}" srcOrd="1" destOrd="0" presId="urn:microsoft.com/office/officeart/2005/8/layout/orgChart1"/>
    <dgm:cxn modelId="{9F38238B-B669-4257-8AF9-F6F045F0C1F7}" type="presParOf" srcId="{F7FA87C5-CDF1-412C-994C-C7F05310FAAA}" destId="{E633B855-FE37-42C6-A9AB-41F987E5C6FD}" srcOrd="1" destOrd="0" presId="urn:microsoft.com/office/officeart/2005/8/layout/orgChart1"/>
    <dgm:cxn modelId="{B1EB5825-25C7-46C8-BC7E-4ABF910D5AE5}" type="presParOf" srcId="{F7FA87C5-CDF1-412C-994C-C7F05310FAAA}" destId="{A73AAB06-9B1C-4917-8C8B-DB9BD18992B8}" srcOrd="2" destOrd="0" presId="urn:microsoft.com/office/officeart/2005/8/layout/orgChart1"/>
    <dgm:cxn modelId="{1CA99D66-3235-4DBD-91C1-C9B45105215C}" type="presParOf" srcId="{59A02A98-84A8-4B2F-8361-DE2925FB151C}" destId="{00B311EA-0B6F-43BD-AA1B-28DAC8171AAC}" srcOrd="2" destOrd="0" presId="urn:microsoft.com/office/officeart/2005/8/layout/orgChart1"/>
    <dgm:cxn modelId="{A7FC603A-AFAB-4DD1-9B1E-4ECDDFDB5E6E}" type="presParOf" srcId="{59A02A98-84A8-4B2F-8361-DE2925FB151C}" destId="{1619D528-7525-4C87-8246-101EB70EDAF8}" srcOrd="3" destOrd="0" presId="urn:microsoft.com/office/officeart/2005/8/layout/orgChart1"/>
    <dgm:cxn modelId="{C8DD0283-56CF-4194-A644-62370F247471}" type="presParOf" srcId="{1619D528-7525-4C87-8246-101EB70EDAF8}" destId="{F62D693C-226D-4709-84D3-E7FC909D3487}" srcOrd="0" destOrd="0" presId="urn:microsoft.com/office/officeart/2005/8/layout/orgChart1"/>
    <dgm:cxn modelId="{8ECCAC75-A848-4AE9-9F01-011E67FE7858}" type="presParOf" srcId="{F62D693C-226D-4709-84D3-E7FC909D3487}" destId="{9FABF31F-70A8-41F9-A2C1-F170E27316FF}" srcOrd="0" destOrd="0" presId="urn:microsoft.com/office/officeart/2005/8/layout/orgChart1"/>
    <dgm:cxn modelId="{A6F1893B-9766-49E9-A8D0-C99E8B51D4DC}" type="presParOf" srcId="{F62D693C-226D-4709-84D3-E7FC909D3487}" destId="{0983FD14-EE16-44DA-AB93-956FA5143BEC}" srcOrd="1" destOrd="0" presId="urn:microsoft.com/office/officeart/2005/8/layout/orgChart1"/>
    <dgm:cxn modelId="{A6AA62A9-9268-43ED-B4E8-7ACD78EEBC48}" type="presParOf" srcId="{1619D528-7525-4C87-8246-101EB70EDAF8}" destId="{1C94D1DE-3D50-432A-8D1E-AAE6237842E8}" srcOrd="1" destOrd="0" presId="urn:microsoft.com/office/officeart/2005/8/layout/orgChart1"/>
    <dgm:cxn modelId="{F5BCCBE4-1AE1-41CD-B260-45C4B31DC4D4}" type="presParOf" srcId="{1619D528-7525-4C87-8246-101EB70EDAF8}" destId="{983163BE-9B1E-4C2F-9FDD-2AA8DECE1DB7}" srcOrd="2" destOrd="0" presId="urn:microsoft.com/office/officeart/2005/8/layout/orgChart1"/>
    <dgm:cxn modelId="{5AC1A0B8-17BF-426A-8E0E-19710A246865}" type="presParOf" srcId="{4F3823C2-7F5B-4D50-BD5C-1073E00E03E3}" destId="{0D346B90-2A62-488C-9783-C8B5206BA180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C364AEF-E560-456A-9A54-01BBD80A5DE2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1D70741-B2FD-4447-BEB3-119F382BBD61}">
      <dgm:prSet phldrT="[Text]" phldr="0" custT="1"/>
      <dgm:spPr/>
      <dgm:t>
        <a:bodyPr/>
        <a:lstStyle/>
        <a:p>
          <a:r>
            <a:rPr lang="en-GB" sz="1800" noProof="0" dirty="0"/>
            <a:t>Ride 1</a:t>
          </a:r>
        </a:p>
      </dgm:t>
    </dgm:pt>
    <dgm:pt modelId="{BF03F85F-17C4-4940-B76D-017ADDEAD96A}" type="parTrans" cxnId="{254E114A-5A51-4AB5-947E-0D7ABAA9995F}">
      <dgm:prSet/>
      <dgm:spPr/>
      <dgm:t>
        <a:bodyPr/>
        <a:lstStyle/>
        <a:p>
          <a:endParaRPr lang="en-US" sz="1800"/>
        </a:p>
      </dgm:t>
    </dgm:pt>
    <dgm:pt modelId="{05AA1CE3-9B26-4D99-8E7C-C0E89D67D10B}" type="sibTrans" cxnId="{254E114A-5A51-4AB5-947E-0D7ABAA9995F}">
      <dgm:prSet/>
      <dgm:spPr/>
      <dgm:t>
        <a:bodyPr/>
        <a:lstStyle/>
        <a:p>
          <a:endParaRPr lang="en-US" sz="1800"/>
        </a:p>
      </dgm:t>
    </dgm:pt>
    <dgm:pt modelId="{57154564-ACF5-40A3-9764-5031B326412C}">
      <dgm:prSet phldrT="[Text]" phldr="0" custT="1"/>
      <dgm:spPr/>
      <dgm:t>
        <a:bodyPr/>
        <a:lstStyle/>
        <a:p>
          <a:r>
            <a:rPr lang="en-GB" sz="1800" noProof="0" dirty="0"/>
            <a:t>Ride 2</a:t>
          </a:r>
        </a:p>
      </dgm:t>
    </dgm:pt>
    <dgm:pt modelId="{4E43E3E5-9109-4507-A483-72B12400C557}" type="sibTrans" cxnId="{AD12632B-CFA6-446E-A555-FE091F52ED9B}">
      <dgm:prSet/>
      <dgm:spPr/>
      <dgm:t>
        <a:bodyPr/>
        <a:lstStyle/>
        <a:p>
          <a:endParaRPr lang="en-US" sz="1800"/>
        </a:p>
      </dgm:t>
    </dgm:pt>
    <dgm:pt modelId="{C121029D-763F-4002-8D26-4F666FB6FE3B}" type="parTrans" cxnId="{AD12632B-CFA6-446E-A555-FE091F52ED9B}">
      <dgm:prSet/>
      <dgm:spPr/>
      <dgm:t>
        <a:bodyPr/>
        <a:lstStyle/>
        <a:p>
          <a:endParaRPr lang="en-US" sz="1800"/>
        </a:p>
      </dgm:t>
    </dgm:pt>
    <dgm:pt modelId="{4B3BFD5D-BAE9-498C-BAF7-BFCDEC250A32}">
      <dgm:prSet custT="1"/>
      <dgm:spPr/>
      <dgm:t>
        <a:bodyPr/>
        <a:lstStyle/>
        <a:p>
          <a:r>
            <a:rPr lang="en-GB" sz="1800" noProof="0" dirty="0"/>
            <a:t>1.5 km downhill segment</a:t>
          </a:r>
        </a:p>
      </dgm:t>
    </dgm:pt>
    <dgm:pt modelId="{B715EC34-4C9A-422E-AA7B-8253827A22FF}" type="parTrans" cxnId="{468647CA-6871-4A79-9739-A4822D365E85}">
      <dgm:prSet/>
      <dgm:spPr/>
      <dgm:t>
        <a:bodyPr/>
        <a:lstStyle/>
        <a:p>
          <a:endParaRPr lang="en-US" sz="1800"/>
        </a:p>
      </dgm:t>
    </dgm:pt>
    <dgm:pt modelId="{9A7B4D12-B35C-4740-8E7E-E8C1516FA0FC}" type="sibTrans" cxnId="{468647CA-6871-4A79-9739-A4822D365E85}">
      <dgm:prSet/>
      <dgm:spPr/>
      <dgm:t>
        <a:bodyPr/>
        <a:lstStyle/>
        <a:p>
          <a:endParaRPr lang="en-US" sz="1800"/>
        </a:p>
      </dgm:t>
    </dgm:pt>
    <dgm:pt modelId="{E16978BE-6C4A-415E-90F8-22606CC46B0D}">
      <dgm:prSet custT="1"/>
      <dgm:spPr/>
      <dgm:t>
        <a:bodyPr/>
        <a:lstStyle/>
        <a:p>
          <a:r>
            <a:rPr lang="en-GB" sz="1800" noProof="0" dirty="0"/>
            <a:t>Ambient temperature: ∼20°C</a:t>
          </a:r>
        </a:p>
      </dgm:t>
    </dgm:pt>
    <dgm:pt modelId="{8A4FB686-D313-4BD9-B1CE-B4038B427674}" type="parTrans" cxnId="{DA304DE8-E674-485E-9AE2-662272F7C98F}">
      <dgm:prSet/>
      <dgm:spPr/>
      <dgm:t>
        <a:bodyPr/>
        <a:lstStyle/>
        <a:p>
          <a:endParaRPr lang="en-US" sz="1800"/>
        </a:p>
      </dgm:t>
    </dgm:pt>
    <dgm:pt modelId="{18C88B87-5833-435B-A420-57AD8A4F3371}" type="sibTrans" cxnId="{DA304DE8-E674-485E-9AE2-662272F7C98F}">
      <dgm:prSet/>
      <dgm:spPr/>
      <dgm:t>
        <a:bodyPr/>
        <a:lstStyle/>
        <a:p>
          <a:endParaRPr lang="en-US" sz="1800"/>
        </a:p>
      </dgm:t>
    </dgm:pt>
    <dgm:pt modelId="{57F55896-3EFE-4E47-88B7-D153660A040A}">
      <dgm:prSet custT="1"/>
      <dgm:spPr/>
      <dgm:t>
        <a:bodyPr/>
        <a:lstStyle/>
        <a:p>
          <a:r>
            <a:rPr lang="en-GB" sz="1800" b="1" noProof="0" dirty="0"/>
            <a:t>Peak power: 2.3 </a:t>
          </a:r>
          <a:r>
            <a:rPr lang="en-GB" sz="1800" b="1" noProof="0" dirty="0" err="1"/>
            <a:t>mW</a:t>
          </a:r>
          <a:endParaRPr lang="en-GB" sz="1800" b="1" noProof="0" dirty="0"/>
        </a:p>
      </dgm:t>
    </dgm:pt>
    <dgm:pt modelId="{47003DE3-B1FE-45D4-B6B8-4C09B6A643B7}" type="parTrans" cxnId="{F6AF4729-5716-4F10-88C7-2772CBA4BC39}">
      <dgm:prSet/>
      <dgm:spPr/>
      <dgm:t>
        <a:bodyPr/>
        <a:lstStyle/>
        <a:p>
          <a:endParaRPr lang="en-US" sz="1800"/>
        </a:p>
      </dgm:t>
    </dgm:pt>
    <dgm:pt modelId="{CE2C5792-230C-4ABB-ACD4-181AD7B9B626}" type="sibTrans" cxnId="{F6AF4729-5716-4F10-88C7-2772CBA4BC39}">
      <dgm:prSet/>
      <dgm:spPr/>
      <dgm:t>
        <a:bodyPr/>
        <a:lstStyle/>
        <a:p>
          <a:endParaRPr lang="en-US" sz="1800"/>
        </a:p>
      </dgm:t>
    </dgm:pt>
    <dgm:pt modelId="{3B4198C2-4D23-4484-BEC8-262227F0AD01}">
      <dgm:prSet custT="1"/>
      <dgm:spPr/>
      <dgm:t>
        <a:bodyPr/>
        <a:lstStyle/>
        <a:p>
          <a:r>
            <a:rPr lang="en-GB" sz="1800" noProof="0" dirty="0"/>
            <a:t>longer descent (∼6 km),</a:t>
          </a:r>
        </a:p>
      </dgm:t>
    </dgm:pt>
    <dgm:pt modelId="{4079D9FD-06D3-411C-B60D-DA37A4254D3F}" type="parTrans" cxnId="{435C9324-3C83-4A37-940D-F86CF85A863E}">
      <dgm:prSet/>
      <dgm:spPr/>
      <dgm:t>
        <a:bodyPr/>
        <a:lstStyle/>
        <a:p>
          <a:endParaRPr lang="en-US" sz="1800"/>
        </a:p>
      </dgm:t>
    </dgm:pt>
    <dgm:pt modelId="{97D4DC2B-70CA-404B-A10D-29AF20EC8EBA}" type="sibTrans" cxnId="{435C9324-3C83-4A37-940D-F86CF85A863E}">
      <dgm:prSet/>
      <dgm:spPr/>
      <dgm:t>
        <a:bodyPr/>
        <a:lstStyle/>
        <a:p>
          <a:endParaRPr lang="en-US" sz="1800"/>
        </a:p>
      </dgm:t>
    </dgm:pt>
    <dgm:pt modelId="{65811168-15F9-4D0D-9C74-241274D665FE}">
      <dgm:prSet custT="1"/>
      <dgm:spPr/>
      <dgm:t>
        <a:bodyPr/>
        <a:lstStyle/>
        <a:p>
          <a:r>
            <a:rPr lang="en-GB" sz="1800" b="1" noProof="0" dirty="0"/>
            <a:t>Peak power: 3.2 </a:t>
          </a:r>
          <a:r>
            <a:rPr lang="en-GB" sz="1800" b="1" noProof="0" dirty="0" err="1"/>
            <a:t>mW</a:t>
          </a:r>
          <a:endParaRPr lang="en-GB" sz="1800" b="1" noProof="0" dirty="0"/>
        </a:p>
      </dgm:t>
    </dgm:pt>
    <dgm:pt modelId="{F7916084-3962-4610-8977-710497CD1157}" type="parTrans" cxnId="{EB1811BB-72C7-4819-9F4B-F824449F905B}">
      <dgm:prSet/>
      <dgm:spPr/>
      <dgm:t>
        <a:bodyPr/>
        <a:lstStyle/>
        <a:p>
          <a:endParaRPr lang="en-US" sz="1800"/>
        </a:p>
      </dgm:t>
    </dgm:pt>
    <dgm:pt modelId="{782B90E3-FCB4-42B7-8C5B-DA6657A3236B}" type="sibTrans" cxnId="{EB1811BB-72C7-4819-9F4B-F824449F905B}">
      <dgm:prSet/>
      <dgm:spPr/>
      <dgm:t>
        <a:bodyPr/>
        <a:lstStyle/>
        <a:p>
          <a:endParaRPr lang="en-US" sz="1800"/>
        </a:p>
      </dgm:t>
    </dgm:pt>
    <dgm:pt modelId="{E9FA815D-4D1D-4B39-ACBC-A804D71DBD88}">
      <dgm:prSet custT="1"/>
      <dgm:spPr/>
      <dgm:t>
        <a:bodyPr/>
        <a:lstStyle/>
        <a:p>
          <a:r>
            <a:rPr lang="en-GB" sz="1800" b="1" noProof="0" dirty="0"/>
            <a:t>Harvested energy: 439 J</a:t>
          </a:r>
        </a:p>
      </dgm:t>
    </dgm:pt>
    <dgm:pt modelId="{F870CA61-710A-4A7F-AE65-6243024EA28E}" type="parTrans" cxnId="{3C1199A9-CE2E-453F-9382-FB25D80B16AF}">
      <dgm:prSet/>
      <dgm:spPr/>
      <dgm:t>
        <a:bodyPr/>
        <a:lstStyle/>
        <a:p>
          <a:endParaRPr lang="en-US" sz="1800"/>
        </a:p>
      </dgm:t>
    </dgm:pt>
    <dgm:pt modelId="{0C7347BA-8D4E-4B11-8A71-897A979970B5}" type="sibTrans" cxnId="{3C1199A9-CE2E-453F-9382-FB25D80B16AF}">
      <dgm:prSet/>
      <dgm:spPr/>
      <dgm:t>
        <a:bodyPr/>
        <a:lstStyle/>
        <a:p>
          <a:endParaRPr lang="en-US" sz="1800"/>
        </a:p>
      </dgm:t>
    </dgm:pt>
    <dgm:pt modelId="{86D1B6B8-C1DF-4D0B-90D4-BC02891DBB61}">
      <dgm:prSet custT="1"/>
      <dgm:spPr/>
      <dgm:t>
        <a:bodyPr/>
        <a:lstStyle/>
        <a:p>
          <a:r>
            <a:rPr lang="en-GB" sz="1800" b="1" noProof="0" dirty="0"/>
            <a:t>Harvested energy: 2236 J</a:t>
          </a:r>
        </a:p>
      </dgm:t>
    </dgm:pt>
    <dgm:pt modelId="{EDA49FE2-9828-4CF6-A11D-1AD786333474}" type="parTrans" cxnId="{B549D8CA-EA9C-4916-BFB8-23D03A87DB64}">
      <dgm:prSet/>
      <dgm:spPr/>
      <dgm:t>
        <a:bodyPr/>
        <a:lstStyle/>
        <a:p>
          <a:endParaRPr lang="en-US"/>
        </a:p>
      </dgm:t>
    </dgm:pt>
    <dgm:pt modelId="{78E9AE19-03C2-40BF-B62D-12383E712AA5}" type="sibTrans" cxnId="{B549D8CA-EA9C-4916-BFB8-23D03A87DB64}">
      <dgm:prSet/>
      <dgm:spPr/>
      <dgm:t>
        <a:bodyPr/>
        <a:lstStyle/>
        <a:p>
          <a:endParaRPr lang="en-US"/>
        </a:p>
      </dgm:t>
    </dgm:pt>
    <dgm:pt modelId="{FA10B6A4-BB45-49FF-A809-9F840BF758F1}">
      <dgm:prSet custT="1"/>
      <dgm:spPr/>
      <dgm:t>
        <a:bodyPr/>
        <a:lstStyle/>
        <a:p>
          <a:r>
            <a:rPr lang="en-GB" sz="1800" noProof="0" dirty="0"/>
            <a:t>Ambient temperature: ∼16°C</a:t>
          </a:r>
        </a:p>
      </dgm:t>
    </dgm:pt>
    <dgm:pt modelId="{B6A61A5F-C037-4C4F-B904-AC251F955FA7}" type="parTrans" cxnId="{4C2B3E8F-E678-4E90-BF68-D9E6219FD582}">
      <dgm:prSet/>
      <dgm:spPr/>
      <dgm:t>
        <a:bodyPr/>
        <a:lstStyle/>
        <a:p>
          <a:endParaRPr lang="en-US"/>
        </a:p>
      </dgm:t>
    </dgm:pt>
    <dgm:pt modelId="{494B88E0-670F-4D12-80E2-A9972EA4A074}" type="sibTrans" cxnId="{4C2B3E8F-E678-4E90-BF68-D9E6219FD582}">
      <dgm:prSet/>
      <dgm:spPr/>
      <dgm:t>
        <a:bodyPr/>
        <a:lstStyle/>
        <a:p>
          <a:endParaRPr lang="en-US"/>
        </a:p>
      </dgm:t>
    </dgm:pt>
    <dgm:pt modelId="{7C41D364-A7A4-407C-85AF-C1E5894FA86A}">
      <dgm:prSet custT="1"/>
      <dgm:spPr/>
      <dgm:t>
        <a:bodyPr/>
        <a:lstStyle/>
        <a:p>
          <a:r>
            <a:rPr lang="en-GB" sz="1800" noProof="0" dirty="0"/>
            <a:t>Maximum TEG hot-side temperature: 45°C</a:t>
          </a:r>
        </a:p>
      </dgm:t>
    </dgm:pt>
    <dgm:pt modelId="{F79BC604-C6FE-427E-8DB5-3C1B0D1C3970}" type="parTrans" cxnId="{640523B5-01B8-4515-8B29-1F1157E31A7D}">
      <dgm:prSet/>
      <dgm:spPr/>
      <dgm:t>
        <a:bodyPr/>
        <a:lstStyle/>
        <a:p>
          <a:endParaRPr lang="en-US"/>
        </a:p>
      </dgm:t>
    </dgm:pt>
    <dgm:pt modelId="{7670CB3E-4F22-44DC-AE6B-2D3A7D9C7E49}" type="sibTrans" cxnId="{640523B5-01B8-4515-8B29-1F1157E31A7D}">
      <dgm:prSet/>
      <dgm:spPr/>
      <dgm:t>
        <a:bodyPr/>
        <a:lstStyle/>
        <a:p>
          <a:endParaRPr lang="en-US"/>
        </a:p>
      </dgm:t>
    </dgm:pt>
    <dgm:pt modelId="{BF910831-5506-46EE-BABA-D840ADDD1CA4}">
      <dgm:prSet custT="1"/>
      <dgm:spPr/>
      <dgm:t>
        <a:bodyPr/>
        <a:lstStyle/>
        <a:p>
          <a:r>
            <a:rPr lang="en-GB" sz="1800" noProof="0" dirty="0"/>
            <a:t>Maximum TEG hot-side temperature: 46°C</a:t>
          </a:r>
        </a:p>
      </dgm:t>
    </dgm:pt>
    <dgm:pt modelId="{6DFD8C7F-CD10-4DFE-8A03-C8EB2F8A05F9}" type="parTrans" cxnId="{30EE27B4-C690-41A3-9536-98030CC92347}">
      <dgm:prSet/>
      <dgm:spPr/>
      <dgm:t>
        <a:bodyPr/>
        <a:lstStyle/>
        <a:p>
          <a:endParaRPr lang="en-US"/>
        </a:p>
      </dgm:t>
    </dgm:pt>
    <dgm:pt modelId="{2725F9B4-5638-4A7D-9DEC-66725B20FC1E}" type="sibTrans" cxnId="{30EE27B4-C690-41A3-9536-98030CC92347}">
      <dgm:prSet/>
      <dgm:spPr/>
      <dgm:t>
        <a:bodyPr/>
        <a:lstStyle/>
        <a:p>
          <a:endParaRPr lang="en-US"/>
        </a:p>
      </dgm:t>
    </dgm:pt>
    <dgm:pt modelId="{791AB237-FFA7-4DC9-B71A-F8B7E767E860}" type="pres">
      <dgm:prSet presAssocID="{AC364AEF-E560-456A-9A54-01BBD80A5DE2}" presName="linear" presStyleCnt="0">
        <dgm:presLayoutVars>
          <dgm:dir/>
          <dgm:animLvl val="lvl"/>
          <dgm:resizeHandles val="exact"/>
        </dgm:presLayoutVars>
      </dgm:prSet>
      <dgm:spPr/>
    </dgm:pt>
    <dgm:pt modelId="{04B67EB9-9507-4B3A-B5EA-36CB9645C15C}" type="pres">
      <dgm:prSet presAssocID="{D1D70741-B2FD-4447-BEB3-119F382BBD61}" presName="parentLin" presStyleCnt="0"/>
      <dgm:spPr/>
    </dgm:pt>
    <dgm:pt modelId="{D98FC6D0-2B3B-43FA-998A-13416BA0D6FA}" type="pres">
      <dgm:prSet presAssocID="{D1D70741-B2FD-4447-BEB3-119F382BBD61}" presName="parentLeftMargin" presStyleLbl="node1" presStyleIdx="0" presStyleCnt="2"/>
      <dgm:spPr/>
    </dgm:pt>
    <dgm:pt modelId="{DC636C25-5F64-4A1B-866E-3478C2A0E9E2}" type="pres">
      <dgm:prSet presAssocID="{D1D70741-B2FD-4447-BEB3-119F382BBD61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2653C97-719C-4090-9773-D03CF4BBC2CE}" type="pres">
      <dgm:prSet presAssocID="{D1D70741-B2FD-4447-BEB3-119F382BBD61}" presName="negativeSpace" presStyleCnt="0"/>
      <dgm:spPr/>
    </dgm:pt>
    <dgm:pt modelId="{FB9380F0-6022-4D6D-AE2D-55C490221318}" type="pres">
      <dgm:prSet presAssocID="{D1D70741-B2FD-4447-BEB3-119F382BBD61}" presName="childText" presStyleLbl="conFgAcc1" presStyleIdx="0" presStyleCnt="2">
        <dgm:presLayoutVars>
          <dgm:bulletEnabled val="1"/>
        </dgm:presLayoutVars>
      </dgm:prSet>
      <dgm:spPr/>
    </dgm:pt>
    <dgm:pt modelId="{0A2014C3-F90D-4930-8AE0-BDF98A7F349D}" type="pres">
      <dgm:prSet presAssocID="{05AA1CE3-9B26-4D99-8E7C-C0E89D67D10B}" presName="spaceBetweenRectangles" presStyleCnt="0"/>
      <dgm:spPr/>
    </dgm:pt>
    <dgm:pt modelId="{0EF82E27-542D-40B4-86A4-0670C9AB55D9}" type="pres">
      <dgm:prSet presAssocID="{57154564-ACF5-40A3-9764-5031B326412C}" presName="parentLin" presStyleCnt="0"/>
      <dgm:spPr/>
    </dgm:pt>
    <dgm:pt modelId="{C5397B37-5F5C-4329-A3DD-97CDE8F3E0AD}" type="pres">
      <dgm:prSet presAssocID="{57154564-ACF5-40A3-9764-5031B326412C}" presName="parentLeftMargin" presStyleLbl="node1" presStyleIdx="0" presStyleCnt="2"/>
      <dgm:spPr/>
    </dgm:pt>
    <dgm:pt modelId="{DF798623-9824-4516-9ADE-568F0CE9ADD8}" type="pres">
      <dgm:prSet presAssocID="{57154564-ACF5-40A3-9764-5031B326412C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8B37BAA0-D8ED-4C92-8D0C-6022AF97070F}" type="pres">
      <dgm:prSet presAssocID="{57154564-ACF5-40A3-9764-5031B326412C}" presName="negativeSpace" presStyleCnt="0"/>
      <dgm:spPr/>
    </dgm:pt>
    <dgm:pt modelId="{538C6157-8F80-4DE5-9F6A-55DC7EDE2B1C}" type="pres">
      <dgm:prSet presAssocID="{57154564-ACF5-40A3-9764-5031B326412C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8AE5180C-6787-44B7-AC17-8DAB7291E6F6}" type="presOf" srcId="{3B4198C2-4D23-4484-BEC8-262227F0AD01}" destId="{538C6157-8F80-4DE5-9F6A-55DC7EDE2B1C}" srcOrd="0" destOrd="0" presId="urn:microsoft.com/office/officeart/2005/8/layout/list1"/>
    <dgm:cxn modelId="{435C9324-3C83-4A37-940D-F86CF85A863E}" srcId="{57154564-ACF5-40A3-9764-5031B326412C}" destId="{3B4198C2-4D23-4484-BEC8-262227F0AD01}" srcOrd="0" destOrd="0" parTransId="{4079D9FD-06D3-411C-B60D-DA37A4254D3F}" sibTransId="{97D4DC2B-70CA-404B-A10D-29AF20EC8EBA}"/>
    <dgm:cxn modelId="{F6AF4729-5716-4F10-88C7-2772CBA4BC39}" srcId="{D1D70741-B2FD-4447-BEB3-119F382BBD61}" destId="{57F55896-3EFE-4E47-88B7-D153660A040A}" srcOrd="3" destOrd="0" parTransId="{47003DE3-B1FE-45D4-B6B8-4C09B6A643B7}" sibTransId="{CE2C5792-230C-4ABB-ACD4-181AD7B9B626}"/>
    <dgm:cxn modelId="{AD12632B-CFA6-446E-A555-FE091F52ED9B}" srcId="{AC364AEF-E560-456A-9A54-01BBD80A5DE2}" destId="{57154564-ACF5-40A3-9764-5031B326412C}" srcOrd="1" destOrd="0" parTransId="{C121029D-763F-4002-8D26-4F666FB6FE3B}" sibTransId="{4E43E3E5-9109-4507-A483-72B12400C557}"/>
    <dgm:cxn modelId="{EF10662F-7A7A-4A8C-957F-9D869834AB85}" type="presOf" srcId="{4B3BFD5D-BAE9-498C-BAF7-BFCDEC250A32}" destId="{FB9380F0-6022-4D6D-AE2D-55C490221318}" srcOrd="0" destOrd="0" presId="urn:microsoft.com/office/officeart/2005/8/layout/list1"/>
    <dgm:cxn modelId="{254E114A-5A51-4AB5-947E-0D7ABAA9995F}" srcId="{AC364AEF-E560-456A-9A54-01BBD80A5DE2}" destId="{D1D70741-B2FD-4447-BEB3-119F382BBD61}" srcOrd="0" destOrd="0" parTransId="{BF03F85F-17C4-4940-B76D-017ADDEAD96A}" sibTransId="{05AA1CE3-9B26-4D99-8E7C-C0E89D67D10B}"/>
    <dgm:cxn modelId="{7DD1C96A-C74A-4851-9118-1913746C4376}" type="presOf" srcId="{BF910831-5506-46EE-BABA-D840ADDD1CA4}" destId="{538C6157-8F80-4DE5-9F6A-55DC7EDE2B1C}" srcOrd="0" destOrd="1" presId="urn:microsoft.com/office/officeart/2005/8/layout/list1"/>
    <dgm:cxn modelId="{03D63D52-E867-4CB8-B1AC-22AE8E786D01}" type="presOf" srcId="{86D1B6B8-C1DF-4D0B-90D4-BC02891DBB61}" destId="{538C6157-8F80-4DE5-9F6A-55DC7EDE2B1C}" srcOrd="0" destOrd="4" presId="urn:microsoft.com/office/officeart/2005/8/layout/list1"/>
    <dgm:cxn modelId="{752E7978-2CA8-4835-8D25-6138EEDA7690}" type="presOf" srcId="{D1D70741-B2FD-4447-BEB3-119F382BBD61}" destId="{DC636C25-5F64-4A1B-866E-3478C2A0E9E2}" srcOrd="1" destOrd="0" presId="urn:microsoft.com/office/officeart/2005/8/layout/list1"/>
    <dgm:cxn modelId="{88CC685A-AA46-4976-AFEF-6C8793A5A172}" type="presOf" srcId="{7C41D364-A7A4-407C-85AF-C1E5894FA86A}" destId="{FB9380F0-6022-4D6D-AE2D-55C490221318}" srcOrd="0" destOrd="1" presId="urn:microsoft.com/office/officeart/2005/8/layout/list1"/>
    <dgm:cxn modelId="{4C2B3E8F-E678-4E90-BF68-D9E6219FD582}" srcId="{57154564-ACF5-40A3-9764-5031B326412C}" destId="{FA10B6A4-BB45-49FF-A809-9F840BF758F1}" srcOrd="2" destOrd="0" parTransId="{B6A61A5F-C037-4C4F-B904-AC251F955FA7}" sibTransId="{494B88E0-670F-4D12-80E2-A9972EA4A074}"/>
    <dgm:cxn modelId="{E22C3CA0-8AFA-4059-B106-54DD9BB3592E}" type="presOf" srcId="{FA10B6A4-BB45-49FF-A809-9F840BF758F1}" destId="{538C6157-8F80-4DE5-9F6A-55DC7EDE2B1C}" srcOrd="0" destOrd="2" presId="urn:microsoft.com/office/officeart/2005/8/layout/list1"/>
    <dgm:cxn modelId="{3B921FA8-4DC5-49EA-BDA7-63CE524BFB08}" type="presOf" srcId="{E16978BE-6C4A-415E-90F8-22606CC46B0D}" destId="{FB9380F0-6022-4D6D-AE2D-55C490221318}" srcOrd="0" destOrd="2" presId="urn:microsoft.com/office/officeart/2005/8/layout/list1"/>
    <dgm:cxn modelId="{3C1199A9-CE2E-453F-9382-FB25D80B16AF}" srcId="{D1D70741-B2FD-4447-BEB3-119F382BBD61}" destId="{E9FA815D-4D1D-4B39-ACBC-A804D71DBD88}" srcOrd="4" destOrd="0" parTransId="{F870CA61-710A-4A7F-AE65-6243024EA28E}" sibTransId="{0C7347BA-8D4E-4B11-8A71-897A979970B5}"/>
    <dgm:cxn modelId="{C526A5A9-3139-41DB-B4CF-9A62565AF9D4}" type="presOf" srcId="{57154564-ACF5-40A3-9764-5031B326412C}" destId="{C5397B37-5F5C-4329-A3DD-97CDE8F3E0AD}" srcOrd="0" destOrd="0" presId="urn:microsoft.com/office/officeart/2005/8/layout/list1"/>
    <dgm:cxn modelId="{30EE27B4-C690-41A3-9536-98030CC92347}" srcId="{57154564-ACF5-40A3-9764-5031B326412C}" destId="{BF910831-5506-46EE-BABA-D840ADDD1CA4}" srcOrd="1" destOrd="0" parTransId="{6DFD8C7F-CD10-4DFE-8A03-C8EB2F8A05F9}" sibTransId="{2725F9B4-5638-4A7D-9DEC-66725B20FC1E}"/>
    <dgm:cxn modelId="{640523B5-01B8-4515-8B29-1F1157E31A7D}" srcId="{D1D70741-B2FD-4447-BEB3-119F382BBD61}" destId="{7C41D364-A7A4-407C-85AF-C1E5894FA86A}" srcOrd="1" destOrd="0" parTransId="{F79BC604-C6FE-427E-8DB5-3C1B0D1C3970}" sibTransId="{7670CB3E-4F22-44DC-AE6B-2D3A7D9C7E49}"/>
    <dgm:cxn modelId="{EB1811BB-72C7-4819-9F4B-F824449F905B}" srcId="{57154564-ACF5-40A3-9764-5031B326412C}" destId="{65811168-15F9-4D0D-9C74-241274D665FE}" srcOrd="3" destOrd="0" parTransId="{F7916084-3962-4610-8977-710497CD1157}" sibTransId="{782B90E3-FCB4-42B7-8C5B-DA6657A3236B}"/>
    <dgm:cxn modelId="{A98954C2-F5CA-438B-8EC8-2BF573EE725A}" type="presOf" srcId="{65811168-15F9-4D0D-9C74-241274D665FE}" destId="{538C6157-8F80-4DE5-9F6A-55DC7EDE2B1C}" srcOrd="0" destOrd="3" presId="urn:microsoft.com/office/officeart/2005/8/layout/list1"/>
    <dgm:cxn modelId="{468647CA-6871-4A79-9739-A4822D365E85}" srcId="{D1D70741-B2FD-4447-BEB3-119F382BBD61}" destId="{4B3BFD5D-BAE9-498C-BAF7-BFCDEC250A32}" srcOrd="0" destOrd="0" parTransId="{B715EC34-4C9A-422E-AA7B-8253827A22FF}" sibTransId="{9A7B4D12-B35C-4740-8E7E-E8C1516FA0FC}"/>
    <dgm:cxn modelId="{B549D8CA-EA9C-4916-BFB8-23D03A87DB64}" srcId="{57154564-ACF5-40A3-9764-5031B326412C}" destId="{86D1B6B8-C1DF-4D0B-90D4-BC02891DBB61}" srcOrd="4" destOrd="0" parTransId="{EDA49FE2-9828-4CF6-A11D-1AD786333474}" sibTransId="{78E9AE19-03C2-40BF-B62D-12383E712AA5}"/>
    <dgm:cxn modelId="{B34598D3-890C-447F-8407-E8E96917597D}" type="presOf" srcId="{E9FA815D-4D1D-4B39-ACBC-A804D71DBD88}" destId="{FB9380F0-6022-4D6D-AE2D-55C490221318}" srcOrd="0" destOrd="4" presId="urn:microsoft.com/office/officeart/2005/8/layout/list1"/>
    <dgm:cxn modelId="{317D08DA-F0CB-4322-973C-0D03B8BBF921}" type="presOf" srcId="{57F55896-3EFE-4E47-88B7-D153660A040A}" destId="{FB9380F0-6022-4D6D-AE2D-55C490221318}" srcOrd="0" destOrd="3" presId="urn:microsoft.com/office/officeart/2005/8/layout/list1"/>
    <dgm:cxn modelId="{03DB2EE1-9B03-4566-A9AA-512A055DB178}" type="presOf" srcId="{57154564-ACF5-40A3-9764-5031B326412C}" destId="{DF798623-9824-4516-9ADE-568F0CE9ADD8}" srcOrd="1" destOrd="0" presId="urn:microsoft.com/office/officeart/2005/8/layout/list1"/>
    <dgm:cxn modelId="{DA304DE8-E674-485E-9AE2-662272F7C98F}" srcId="{D1D70741-B2FD-4447-BEB3-119F382BBD61}" destId="{E16978BE-6C4A-415E-90F8-22606CC46B0D}" srcOrd="2" destOrd="0" parTransId="{8A4FB686-D313-4BD9-B1CE-B4038B427674}" sibTransId="{18C88B87-5833-435B-A420-57AD8A4F3371}"/>
    <dgm:cxn modelId="{562237F6-BB11-4D73-9FB5-F3425062F419}" type="presOf" srcId="{AC364AEF-E560-456A-9A54-01BBD80A5DE2}" destId="{791AB237-FFA7-4DC9-B71A-F8B7E767E860}" srcOrd="0" destOrd="0" presId="urn:microsoft.com/office/officeart/2005/8/layout/list1"/>
    <dgm:cxn modelId="{608C25FF-DA21-402C-9116-753D7E6AB742}" type="presOf" srcId="{D1D70741-B2FD-4447-BEB3-119F382BBD61}" destId="{D98FC6D0-2B3B-43FA-998A-13416BA0D6FA}" srcOrd="0" destOrd="0" presId="urn:microsoft.com/office/officeart/2005/8/layout/list1"/>
    <dgm:cxn modelId="{F5ABEC41-9B78-4C62-BF4C-7253F6039043}" type="presParOf" srcId="{791AB237-FFA7-4DC9-B71A-F8B7E767E860}" destId="{04B67EB9-9507-4B3A-B5EA-36CB9645C15C}" srcOrd="0" destOrd="0" presId="urn:microsoft.com/office/officeart/2005/8/layout/list1"/>
    <dgm:cxn modelId="{66AE91C5-46F3-4FDA-A624-0BBF455041FE}" type="presParOf" srcId="{04B67EB9-9507-4B3A-B5EA-36CB9645C15C}" destId="{D98FC6D0-2B3B-43FA-998A-13416BA0D6FA}" srcOrd="0" destOrd="0" presId="urn:microsoft.com/office/officeart/2005/8/layout/list1"/>
    <dgm:cxn modelId="{9F5E417F-5707-434C-BC84-86E487F29705}" type="presParOf" srcId="{04B67EB9-9507-4B3A-B5EA-36CB9645C15C}" destId="{DC636C25-5F64-4A1B-866E-3478C2A0E9E2}" srcOrd="1" destOrd="0" presId="urn:microsoft.com/office/officeart/2005/8/layout/list1"/>
    <dgm:cxn modelId="{62FC920F-0D68-4B5F-B2DE-96F7A84417BD}" type="presParOf" srcId="{791AB237-FFA7-4DC9-B71A-F8B7E767E860}" destId="{42653C97-719C-4090-9773-D03CF4BBC2CE}" srcOrd="1" destOrd="0" presId="urn:microsoft.com/office/officeart/2005/8/layout/list1"/>
    <dgm:cxn modelId="{ED28C0C2-9863-4B7A-872C-3F6EB3B0B86E}" type="presParOf" srcId="{791AB237-FFA7-4DC9-B71A-F8B7E767E860}" destId="{FB9380F0-6022-4D6D-AE2D-55C490221318}" srcOrd="2" destOrd="0" presId="urn:microsoft.com/office/officeart/2005/8/layout/list1"/>
    <dgm:cxn modelId="{276ADBA3-CF3D-4E20-AFEC-66F0EA43844C}" type="presParOf" srcId="{791AB237-FFA7-4DC9-B71A-F8B7E767E860}" destId="{0A2014C3-F90D-4930-8AE0-BDF98A7F349D}" srcOrd="3" destOrd="0" presId="urn:microsoft.com/office/officeart/2005/8/layout/list1"/>
    <dgm:cxn modelId="{682A2F61-00E7-4103-8D94-625859EAF17A}" type="presParOf" srcId="{791AB237-FFA7-4DC9-B71A-F8B7E767E860}" destId="{0EF82E27-542D-40B4-86A4-0670C9AB55D9}" srcOrd="4" destOrd="0" presId="urn:microsoft.com/office/officeart/2005/8/layout/list1"/>
    <dgm:cxn modelId="{DEFB35AE-31F2-40EA-939F-0B8C0F15BCBC}" type="presParOf" srcId="{0EF82E27-542D-40B4-86A4-0670C9AB55D9}" destId="{C5397B37-5F5C-4329-A3DD-97CDE8F3E0AD}" srcOrd="0" destOrd="0" presId="urn:microsoft.com/office/officeart/2005/8/layout/list1"/>
    <dgm:cxn modelId="{41B92E0B-1947-4566-A2FF-0BCBC7F8FF49}" type="presParOf" srcId="{0EF82E27-542D-40B4-86A4-0670C9AB55D9}" destId="{DF798623-9824-4516-9ADE-568F0CE9ADD8}" srcOrd="1" destOrd="0" presId="urn:microsoft.com/office/officeart/2005/8/layout/list1"/>
    <dgm:cxn modelId="{6DA73579-C682-4FA2-B1A0-9D4748E29863}" type="presParOf" srcId="{791AB237-FFA7-4DC9-B71A-F8B7E767E860}" destId="{8B37BAA0-D8ED-4C92-8D0C-6022AF97070F}" srcOrd="5" destOrd="0" presId="urn:microsoft.com/office/officeart/2005/8/layout/list1"/>
    <dgm:cxn modelId="{1FC4B42F-E392-498F-99BE-CD0DD383687E}" type="presParOf" srcId="{791AB237-FFA7-4DC9-B71A-F8B7E767E860}" destId="{538C6157-8F80-4DE5-9F6A-55DC7EDE2B1C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E78D1E7-4856-4421-9674-32177B3B69D4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t-IT"/>
        </a:p>
      </dgm:t>
    </dgm:pt>
    <dgm:pt modelId="{20C94C20-7900-4D46-BF92-C5482CF5C655}">
      <dgm:prSet phldrT="[Testo]" custT="1"/>
      <dgm:spPr>
        <a:solidFill>
          <a:schemeClr val="accent4">
            <a:lumMod val="20000"/>
            <a:lumOff val="80000"/>
          </a:schemeClr>
        </a:solidFill>
        <a:ln>
          <a:solidFill>
            <a:schemeClr val="accent1"/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800" b="1" noProof="0" dirty="0">
              <a:solidFill>
                <a:schemeClr val="tx1"/>
              </a:solidFill>
              <a:latin typeface="+mn-lt"/>
            </a:rPr>
            <a:t>Hybrid harvesting</a:t>
          </a:r>
        </a:p>
        <a:p>
          <a:pPr>
            <a:buFont typeface="Arial" panose="020B0604020202020204" pitchFamily="34" charset="0"/>
            <a:buChar char="•"/>
          </a:pPr>
          <a:r>
            <a:rPr lang="en-GB" sz="1800" noProof="0" dirty="0">
              <a:solidFill>
                <a:schemeClr val="tx1"/>
              </a:solidFill>
              <a:latin typeface="+mn-lt"/>
            </a:rPr>
            <a:t>stable &amp; reliable power profile</a:t>
          </a:r>
        </a:p>
      </dgm:t>
    </dgm:pt>
    <dgm:pt modelId="{AAF21427-EE29-4426-8CB9-808A30D69617}" type="parTrans" cxnId="{E0350C40-7A7D-452C-B91E-45B9E1389409}">
      <dgm:prSet/>
      <dgm:spPr/>
      <dgm:t>
        <a:bodyPr/>
        <a:lstStyle/>
        <a:p>
          <a:endParaRPr lang="it-IT" sz="1800">
            <a:solidFill>
              <a:schemeClr val="tx1"/>
            </a:solidFill>
          </a:endParaRPr>
        </a:p>
      </dgm:t>
    </dgm:pt>
    <dgm:pt modelId="{A721E781-E6C5-4557-B3AE-3F8A600045EA}" type="sibTrans" cxnId="{E0350C40-7A7D-452C-B91E-45B9E1389409}">
      <dgm:prSet/>
      <dgm:spPr/>
      <dgm:t>
        <a:bodyPr/>
        <a:lstStyle/>
        <a:p>
          <a:endParaRPr lang="it-IT" sz="1800">
            <a:solidFill>
              <a:schemeClr val="tx1"/>
            </a:solidFill>
          </a:endParaRPr>
        </a:p>
      </dgm:t>
    </dgm:pt>
    <dgm:pt modelId="{2E565757-B667-40C7-AE81-945F4AE73A66}">
      <dgm:prSet phldrT="[Testo]" custT="1"/>
      <dgm:spPr>
        <a:solidFill>
          <a:srgbClr val="C8102E">
            <a:lumMod val="20000"/>
            <a:lumOff val="80000"/>
          </a:srgbClr>
        </a:solidFill>
        <a:ln w="22225" cap="rnd" cmpd="sng" algn="ctr">
          <a:solidFill>
            <a:srgbClr val="C8102E"/>
          </a:solidFill>
          <a:prstDash val="solid"/>
        </a:ln>
        <a:effectLst/>
      </dgm:spPr>
      <dgm:t>
        <a:bodyPr spcFirstLastPara="0" vert="horz" wrap="square" lIns="68580" tIns="68580" rIns="68580" bIns="68580" numCol="1" spcCol="1270" anchor="ctr" anchorCtr="0"/>
        <a:lstStyle/>
        <a:p>
          <a:pPr marL="0"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GB" sz="1800" b="1" kern="1200" noProof="0" dirty="0">
              <a:solidFill>
                <a:prstClr val="black"/>
              </a:solidFill>
              <a:latin typeface="+mn-lt"/>
              <a:ea typeface="+mn-ea"/>
              <a:cs typeface="+mn-cs"/>
            </a:rPr>
            <a:t>Results</a:t>
          </a:r>
        </a:p>
        <a:p>
          <a:pPr marL="0"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GB" sz="1800" kern="1200" noProof="0" dirty="0">
              <a:solidFill>
                <a:prstClr val="black"/>
              </a:solidFill>
              <a:latin typeface="+mn-lt"/>
              <a:ea typeface="+mn-ea"/>
              <a:cs typeface="+mn-cs"/>
            </a:rPr>
            <a:t>zero friction, zero maintenance, zero charging</a:t>
          </a:r>
        </a:p>
      </dgm:t>
    </dgm:pt>
    <dgm:pt modelId="{C1C76AC4-4D45-4117-82B5-2CFD5A36D7E5}" type="parTrans" cxnId="{601DBC9C-04A4-452D-A6C3-4453E39F7F3C}">
      <dgm:prSet/>
      <dgm:spPr/>
      <dgm:t>
        <a:bodyPr/>
        <a:lstStyle/>
        <a:p>
          <a:endParaRPr lang="it-IT" sz="1800">
            <a:solidFill>
              <a:schemeClr val="tx1"/>
            </a:solidFill>
          </a:endParaRPr>
        </a:p>
      </dgm:t>
    </dgm:pt>
    <dgm:pt modelId="{CA5A1DD3-1747-45E3-8ED8-C3665E3D24BB}" type="sibTrans" cxnId="{601DBC9C-04A4-452D-A6C3-4453E39F7F3C}">
      <dgm:prSet/>
      <dgm:spPr/>
      <dgm:t>
        <a:bodyPr/>
        <a:lstStyle/>
        <a:p>
          <a:endParaRPr lang="it-IT" sz="1800">
            <a:solidFill>
              <a:schemeClr val="tx1"/>
            </a:solidFill>
          </a:endParaRPr>
        </a:p>
      </dgm:t>
    </dgm:pt>
    <dgm:pt modelId="{C5FF014B-F5C7-49A1-B064-0C317792FE56}">
      <dgm:prSet phldrT="[Testo]" custT="1"/>
      <dgm:spPr>
        <a:solidFill>
          <a:schemeClr val="accent4">
            <a:lumMod val="20000"/>
            <a:lumOff val="80000"/>
          </a:schemeClr>
        </a:solidFill>
        <a:ln>
          <a:solidFill>
            <a:schemeClr val="accent1"/>
          </a:solidFill>
        </a:ln>
      </dgm:spPr>
      <dgm:t>
        <a:bodyPr/>
        <a:lstStyle/>
        <a:p>
          <a:pPr>
            <a:lnSpc>
              <a:spcPct val="90000"/>
            </a:lnSpc>
            <a:spcAft>
              <a:spcPct val="35000"/>
            </a:spcAft>
            <a:buFont typeface="Arial" panose="020B0604020202020204" pitchFamily="34" charset="0"/>
            <a:buChar char="•"/>
          </a:pPr>
          <a:r>
            <a:rPr lang="en-GB" sz="1800" b="1" kern="1200" noProof="0" dirty="0">
              <a:solidFill>
                <a:schemeClr val="tx1"/>
              </a:solidFill>
              <a:latin typeface="+mn-lt"/>
            </a:rPr>
            <a:t>Telemetry</a:t>
          </a:r>
          <a:r>
            <a:rPr lang="en-GB" sz="1800" kern="1200" noProof="0" dirty="0">
              <a:solidFill>
                <a:schemeClr val="tx1"/>
              </a:solidFill>
              <a:latin typeface="+mn-lt"/>
            </a:rPr>
            <a:t> </a:t>
          </a:r>
        </a:p>
        <a:p>
          <a:pPr>
            <a:lnSpc>
              <a:spcPct val="90000"/>
            </a:lnSpc>
            <a:spcAft>
              <a:spcPts val="0"/>
            </a:spcAft>
            <a:buFont typeface="Arial" panose="020B0604020202020204" pitchFamily="34" charset="0"/>
            <a:buChar char="•"/>
          </a:pPr>
          <a:r>
            <a:rPr lang="en-GB" sz="1800" kern="1200" noProof="0" dirty="0" err="1">
              <a:solidFill>
                <a:prstClr val="black"/>
              </a:solidFill>
              <a:latin typeface="+mn-lt"/>
              <a:ea typeface="+mn-ea"/>
              <a:cs typeface="+mn-cs"/>
            </a:rPr>
            <a:t>batteryless</a:t>
          </a:r>
          <a:r>
            <a:rPr lang="en-GB" sz="1800" kern="1200" noProof="0" dirty="0">
              <a:solidFill>
                <a:prstClr val="black"/>
              </a:solidFill>
              <a:latin typeface="+mn-lt"/>
              <a:ea typeface="+mn-ea"/>
              <a:cs typeface="+mn-cs"/>
            </a:rPr>
            <a:t> today </a:t>
          </a:r>
        </a:p>
        <a:p>
          <a:pPr>
            <a:lnSpc>
              <a:spcPct val="100000"/>
            </a:lnSpc>
            <a:spcAft>
              <a:spcPts val="0"/>
            </a:spcAft>
            <a:buFont typeface="Arial" panose="020B0604020202020204" pitchFamily="34" charset="0"/>
            <a:buChar char="•"/>
          </a:pPr>
          <a:r>
            <a:rPr lang="en-GB" sz="1800" kern="1200" noProof="0" dirty="0">
              <a:solidFill>
                <a:prstClr val="black"/>
              </a:solidFill>
              <a:latin typeface="+mn-lt"/>
              <a:ea typeface="+mn-ea"/>
              <a:cs typeface="+mn-cs"/>
            </a:rPr>
            <a:t>(fully supported)</a:t>
          </a:r>
        </a:p>
      </dgm:t>
    </dgm:pt>
    <dgm:pt modelId="{B0890BDA-9845-41B5-B88C-F2CE37D21E45}" type="parTrans" cxnId="{7515791D-C672-404C-8398-9D95008D6F74}">
      <dgm:prSet/>
      <dgm:spPr/>
      <dgm:t>
        <a:bodyPr/>
        <a:lstStyle/>
        <a:p>
          <a:endParaRPr lang="it-IT" sz="1800">
            <a:solidFill>
              <a:schemeClr val="tx1"/>
            </a:solidFill>
          </a:endParaRPr>
        </a:p>
      </dgm:t>
    </dgm:pt>
    <dgm:pt modelId="{70D1E83F-0600-4396-A93C-C99E4569EC46}" type="sibTrans" cxnId="{7515791D-C672-404C-8398-9D95008D6F74}">
      <dgm:prSet/>
      <dgm:spPr/>
      <dgm:t>
        <a:bodyPr/>
        <a:lstStyle/>
        <a:p>
          <a:endParaRPr lang="it-IT" sz="1800">
            <a:solidFill>
              <a:schemeClr val="tx1"/>
            </a:solidFill>
          </a:endParaRPr>
        </a:p>
      </dgm:t>
    </dgm:pt>
    <dgm:pt modelId="{79F3295C-7473-4CAE-A011-4DC8E8D00BEC}">
      <dgm:prSet phldrT="[Testo]" custT="1"/>
      <dgm:spPr>
        <a:solidFill>
          <a:schemeClr val="accent4">
            <a:lumMod val="20000"/>
            <a:lumOff val="80000"/>
          </a:schemeClr>
        </a:solidFill>
        <a:ln>
          <a:solidFill>
            <a:schemeClr val="accent1"/>
          </a:solidFill>
        </a:ln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GB" sz="1800" b="1" noProof="0" dirty="0">
              <a:solidFill>
                <a:schemeClr val="tx1"/>
              </a:solidFill>
              <a:latin typeface="+mn-lt"/>
            </a:rPr>
            <a:t>Commercial devices</a:t>
          </a:r>
        </a:p>
        <a:p>
          <a:pPr>
            <a:buFont typeface="Arial" panose="020B0604020202020204" pitchFamily="34" charset="0"/>
            <a:buChar char="•"/>
          </a:pPr>
          <a:r>
            <a:rPr lang="en-GB" sz="1800" b="1" noProof="0" dirty="0">
              <a:solidFill>
                <a:schemeClr val="tx1"/>
              </a:solidFill>
              <a:latin typeface="+mn-lt"/>
            </a:rPr>
            <a:t> </a:t>
          </a:r>
          <a:r>
            <a:rPr lang="en-GB" sz="1800" noProof="0" dirty="0">
              <a:solidFill>
                <a:schemeClr val="tx1"/>
              </a:solidFill>
              <a:latin typeface="+mn-lt"/>
            </a:rPr>
            <a:t>partially supported (optimization needed)</a:t>
          </a:r>
        </a:p>
      </dgm:t>
    </dgm:pt>
    <dgm:pt modelId="{AE44C14D-2103-4258-A7F0-9E64AF85A451}" type="parTrans" cxnId="{C90B32D4-A9D9-4D38-8A0F-8F3AEF7BA20C}">
      <dgm:prSet/>
      <dgm:spPr/>
      <dgm:t>
        <a:bodyPr/>
        <a:lstStyle/>
        <a:p>
          <a:endParaRPr lang="it-IT" sz="1800">
            <a:solidFill>
              <a:schemeClr val="tx1"/>
            </a:solidFill>
          </a:endParaRPr>
        </a:p>
      </dgm:t>
    </dgm:pt>
    <dgm:pt modelId="{8E911546-01F9-4F76-9F44-AA6851C28147}" type="sibTrans" cxnId="{C90B32D4-A9D9-4D38-8A0F-8F3AEF7BA20C}">
      <dgm:prSet/>
      <dgm:spPr/>
      <dgm:t>
        <a:bodyPr/>
        <a:lstStyle/>
        <a:p>
          <a:endParaRPr lang="it-IT" sz="1800">
            <a:solidFill>
              <a:schemeClr val="tx1"/>
            </a:solidFill>
          </a:endParaRPr>
        </a:p>
      </dgm:t>
    </dgm:pt>
    <dgm:pt modelId="{F05E8FBC-244A-45BE-B1B5-18C646F3F080}" type="pres">
      <dgm:prSet presAssocID="{6E78D1E7-4856-4421-9674-32177B3B69D4}" presName="diagram" presStyleCnt="0">
        <dgm:presLayoutVars>
          <dgm:dir/>
          <dgm:resizeHandles val="exact"/>
        </dgm:presLayoutVars>
      </dgm:prSet>
      <dgm:spPr/>
    </dgm:pt>
    <dgm:pt modelId="{79381F8E-9696-4265-BDAE-C917C866DBC2}" type="pres">
      <dgm:prSet presAssocID="{20C94C20-7900-4D46-BF92-C5482CF5C655}" presName="node" presStyleLbl="node1" presStyleIdx="0" presStyleCnt="4">
        <dgm:presLayoutVars>
          <dgm:bulletEnabled val="1"/>
        </dgm:presLayoutVars>
      </dgm:prSet>
      <dgm:spPr>
        <a:prstGeom prst="roundRect">
          <a:avLst/>
        </a:prstGeom>
      </dgm:spPr>
    </dgm:pt>
    <dgm:pt modelId="{6F6361A5-9F9E-49FB-BD56-616CB2769321}" type="pres">
      <dgm:prSet presAssocID="{A721E781-E6C5-4557-B3AE-3F8A600045EA}" presName="sibTrans" presStyleCnt="0"/>
      <dgm:spPr/>
    </dgm:pt>
    <dgm:pt modelId="{31E81BCE-18EA-4A56-80B7-B13D1039E4D8}" type="pres">
      <dgm:prSet presAssocID="{2E565757-B667-40C7-AE81-945F4AE73A66}" presName="node" presStyleLbl="node1" presStyleIdx="1" presStyleCnt="4">
        <dgm:presLayoutVars>
          <dgm:bulletEnabled val="1"/>
        </dgm:presLayoutVars>
      </dgm:prSet>
      <dgm:spPr>
        <a:xfrm>
          <a:off x="3130085" y="41235"/>
          <a:ext cx="2844869" cy="1706921"/>
        </a:xfrm>
        <a:prstGeom prst="roundRect">
          <a:avLst/>
        </a:prstGeom>
      </dgm:spPr>
    </dgm:pt>
    <dgm:pt modelId="{9B6C6C30-037F-4AF9-9CA6-23A84F95091E}" type="pres">
      <dgm:prSet presAssocID="{CA5A1DD3-1747-45E3-8ED8-C3665E3D24BB}" presName="sibTrans" presStyleCnt="0"/>
      <dgm:spPr/>
    </dgm:pt>
    <dgm:pt modelId="{DCFFF45E-D053-440C-9D55-77229D07706A}" type="pres">
      <dgm:prSet presAssocID="{C5FF014B-F5C7-49A1-B064-0C317792FE56}" presName="node" presStyleLbl="node1" presStyleIdx="2" presStyleCnt="4">
        <dgm:presLayoutVars>
          <dgm:bulletEnabled val="1"/>
        </dgm:presLayoutVars>
      </dgm:prSet>
      <dgm:spPr>
        <a:prstGeom prst="roundRect">
          <a:avLst/>
        </a:prstGeom>
      </dgm:spPr>
    </dgm:pt>
    <dgm:pt modelId="{B99839AB-EE53-4FD7-99CE-675ABB45F7E6}" type="pres">
      <dgm:prSet presAssocID="{70D1E83F-0600-4396-A93C-C99E4569EC46}" presName="sibTrans" presStyleCnt="0"/>
      <dgm:spPr/>
    </dgm:pt>
    <dgm:pt modelId="{CAE1F176-9DC9-4325-82C1-5774836684D6}" type="pres">
      <dgm:prSet presAssocID="{79F3295C-7473-4CAE-A011-4DC8E8D00BEC}" presName="node" presStyleLbl="node1" presStyleIdx="3" presStyleCnt="4">
        <dgm:presLayoutVars>
          <dgm:bulletEnabled val="1"/>
        </dgm:presLayoutVars>
      </dgm:prSet>
      <dgm:spPr>
        <a:prstGeom prst="roundRect">
          <a:avLst/>
        </a:prstGeom>
      </dgm:spPr>
    </dgm:pt>
  </dgm:ptLst>
  <dgm:cxnLst>
    <dgm:cxn modelId="{7515791D-C672-404C-8398-9D95008D6F74}" srcId="{6E78D1E7-4856-4421-9674-32177B3B69D4}" destId="{C5FF014B-F5C7-49A1-B064-0C317792FE56}" srcOrd="2" destOrd="0" parTransId="{B0890BDA-9845-41B5-B88C-F2CE37D21E45}" sibTransId="{70D1E83F-0600-4396-A93C-C99E4569EC46}"/>
    <dgm:cxn modelId="{E0350C40-7A7D-452C-B91E-45B9E1389409}" srcId="{6E78D1E7-4856-4421-9674-32177B3B69D4}" destId="{20C94C20-7900-4D46-BF92-C5482CF5C655}" srcOrd="0" destOrd="0" parTransId="{AAF21427-EE29-4426-8CB9-808A30D69617}" sibTransId="{A721E781-E6C5-4557-B3AE-3F8A600045EA}"/>
    <dgm:cxn modelId="{F8865360-4811-489D-925D-B73BA1ECAB55}" type="presOf" srcId="{2E565757-B667-40C7-AE81-945F4AE73A66}" destId="{31E81BCE-18EA-4A56-80B7-B13D1039E4D8}" srcOrd="0" destOrd="0" presId="urn:microsoft.com/office/officeart/2005/8/layout/default"/>
    <dgm:cxn modelId="{C17A1D81-D138-4171-AC46-1F471F974245}" type="presOf" srcId="{20C94C20-7900-4D46-BF92-C5482CF5C655}" destId="{79381F8E-9696-4265-BDAE-C917C866DBC2}" srcOrd="0" destOrd="0" presId="urn:microsoft.com/office/officeart/2005/8/layout/default"/>
    <dgm:cxn modelId="{DE24E095-EA78-49A1-91C2-10B87D09F1E6}" type="presOf" srcId="{6E78D1E7-4856-4421-9674-32177B3B69D4}" destId="{F05E8FBC-244A-45BE-B1B5-18C646F3F080}" srcOrd="0" destOrd="0" presId="urn:microsoft.com/office/officeart/2005/8/layout/default"/>
    <dgm:cxn modelId="{601DBC9C-04A4-452D-A6C3-4453E39F7F3C}" srcId="{6E78D1E7-4856-4421-9674-32177B3B69D4}" destId="{2E565757-B667-40C7-AE81-945F4AE73A66}" srcOrd="1" destOrd="0" parTransId="{C1C76AC4-4D45-4117-82B5-2CFD5A36D7E5}" sibTransId="{CA5A1DD3-1747-45E3-8ED8-C3665E3D24BB}"/>
    <dgm:cxn modelId="{9EE38FBB-228C-401F-BCB5-F1ECE5847C69}" type="presOf" srcId="{79F3295C-7473-4CAE-A011-4DC8E8D00BEC}" destId="{CAE1F176-9DC9-4325-82C1-5774836684D6}" srcOrd="0" destOrd="0" presId="urn:microsoft.com/office/officeart/2005/8/layout/default"/>
    <dgm:cxn modelId="{C90B32D4-A9D9-4D38-8A0F-8F3AEF7BA20C}" srcId="{6E78D1E7-4856-4421-9674-32177B3B69D4}" destId="{79F3295C-7473-4CAE-A011-4DC8E8D00BEC}" srcOrd="3" destOrd="0" parTransId="{AE44C14D-2103-4258-A7F0-9E64AF85A451}" sibTransId="{8E911546-01F9-4F76-9F44-AA6851C28147}"/>
    <dgm:cxn modelId="{DCF704EA-ACE9-44AB-8394-325DEB643CB1}" type="presOf" srcId="{C5FF014B-F5C7-49A1-B064-0C317792FE56}" destId="{DCFFF45E-D053-440C-9D55-77229D07706A}" srcOrd="0" destOrd="0" presId="urn:microsoft.com/office/officeart/2005/8/layout/default"/>
    <dgm:cxn modelId="{A0C82704-ED1C-4D95-9990-561E2C289DFD}" type="presParOf" srcId="{F05E8FBC-244A-45BE-B1B5-18C646F3F080}" destId="{79381F8E-9696-4265-BDAE-C917C866DBC2}" srcOrd="0" destOrd="0" presId="urn:microsoft.com/office/officeart/2005/8/layout/default"/>
    <dgm:cxn modelId="{BF5C84CC-3176-49ED-BDD5-EFA899F6D9CD}" type="presParOf" srcId="{F05E8FBC-244A-45BE-B1B5-18C646F3F080}" destId="{6F6361A5-9F9E-49FB-BD56-616CB2769321}" srcOrd="1" destOrd="0" presId="urn:microsoft.com/office/officeart/2005/8/layout/default"/>
    <dgm:cxn modelId="{D273395B-3400-43AA-84F9-7E901FA6B6E1}" type="presParOf" srcId="{F05E8FBC-244A-45BE-B1B5-18C646F3F080}" destId="{31E81BCE-18EA-4A56-80B7-B13D1039E4D8}" srcOrd="2" destOrd="0" presId="urn:microsoft.com/office/officeart/2005/8/layout/default"/>
    <dgm:cxn modelId="{E7BA20E4-FD8F-4312-AEA6-27C17ACC8841}" type="presParOf" srcId="{F05E8FBC-244A-45BE-B1B5-18C646F3F080}" destId="{9B6C6C30-037F-4AF9-9CA6-23A84F95091E}" srcOrd="3" destOrd="0" presId="urn:microsoft.com/office/officeart/2005/8/layout/default"/>
    <dgm:cxn modelId="{8D4C034B-514A-44F5-800F-C547B16F513C}" type="presParOf" srcId="{F05E8FBC-244A-45BE-B1B5-18C646F3F080}" destId="{DCFFF45E-D053-440C-9D55-77229D07706A}" srcOrd="4" destOrd="0" presId="urn:microsoft.com/office/officeart/2005/8/layout/default"/>
    <dgm:cxn modelId="{D66AE3A2-AD6D-4AED-8498-87C9BA97BB57}" type="presParOf" srcId="{F05E8FBC-244A-45BE-B1B5-18C646F3F080}" destId="{B99839AB-EE53-4FD7-99CE-675ABB45F7E6}" srcOrd="5" destOrd="0" presId="urn:microsoft.com/office/officeart/2005/8/layout/default"/>
    <dgm:cxn modelId="{E5C0B884-158A-4FCC-893B-CBF68FE110CC}" type="presParOf" srcId="{F05E8FBC-244A-45BE-B1B5-18C646F3F080}" destId="{CAE1F176-9DC9-4325-82C1-5774836684D6}" srcOrd="6" destOrd="0" presId="urn:microsoft.com/office/officeart/2005/8/layout/defaul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B311EA-0B6F-43BD-AA1B-28DAC8171AAC}">
      <dsp:nvSpPr>
        <dsp:cNvPr id="0" name=""/>
        <dsp:cNvSpPr/>
      </dsp:nvSpPr>
      <dsp:spPr>
        <a:xfrm>
          <a:off x="1934524" y="1087198"/>
          <a:ext cx="1058663" cy="36746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3734"/>
              </a:lnTo>
              <a:lnTo>
                <a:pt x="1058663" y="183734"/>
              </a:lnTo>
              <a:lnTo>
                <a:pt x="1058663" y="367469"/>
              </a:lnTo>
            </a:path>
          </a:pathLst>
        </a:custGeom>
        <a:noFill/>
        <a:ln w="22225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73F8997-A6ED-40E6-93C5-C3B267AF4C20}">
      <dsp:nvSpPr>
        <dsp:cNvPr id="0" name=""/>
        <dsp:cNvSpPr/>
      </dsp:nvSpPr>
      <dsp:spPr>
        <a:xfrm>
          <a:off x="875860" y="1087198"/>
          <a:ext cx="1058663" cy="367469"/>
        </a:xfrm>
        <a:custGeom>
          <a:avLst/>
          <a:gdLst/>
          <a:ahLst/>
          <a:cxnLst/>
          <a:rect l="0" t="0" r="0" b="0"/>
          <a:pathLst>
            <a:path>
              <a:moveTo>
                <a:pt x="1058663" y="0"/>
              </a:moveTo>
              <a:lnTo>
                <a:pt x="1058663" y="183734"/>
              </a:lnTo>
              <a:lnTo>
                <a:pt x="0" y="183734"/>
              </a:lnTo>
              <a:lnTo>
                <a:pt x="0" y="367469"/>
              </a:lnTo>
            </a:path>
          </a:pathLst>
        </a:custGeom>
        <a:noFill/>
        <a:ln w="22225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2234E2B-277E-4F7B-A672-9ADA3DD47FBE}">
      <dsp:nvSpPr>
        <dsp:cNvPr id="0" name=""/>
        <dsp:cNvSpPr/>
      </dsp:nvSpPr>
      <dsp:spPr>
        <a:xfrm>
          <a:off x="1059595" y="212269"/>
          <a:ext cx="1749856" cy="87492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tx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noProof="0" dirty="0">
              <a:latin typeface="+mj-lt"/>
            </a:rPr>
            <a:t>Up to 5–7 batteries on a high-end MTB</a:t>
          </a:r>
        </a:p>
      </dsp:txBody>
      <dsp:txXfrm>
        <a:off x="1102305" y="254979"/>
        <a:ext cx="1664436" cy="789508"/>
      </dsp:txXfrm>
    </dsp:sp>
    <dsp:sp modelId="{147769AF-2224-44FA-9356-7AE2A10DB39D}">
      <dsp:nvSpPr>
        <dsp:cNvPr id="0" name=""/>
        <dsp:cNvSpPr/>
      </dsp:nvSpPr>
      <dsp:spPr>
        <a:xfrm>
          <a:off x="932" y="1454667"/>
          <a:ext cx="1749856" cy="874928"/>
        </a:xfrm>
        <a:prstGeom prst="roundRect">
          <a:avLst/>
        </a:prstGeom>
        <a:solidFill>
          <a:schemeClr val="accent4">
            <a:lumMod val="20000"/>
            <a:lumOff val="80000"/>
          </a:schemeClr>
        </a:solidFill>
        <a:ln w="22225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noProof="0" dirty="0">
              <a:solidFill>
                <a:schemeClr val="tx1"/>
              </a:solidFill>
              <a:latin typeface="+mj-lt"/>
            </a:rPr>
            <a:t>Recharging burden and failures</a:t>
          </a:r>
        </a:p>
      </dsp:txBody>
      <dsp:txXfrm>
        <a:off x="43642" y="1497377"/>
        <a:ext cx="1664436" cy="789508"/>
      </dsp:txXfrm>
    </dsp:sp>
    <dsp:sp modelId="{9FABF31F-70A8-41F9-A2C1-F170E27316FF}">
      <dsp:nvSpPr>
        <dsp:cNvPr id="0" name=""/>
        <dsp:cNvSpPr/>
      </dsp:nvSpPr>
      <dsp:spPr>
        <a:xfrm>
          <a:off x="2118258" y="1454667"/>
          <a:ext cx="1749856" cy="874928"/>
        </a:xfrm>
        <a:prstGeom prst="roundRect">
          <a:avLst/>
        </a:prstGeom>
        <a:solidFill>
          <a:schemeClr val="accent4">
            <a:lumMod val="20000"/>
            <a:lumOff val="80000"/>
          </a:schemeClr>
        </a:solidFill>
        <a:ln w="22225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noProof="0" dirty="0">
              <a:solidFill>
                <a:schemeClr val="tx1"/>
              </a:solidFill>
              <a:latin typeface="+mj-lt"/>
            </a:rPr>
            <a:t>Environmental impact</a:t>
          </a:r>
        </a:p>
      </dsp:txBody>
      <dsp:txXfrm>
        <a:off x="2160968" y="1497377"/>
        <a:ext cx="1664436" cy="7895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9380F0-6022-4D6D-AE2D-55C490221318}">
      <dsp:nvSpPr>
        <dsp:cNvPr id="0" name=""/>
        <dsp:cNvSpPr/>
      </dsp:nvSpPr>
      <dsp:spPr>
        <a:xfrm>
          <a:off x="0" y="192333"/>
          <a:ext cx="5398913" cy="1760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016" tIns="270764" rIns="41901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kern="1200" noProof="0" dirty="0"/>
            <a:t>1.5 km downhill segment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kern="1200" noProof="0" dirty="0"/>
            <a:t>Maximum TEG hot-side temperature: 45°C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kern="1200" noProof="0" dirty="0"/>
            <a:t>Ambient temperature: ∼20°C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kern="1200" noProof="0" dirty="0"/>
            <a:t>Peak power: 2.3 </a:t>
          </a:r>
          <a:r>
            <a:rPr lang="en-GB" sz="1800" b="1" kern="1200" noProof="0" dirty="0" err="1"/>
            <a:t>mW</a:t>
          </a:r>
          <a:endParaRPr lang="en-GB" sz="1800" b="1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kern="1200" noProof="0" dirty="0"/>
            <a:t>Harvested energy: 439 J</a:t>
          </a:r>
        </a:p>
      </dsp:txBody>
      <dsp:txXfrm>
        <a:off x="0" y="192333"/>
        <a:ext cx="5398913" cy="1760850"/>
      </dsp:txXfrm>
    </dsp:sp>
    <dsp:sp modelId="{DC636C25-5F64-4A1B-866E-3478C2A0E9E2}">
      <dsp:nvSpPr>
        <dsp:cNvPr id="0" name=""/>
        <dsp:cNvSpPr/>
      </dsp:nvSpPr>
      <dsp:spPr>
        <a:xfrm>
          <a:off x="269945" y="453"/>
          <a:ext cx="3779239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846" tIns="0" rIns="142846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noProof="0" dirty="0"/>
            <a:t>Ride 1</a:t>
          </a:r>
        </a:p>
      </dsp:txBody>
      <dsp:txXfrm>
        <a:off x="288679" y="19187"/>
        <a:ext cx="3741771" cy="346292"/>
      </dsp:txXfrm>
    </dsp:sp>
    <dsp:sp modelId="{538C6157-8F80-4DE5-9F6A-55DC7EDE2B1C}">
      <dsp:nvSpPr>
        <dsp:cNvPr id="0" name=""/>
        <dsp:cNvSpPr/>
      </dsp:nvSpPr>
      <dsp:spPr>
        <a:xfrm>
          <a:off x="0" y="2215263"/>
          <a:ext cx="5398913" cy="1801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016" tIns="270764" rIns="41901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kern="1200" noProof="0" dirty="0"/>
            <a:t>longer descent (∼6 km),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kern="1200" noProof="0" dirty="0"/>
            <a:t>Maximum TEG hot-side temperature: 46°C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kern="1200" noProof="0" dirty="0"/>
            <a:t>Ambient temperature: ∼16°C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kern="1200" noProof="0" dirty="0"/>
            <a:t>Peak power: 3.2 </a:t>
          </a:r>
          <a:r>
            <a:rPr lang="en-GB" sz="1800" b="1" kern="1200" noProof="0" dirty="0" err="1"/>
            <a:t>mW</a:t>
          </a:r>
          <a:endParaRPr lang="en-GB" sz="1800" b="1" kern="1200" noProof="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b="1" kern="1200" noProof="0" dirty="0"/>
            <a:t>Harvested energy: 2236 J</a:t>
          </a:r>
        </a:p>
      </dsp:txBody>
      <dsp:txXfrm>
        <a:off x="0" y="2215263"/>
        <a:ext cx="5398913" cy="1801800"/>
      </dsp:txXfrm>
    </dsp:sp>
    <dsp:sp modelId="{DF798623-9824-4516-9ADE-568F0CE9ADD8}">
      <dsp:nvSpPr>
        <dsp:cNvPr id="0" name=""/>
        <dsp:cNvSpPr/>
      </dsp:nvSpPr>
      <dsp:spPr>
        <a:xfrm>
          <a:off x="269945" y="2023383"/>
          <a:ext cx="3779239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846" tIns="0" rIns="142846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noProof="0" dirty="0"/>
            <a:t>Ride 2</a:t>
          </a:r>
        </a:p>
      </dsp:txBody>
      <dsp:txXfrm>
        <a:off x="288679" y="2042117"/>
        <a:ext cx="3741771" cy="34629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381F8E-9696-4265-BDAE-C917C866DBC2}">
      <dsp:nvSpPr>
        <dsp:cNvPr id="0" name=""/>
        <dsp:cNvSpPr/>
      </dsp:nvSpPr>
      <dsp:spPr>
        <a:xfrm>
          <a:off x="729" y="41235"/>
          <a:ext cx="2844869" cy="1706921"/>
        </a:xfrm>
        <a:prstGeom prst="roundRect">
          <a:avLst/>
        </a:prstGeom>
        <a:solidFill>
          <a:schemeClr val="accent4">
            <a:lumMod val="20000"/>
            <a:lumOff val="80000"/>
          </a:schemeClr>
        </a:solidFill>
        <a:ln w="22225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GB" sz="1800" b="1" kern="1200" noProof="0" dirty="0">
              <a:solidFill>
                <a:schemeClr val="tx1"/>
              </a:solidFill>
              <a:latin typeface="+mn-lt"/>
            </a:rPr>
            <a:t>Hybrid harvesting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GB" sz="1800" kern="1200" noProof="0" dirty="0">
              <a:solidFill>
                <a:schemeClr val="tx1"/>
              </a:solidFill>
              <a:latin typeface="+mn-lt"/>
            </a:rPr>
            <a:t>stable &amp; reliable power profile</a:t>
          </a:r>
        </a:p>
      </dsp:txBody>
      <dsp:txXfrm>
        <a:off x="84054" y="124560"/>
        <a:ext cx="2678219" cy="1540271"/>
      </dsp:txXfrm>
    </dsp:sp>
    <dsp:sp modelId="{31E81BCE-18EA-4A56-80B7-B13D1039E4D8}">
      <dsp:nvSpPr>
        <dsp:cNvPr id="0" name=""/>
        <dsp:cNvSpPr/>
      </dsp:nvSpPr>
      <dsp:spPr>
        <a:xfrm>
          <a:off x="3130085" y="41235"/>
          <a:ext cx="2844869" cy="1706921"/>
        </a:xfrm>
        <a:prstGeom prst="roundRect">
          <a:avLst/>
        </a:prstGeom>
        <a:solidFill>
          <a:srgbClr val="C8102E">
            <a:lumMod val="20000"/>
            <a:lumOff val="80000"/>
          </a:srgbClr>
        </a:solidFill>
        <a:ln w="22225" cap="rnd" cmpd="sng" algn="ctr">
          <a:solidFill>
            <a:srgbClr val="C8102E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GB" sz="1800" b="1" kern="1200" noProof="0" dirty="0">
              <a:solidFill>
                <a:prstClr val="black"/>
              </a:solidFill>
              <a:latin typeface="+mn-lt"/>
              <a:ea typeface="+mn-ea"/>
              <a:cs typeface="+mn-cs"/>
            </a:rPr>
            <a:t>Results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GB" sz="1800" kern="1200" noProof="0" dirty="0">
              <a:solidFill>
                <a:prstClr val="black"/>
              </a:solidFill>
              <a:latin typeface="+mn-lt"/>
              <a:ea typeface="+mn-ea"/>
              <a:cs typeface="+mn-cs"/>
            </a:rPr>
            <a:t>zero friction, zero maintenance, zero charging</a:t>
          </a:r>
        </a:p>
      </dsp:txBody>
      <dsp:txXfrm>
        <a:off x="3213410" y="124560"/>
        <a:ext cx="2678219" cy="1540271"/>
      </dsp:txXfrm>
    </dsp:sp>
    <dsp:sp modelId="{DCFFF45E-D053-440C-9D55-77229D07706A}">
      <dsp:nvSpPr>
        <dsp:cNvPr id="0" name=""/>
        <dsp:cNvSpPr/>
      </dsp:nvSpPr>
      <dsp:spPr>
        <a:xfrm>
          <a:off x="729" y="2032643"/>
          <a:ext cx="2844869" cy="1706921"/>
        </a:xfrm>
        <a:prstGeom prst="roundRect">
          <a:avLst/>
        </a:prstGeom>
        <a:solidFill>
          <a:schemeClr val="accent4">
            <a:lumMod val="20000"/>
            <a:lumOff val="80000"/>
          </a:schemeClr>
        </a:solidFill>
        <a:ln w="22225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GB" sz="1800" b="1" kern="1200" noProof="0" dirty="0">
              <a:solidFill>
                <a:schemeClr val="tx1"/>
              </a:solidFill>
              <a:latin typeface="+mn-lt"/>
            </a:rPr>
            <a:t>Telemetry</a:t>
          </a:r>
          <a:r>
            <a:rPr lang="en-GB" sz="1800" kern="1200" noProof="0" dirty="0">
              <a:solidFill>
                <a:schemeClr val="tx1"/>
              </a:solidFill>
              <a:latin typeface="+mn-lt"/>
            </a:rPr>
            <a:t> 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ts val="0"/>
            </a:spcAft>
            <a:buFont typeface="Arial" panose="020B0604020202020204" pitchFamily="34" charset="0"/>
            <a:buNone/>
          </a:pPr>
          <a:r>
            <a:rPr lang="en-GB" sz="1800" kern="1200" noProof="0" dirty="0" err="1">
              <a:solidFill>
                <a:prstClr val="black"/>
              </a:solidFill>
              <a:latin typeface="+mn-lt"/>
              <a:ea typeface="+mn-ea"/>
              <a:cs typeface="+mn-cs"/>
            </a:rPr>
            <a:t>batteryless</a:t>
          </a:r>
          <a:r>
            <a:rPr lang="en-GB" sz="1800" kern="1200" noProof="0" dirty="0">
              <a:solidFill>
                <a:prstClr val="black"/>
              </a:solidFill>
              <a:latin typeface="+mn-lt"/>
              <a:ea typeface="+mn-ea"/>
              <a:cs typeface="+mn-cs"/>
            </a:rPr>
            <a:t> today </a:t>
          </a:r>
        </a:p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ts val="0"/>
            </a:spcAft>
            <a:buFont typeface="Arial" panose="020B0604020202020204" pitchFamily="34" charset="0"/>
            <a:buNone/>
          </a:pPr>
          <a:r>
            <a:rPr lang="en-GB" sz="1800" kern="1200" noProof="0" dirty="0">
              <a:solidFill>
                <a:prstClr val="black"/>
              </a:solidFill>
              <a:latin typeface="+mn-lt"/>
              <a:ea typeface="+mn-ea"/>
              <a:cs typeface="+mn-cs"/>
            </a:rPr>
            <a:t>(fully supported)</a:t>
          </a:r>
        </a:p>
      </dsp:txBody>
      <dsp:txXfrm>
        <a:off x="84054" y="2115968"/>
        <a:ext cx="2678219" cy="1540271"/>
      </dsp:txXfrm>
    </dsp:sp>
    <dsp:sp modelId="{CAE1F176-9DC9-4325-82C1-5774836684D6}">
      <dsp:nvSpPr>
        <dsp:cNvPr id="0" name=""/>
        <dsp:cNvSpPr/>
      </dsp:nvSpPr>
      <dsp:spPr>
        <a:xfrm>
          <a:off x="3130085" y="2032643"/>
          <a:ext cx="2844869" cy="1706921"/>
        </a:xfrm>
        <a:prstGeom prst="roundRect">
          <a:avLst/>
        </a:prstGeom>
        <a:solidFill>
          <a:schemeClr val="accent4">
            <a:lumMod val="20000"/>
            <a:lumOff val="80000"/>
          </a:schemeClr>
        </a:solidFill>
        <a:ln w="22225" cap="rnd" cmpd="sng" algn="ctr">
          <a:solidFill>
            <a:schemeClr val="accent1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GB" sz="1800" b="1" kern="1200" noProof="0" dirty="0">
              <a:solidFill>
                <a:schemeClr val="tx1"/>
              </a:solidFill>
              <a:latin typeface="+mn-lt"/>
            </a:rPr>
            <a:t>Commercial devices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GB" sz="1800" b="1" kern="1200" noProof="0" dirty="0">
              <a:solidFill>
                <a:schemeClr val="tx1"/>
              </a:solidFill>
              <a:latin typeface="+mn-lt"/>
            </a:rPr>
            <a:t> </a:t>
          </a:r>
          <a:r>
            <a:rPr lang="en-GB" sz="1800" kern="1200" noProof="0" dirty="0">
              <a:solidFill>
                <a:schemeClr val="tx1"/>
              </a:solidFill>
              <a:latin typeface="+mn-lt"/>
            </a:rPr>
            <a:t>partially supported (optimization needed)</a:t>
          </a:r>
        </a:p>
      </dsp:txBody>
      <dsp:txXfrm>
        <a:off x="3213410" y="2115968"/>
        <a:ext cx="2678219" cy="15402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F05510-8F20-4855-92F5-1C6E04172244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7C705-EDF9-4E83-8E9D-D876313D7C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4303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881390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25B2D-3DCE-880A-3A61-52A800A5B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CDD519-5305-66D5-BC7F-9C018AADB2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F83D2E3-2CD0-E003-9063-09DBCFD03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507133C-A392-4B55-A75F-DD895CDAF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317127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E7300-408B-7E14-EA80-2BB120C8B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C418DC2-8FFB-71D4-38FD-DE7BC4A63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0DCA272-F619-E619-B820-3FAF4A89EC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985B0A7-6CCC-6633-4A80-9155E57956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32982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FC6D8-29E3-6B3E-2B86-F71EBC8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A4D228B-BC47-6D4B-0EB2-D93F17E4B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67A71D-5FAE-096C-0CED-6F8AA02B9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BCC88FC-CC43-F91C-35DD-804C464FE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5138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F92E4-E870-9163-6BC5-82FBE18C8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6FAC4DB-7620-5F75-5052-3D8128AC07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84E75B-EE0A-F3DB-1538-77ACF45777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C534482-25D0-36F2-B85E-BE3939BFC0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02786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E2A3A-3F81-FD4A-390A-6591E05AE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3FF0595-726F-D89B-2F00-641B54F43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AD0F30D-DB48-8D8A-C82B-95DB824C6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EF561BB-A0AA-7FE0-7334-0DE5320082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61178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DE54C-F72A-7CF5-3EBD-121E40A35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75DCB5C-B979-A995-3BF0-248937B424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9D7CC4B-1203-6572-7C0B-749915D75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60C20CD-E313-4E0A-A4BB-808A65500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5960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CCA96-7A7B-DD64-2884-12DF24648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26E7051-49E5-1523-FA7F-C36C45B715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802F1AC-F561-4DB3-320F-AAC02F657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E13641B-9306-EFAE-34E1-262476EAE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82605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9417D-B673-4AB8-4809-66F127D10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E77B999-B558-F580-ADEB-A13E63557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08F143C-A7F3-13AD-5A4B-9B024BDB45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95879E-F6B0-8610-08C8-0FC351751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2509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9A02D-C047-B005-F3E2-D203DC37D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232043B-3734-FA9B-61B6-A79F2DBDD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2DCCCD2-5C0D-4A80-5260-855362D6F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2B23C2F-7EF9-41FE-1114-AF046B2F9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90898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666511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25419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948449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40863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028428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15498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202285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982050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3072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3248707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58856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7C705-EDF9-4E83-8E9D-D876313D7C0A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694484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437CB-0D7E-9FD6-77B5-52704817B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793D272-2FFA-FBF7-1E14-4AA63BA4D8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DFC9D60-1261-B8F9-B8CD-A05E6A16F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1562D72-5C12-B8ED-6097-C57A8D00B9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2BEFE3-C87D-45B0-A113-D47012EFAB8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248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0" y="5599173"/>
            <a:ext cx="1219200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4" y="3043911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none" baseline="0">
                <a:solidFill>
                  <a:schemeClr val="accent1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4" y="4541418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none" baseline="0">
                <a:solidFill>
                  <a:schemeClr val="accent2"/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72579" y="6356424"/>
            <a:ext cx="284479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47818" y="6352098"/>
            <a:ext cx="69172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24927" y="6356424"/>
            <a:ext cx="10525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defTabSz="457189"/>
            <a:endParaRPr lang="it-IT"/>
          </a:p>
          <a:p>
            <a:pPr defTabSz="457189"/>
            <a:endParaRPr lang="it-IT" dirty="0"/>
          </a:p>
        </p:txBody>
      </p:sp>
      <p:pic>
        <p:nvPicPr>
          <p:cNvPr id="9" name="Immagine 14">
            <a:extLst>
              <a:ext uri="{FF2B5EF4-FFF2-40B4-BE49-F238E27FC236}">
                <a16:creationId xmlns:a16="http://schemas.microsoft.com/office/drawing/2014/main" id="{4A783CF1-9FD3-89CD-6915-13ADA57969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9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63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31277" y="3276931"/>
            <a:ext cx="6838950" cy="68389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E53C8DA-2C2B-CB73-D995-3330E56BE781}"/>
              </a:ext>
            </a:extLst>
          </p:cNvPr>
          <p:cNvSpPr/>
          <p:nvPr userDrawn="1"/>
        </p:nvSpPr>
        <p:spPr>
          <a:xfrm>
            <a:off x="581194" y="1801898"/>
            <a:ext cx="3808092" cy="7481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890398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00810" y="6440536"/>
            <a:ext cx="1867783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73006" y="6431865"/>
            <a:ext cx="6820256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5"/>
            <a:ext cx="11300036" cy="63111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51281" y="668106"/>
            <a:ext cx="11029616" cy="508015"/>
          </a:xfrm>
        </p:spPr>
        <p:txBody>
          <a:bodyPr/>
          <a:lstStyle>
            <a:lvl1pPr>
              <a:defRPr cap="none" baseline="0"/>
            </a:lvl1pPr>
          </a:lstStyle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pic>
        <p:nvPicPr>
          <p:cNvPr id="2" name="Immagine 6">
            <a:extLst>
              <a:ext uri="{FF2B5EF4-FFF2-40B4-BE49-F238E27FC236}">
                <a16:creationId xmlns:a16="http://schemas.microsoft.com/office/drawing/2014/main" id="{91501FE4-A3FB-EAE8-FEB8-8A0AC06A5A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0854" y="5896990"/>
            <a:ext cx="900000" cy="900000"/>
          </a:xfrm>
          <a:prstGeom prst="rect">
            <a:avLst/>
          </a:prstGeom>
        </p:spPr>
      </p:pic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9C898440-A091-A6AA-359D-36F697BE0201}"/>
              </a:ext>
            </a:extLst>
          </p:cNvPr>
          <p:cNvSpPr txBox="1">
            <a:spLocks/>
          </p:cNvSpPr>
          <p:nvPr userDrawn="1"/>
        </p:nvSpPr>
        <p:spPr>
          <a:xfrm>
            <a:off x="10076141" y="6440536"/>
            <a:ext cx="6919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C365D6E-99C1-4841-AC06-39C757C2E5A2}" type="slidenum">
              <a:rPr lang="it-IT" smtClean="0"/>
              <a:pPr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76100673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2">
            <a:extLst>
              <a:ext uri="{FF2B5EF4-FFF2-40B4-BE49-F238E27FC236}">
                <a16:creationId xmlns:a16="http://schemas.microsoft.com/office/drawing/2014/main" id="{819A776B-6E34-13AC-16D3-B2FEC602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00810" y="6440536"/>
            <a:ext cx="2844799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BA035B54-581B-D9E9-BE0A-BFDA327DF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73006" y="6431865"/>
            <a:ext cx="6820256" cy="36512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CE7EBCD5-8B9C-3EB4-CD84-2CEC0EF7E191}"/>
              </a:ext>
            </a:extLst>
          </p:cNvPr>
          <p:cNvSpPr txBox="1">
            <a:spLocks/>
          </p:cNvSpPr>
          <p:nvPr userDrawn="1"/>
        </p:nvSpPr>
        <p:spPr>
          <a:xfrm>
            <a:off x="11053157" y="6436211"/>
            <a:ext cx="10525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9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C365D6E-99C1-4841-AC06-39C757C2E5A2}" type="slidenum">
              <a:rPr lang="it-IT" smtClean="0"/>
              <a:pPr/>
              <a:t>‹N›</a:t>
            </a:fld>
            <a:endParaRPr lang="it-IT" dirty="0"/>
          </a:p>
        </p:txBody>
      </p:sp>
      <p:pic>
        <p:nvPicPr>
          <p:cNvPr id="8" name="Immagine 6">
            <a:extLst>
              <a:ext uri="{FF2B5EF4-FFF2-40B4-BE49-F238E27FC236}">
                <a16:creationId xmlns:a16="http://schemas.microsoft.com/office/drawing/2014/main" id="{65F19420-913D-1FE1-EA65-1FA0D05E2BB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0854" y="5896990"/>
            <a:ext cx="90000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479246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1FAB41-29E5-892A-3D4A-E48A65221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B8FF01B-54E8-EB84-E424-5CB4381B07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E1F428-BE28-C521-8BFE-DA1CAD8C9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456F9-5324-E24F-B3F0-0DBA7E0CFF8E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AF9F7B6-E91C-5756-D0E9-4D88F2C58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214BFE-01EF-2771-8F0E-3AB45B5FA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F076-883C-FC43-9240-C85BCC9BEA6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5578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42A24D-E835-1CD5-1C1E-F0E6B7595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1DF2D58-D70F-4F84-9DB1-61C47F445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D910A1C-F452-C41D-3836-EAF4A852B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456F9-5324-E24F-B3F0-0DBA7E0CFF8E}" type="datetimeFigureOut">
              <a:rPr lang="it-IT" smtClean="0"/>
              <a:t>02/02/2026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7D01D0-41FD-D5CD-E047-CB342ED12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6D573CF-1343-0DBC-78A0-9DD160F5D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5FF076-883C-FC43-9240-C85BCC9BEA6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5687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3" y="5956138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2"/>
            <a:ext cx="69172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5956138"/>
            <a:ext cx="10525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defTabSz="457189"/>
            <a:endParaRPr lang="it-IT"/>
          </a:p>
          <a:p>
            <a:pPr defTabSz="457189"/>
            <a:endParaRPr lang="it-IT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1CC3BF5-0D5C-D142-6DFC-2AA3E159548A}"/>
              </a:ext>
            </a:extLst>
          </p:cNvPr>
          <p:cNvGrpSpPr/>
          <p:nvPr userDrawn="1"/>
        </p:nvGrpSpPr>
        <p:grpSpPr>
          <a:xfrm>
            <a:off x="2699999" y="462336"/>
            <a:ext cx="9002265" cy="89819"/>
            <a:chOff x="446535" y="453643"/>
            <a:chExt cx="11298932" cy="98555"/>
          </a:xfrm>
        </p:grpSpPr>
        <p:sp>
          <p:nvSpPr>
            <p:cNvPr id="9" name="Rectangle 8"/>
            <p:cNvSpPr/>
            <p:nvPr/>
          </p:nvSpPr>
          <p:spPr>
            <a:xfrm>
              <a:off x="446535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8042147" y="453643"/>
              <a:ext cx="3703320" cy="98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241831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8" name="Picture 7" descr="Text&#10;&#10;Description automatically generated with medium confidence">
            <a:extLst>
              <a:ext uri="{FF2B5EF4-FFF2-40B4-BE49-F238E27FC236}">
                <a16:creationId xmlns:a16="http://schemas.microsoft.com/office/drawing/2014/main" id="{C5D32FFA-79B1-56CE-6A51-9294E3FE311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92" y="131053"/>
            <a:ext cx="2402189" cy="743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794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hdr="0"/>
  <p:txStyles>
    <p:titleStyle>
      <a:lvl1pPr algn="l" defTabSz="457189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5992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29984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9978" indent="-269993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969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1960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53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199945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38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930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3" y="5956138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2"/>
            <a:ext cx="69172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defTabSz="457189"/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1" y="5956138"/>
            <a:ext cx="10525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defTabSz="457189"/>
            <a:endParaRPr lang="it-IT"/>
          </a:p>
          <a:p>
            <a:pPr defTabSz="457189"/>
            <a:endParaRPr lang="it-IT" dirty="0"/>
          </a:p>
        </p:txBody>
      </p:sp>
      <p:sp>
        <p:nvSpPr>
          <p:cNvPr id="9" name="Rectangle 8"/>
          <p:cNvSpPr/>
          <p:nvPr/>
        </p:nvSpPr>
        <p:spPr>
          <a:xfrm>
            <a:off x="446535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1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606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</p:sldLayoutIdLst>
  <p:hf hdr="0"/>
  <p:txStyles>
    <p:titleStyle>
      <a:lvl1pPr algn="l" defTabSz="457189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5992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29984" indent="-305992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899978" indent="-269993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1969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1960" indent="-2339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899953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199945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499938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799930" indent="-228594" algn="l" defTabSz="457189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hyperlink" Target="https://www.sram.com/en/sram/mountain/collections/eagle-axs" TargetMode="External"/><Relationship Id="rId4" Type="http://schemas.openxmlformats.org/officeDocument/2006/relationships/diagramLayout" Target="../diagrams/layout1.xml"/><Relationship Id="rId9" Type="http://schemas.openxmlformats.org/officeDocument/2006/relationships/image" Target="../media/image10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8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9.png"/><Relationship Id="rId9" Type="http://schemas.microsoft.com/office/2007/relationships/diagramDrawing" Target="../diagrams/drawing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ram.com/en/sram/mountain/collections/eagle-axs" TargetMode="External"/><Relationship Id="rId5" Type="http://schemas.openxmlformats.org/officeDocument/2006/relationships/hyperlink" Target="https://bikepacking.com/news/fox-transfer-neo-dropper-post/" TargetMode="External"/><Relationship Id="rId4" Type="http://schemas.openxmlformats.org/officeDocument/2006/relationships/image" Target="../media/image24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g"/><Relationship Id="rId3" Type="http://schemas.openxmlformats.org/officeDocument/2006/relationships/hyperlink" Target="mailto:davide.brunelli@unitn.it" TargetMode="External"/><Relationship Id="rId7" Type="http://schemas.openxmlformats.org/officeDocument/2006/relationships/image" Target="../media/image25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giuseppe.pasquini00@gmail.com" TargetMode="External"/><Relationship Id="rId11" Type="http://schemas.openxmlformats.org/officeDocument/2006/relationships/image" Target="../media/image29.jpg"/><Relationship Id="rId5" Type="http://schemas.openxmlformats.org/officeDocument/2006/relationships/hyperlink" Target="mailto:arianna.saviane00@gmail.com" TargetMode="External"/><Relationship Id="rId10" Type="http://schemas.openxmlformats.org/officeDocument/2006/relationships/image" Target="../media/image28.jpg"/><Relationship Id="rId4" Type="http://schemas.openxmlformats.org/officeDocument/2006/relationships/hyperlink" Target="mailto:maria.doglioni@unitn.it" TargetMode="External"/><Relationship Id="rId9" Type="http://schemas.openxmlformats.org/officeDocument/2006/relationships/image" Target="../media/image2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E4708-9008-4482-8948-94497CF1C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170" y="1936058"/>
            <a:ext cx="9169659" cy="1492942"/>
          </a:xfrm>
        </p:spPr>
        <p:txBody>
          <a:bodyPr>
            <a:normAutofit fontScale="90000"/>
          </a:bodyPr>
          <a:lstStyle/>
          <a:p>
            <a:pPr algn="ctr"/>
            <a:r>
              <a:rPr lang="en-GB" sz="3200" b="1" noProof="0" dirty="0"/>
              <a:t>FINAL RESULTS</a:t>
            </a:r>
            <a:br>
              <a:rPr lang="en-GB" sz="3200" b="1" noProof="0" dirty="0"/>
            </a:br>
            <a:r>
              <a:rPr lang="en-GB" sz="3200" b="1" noProof="0" dirty="0"/>
              <a:t>Self-powered co-harvesting for </a:t>
            </a:r>
            <a:r>
              <a:rPr lang="en-GB" sz="3200" b="1" noProof="0" dirty="0" err="1"/>
              <a:t>batteryless</a:t>
            </a:r>
            <a:r>
              <a:rPr lang="en-GB" sz="3200" b="1" noProof="0" dirty="0"/>
              <a:t> sensing and actuation in two-wheeled IoT applications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B5AA19E-EA80-71A9-0E7D-A8DE4A0372B8}"/>
              </a:ext>
            </a:extLst>
          </p:cNvPr>
          <p:cNvSpPr txBox="1"/>
          <p:nvPr/>
        </p:nvSpPr>
        <p:spPr>
          <a:xfrm>
            <a:off x="4741524" y="4269014"/>
            <a:ext cx="7050372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endParaRPr lang="en-GB" sz="2400" noProof="0" dirty="0">
              <a:solidFill>
                <a:srgbClr val="C8102E"/>
              </a:solidFill>
            </a:endParaRPr>
          </a:p>
          <a:p>
            <a:pPr lvl="0" algn="r">
              <a:defRPr/>
            </a:pPr>
            <a:r>
              <a:rPr lang="en-GB" sz="2000" noProof="0" dirty="0">
                <a:solidFill>
                  <a:srgbClr val="C8102E"/>
                </a:solidFill>
              </a:rPr>
              <a:t>University of Trento</a:t>
            </a:r>
            <a:br>
              <a:rPr lang="en-GB" sz="2000" noProof="0" dirty="0">
                <a:solidFill>
                  <a:srgbClr val="C8102E"/>
                </a:solidFill>
              </a:rPr>
            </a:br>
            <a:r>
              <a:rPr lang="en-GB" sz="2000" noProof="0" dirty="0">
                <a:solidFill>
                  <a:srgbClr val="C8102E"/>
                </a:solidFill>
              </a:rPr>
              <a:t>Department of Industrial Engineering (DII)</a:t>
            </a:r>
          </a:p>
          <a:p>
            <a:pPr lvl="0" algn="r">
              <a:defRPr/>
            </a:pPr>
            <a:endParaRPr lang="en-GB" noProof="0" dirty="0">
              <a:solidFill>
                <a:srgbClr val="C8102E"/>
              </a:solidFill>
            </a:endParaRPr>
          </a:p>
        </p:txBody>
      </p:sp>
      <p:sp>
        <p:nvSpPr>
          <p:cNvPr id="3" name="CasellaDiTesto 5">
            <a:extLst>
              <a:ext uri="{FF2B5EF4-FFF2-40B4-BE49-F238E27FC236}">
                <a16:creationId xmlns:a16="http://schemas.microsoft.com/office/drawing/2014/main" id="{089AB882-1711-5F38-67DA-F3B3AF84DD3D}"/>
              </a:ext>
            </a:extLst>
          </p:cNvPr>
          <p:cNvSpPr txBox="1"/>
          <p:nvPr/>
        </p:nvSpPr>
        <p:spPr>
          <a:xfrm>
            <a:off x="400104" y="6055633"/>
            <a:ext cx="45559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2000" noProof="0" dirty="0">
                <a:solidFill>
                  <a:prstClr val="white"/>
                </a:solidFill>
              </a:rPr>
              <a:t>Giuseppe Pasquini 239978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342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77A7A-6325-7097-0F15-805D53B86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AE2BE2E-4DF6-E08C-41E6-B1A228E9E8F7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Final schema</a:t>
            </a:r>
          </a:p>
        </p:txBody>
      </p:sp>
      <p:pic>
        <p:nvPicPr>
          <p:cNvPr id="4" name="Immagine 3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CA7A7EB9-E8AF-883E-A7EA-241C3974A5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2" t="4372" r="2794" b="3989"/>
          <a:stretch>
            <a:fillRect/>
          </a:stretch>
        </p:blipFill>
        <p:spPr>
          <a:xfrm>
            <a:off x="2239766" y="1315092"/>
            <a:ext cx="7726168" cy="5311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077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4057-37AA-EAC0-BBCC-D50E7240F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CD195F32-1B69-481E-4E81-C926747EDB82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inputs</a:t>
            </a:r>
          </a:p>
        </p:txBody>
      </p:sp>
      <p:pic>
        <p:nvPicPr>
          <p:cNvPr id="3" name="Immagine 2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5B8405E8-2045-F917-6995-9D59F5F553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886" y="1269013"/>
            <a:ext cx="9926227" cy="5022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778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B5DB5-7C42-6B11-F764-C47C02AC3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A2DFFD9A-0215-09E9-A0AE-CB74BD123C96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load switch</a:t>
            </a:r>
          </a:p>
        </p:txBody>
      </p:sp>
      <p:pic>
        <p:nvPicPr>
          <p:cNvPr id="4" name="Immagine 3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9939B464-FE0F-F434-A098-67BA19037A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1990" y="1230004"/>
            <a:ext cx="5708020" cy="527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926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732F0-C8BB-443C-206D-27D951917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96EEC348-50C3-3C49-890B-18902863D2F2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current &amp; voltage sense</a:t>
            </a:r>
          </a:p>
        </p:txBody>
      </p:sp>
      <p:pic>
        <p:nvPicPr>
          <p:cNvPr id="15" name="Immagine 14" descr="Immagine che contiene testo, diagramma, Piano, schermata&#10;&#10;Il contenuto generato dall'IA potrebbe non essere corretto.">
            <a:extLst>
              <a:ext uri="{FF2B5EF4-FFF2-40B4-BE49-F238E27FC236}">
                <a16:creationId xmlns:a16="http://schemas.microsoft.com/office/drawing/2014/main" id="{46C70CEC-A5D0-CFD5-DB5B-50AA17D90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2683" y="1402749"/>
            <a:ext cx="4490844" cy="5210461"/>
          </a:xfrm>
          <a:prstGeom prst="rect">
            <a:avLst/>
          </a:prstGeom>
        </p:spPr>
      </p:pic>
      <p:pic>
        <p:nvPicPr>
          <p:cNvPr id="17" name="Immagine 16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45BFFCBE-9BF0-8F19-C394-C87E502C19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475" y="2644362"/>
            <a:ext cx="4490844" cy="2727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585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6AA41-BC24-0DFE-D615-9D92441F8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BF2F80F-30C7-6BBB-58EA-6D2C446BC69B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Real ride data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EF4B99B-65F2-9F35-2DA8-1A17F3392080}"/>
              </a:ext>
            </a:extLst>
          </p:cNvPr>
          <p:cNvSpPr txBox="1"/>
          <p:nvPr/>
        </p:nvSpPr>
        <p:spPr>
          <a:xfrm>
            <a:off x="451281" y="1564456"/>
            <a:ext cx="56447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b="1" noProof="0" dirty="0"/>
              <a:t>Ride data:</a:t>
            </a:r>
          </a:p>
          <a:p>
            <a:pPr lvl="0"/>
            <a:r>
              <a:rPr lang="en-GB" noProof="0" dirty="0"/>
              <a:t>Descent: ∼6 km</a:t>
            </a:r>
          </a:p>
          <a:p>
            <a:pPr lvl="0"/>
            <a:r>
              <a:rPr lang="en-GB" noProof="0" dirty="0"/>
              <a:t>Duration: ∼30 min</a:t>
            </a:r>
          </a:p>
          <a:p>
            <a:pPr lvl="0"/>
            <a:r>
              <a:rPr lang="en-GB" noProof="0" dirty="0"/>
              <a:t>Maximum TEG hot-side temperature: 46°C</a:t>
            </a:r>
          </a:p>
          <a:p>
            <a:pPr lvl="0"/>
            <a:r>
              <a:rPr lang="en-GB" noProof="0" dirty="0"/>
              <a:t>Ambient temperature: ∼16°C</a:t>
            </a:r>
          </a:p>
          <a:p>
            <a:pPr lvl="0"/>
            <a:r>
              <a:rPr lang="en-GB" noProof="0" dirty="0"/>
              <a:t>AWG </a:t>
            </a:r>
            <a:r>
              <a:rPr lang="en-GB" noProof="0" dirty="0">
                <a:latin typeface="Grandview" panose="020F0502020204030204" pitchFamily="34" charset="0"/>
              </a:rPr>
              <a:t>ΔT</a:t>
            </a:r>
            <a:r>
              <a:rPr lang="en-GB" noProof="0" dirty="0"/>
              <a:t>: 22°C</a:t>
            </a:r>
          </a:p>
          <a:p>
            <a:pPr lvl="0"/>
            <a:r>
              <a:rPr lang="en-GB" noProof="0" dirty="0"/>
              <a:t>Cloudy conditions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6C61C601-2115-E648-BB27-A7D710F38138}"/>
              </a:ext>
            </a:extLst>
          </p:cNvPr>
          <p:cNvSpPr txBox="1"/>
          <p:nvPr/>
        </p:nvSpPr>
        <p:spPr>
          <a:xfrm>
            <a:off x="6096000" y="1564456"/>
            <a:ext cx="5644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noProof="0" dirty="0"/>
              <a:t>Theoretical performance (from characterisation): </a:t>
            </a:r>
          </a:p>
          <a:p>
            <a:r>
              <a:rPr lang="en-GB" noProof="0" dirty="0"/>
              <a:t>AWG TEG power: 20,5 </a:t>
            </a:r>
            <a:r>
              <a:rPr lang="en-GB" noProof="0" dirty="0" err="1"/>
              <a:t>mW</a:t>
            </a:r>
            <a:endParaRPr lang="en-GB" noProof="0" dirty="0"/>
          </a:p>
          <a:p>
            <a:r>
              <a:rPr lang="en-GB" noProof="0" dirty="0"/>
              <a:t>AWG PV power (100W/m^2): 3,95 </a:t>
            </a:r>
            <a:r>
              <a:rPr lang="en-GB" noProof="0" dirty="0" err="1"/>
              <a:t>mW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32001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D4EF1-0F45-949F-3F01-A255951B3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3FA44ED-0F49-A21E-4D2D-01B88103DA25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performance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17F9382-E279-2B24-DA78-1E169B5CBB11}"/>
              </a:ext>
            </a:extLst>
          </p:cNvPr>
          <p:cNvSpPr txBox="1"/>
          <p:nvPr/>
        </p:nvSpPr>
        <p:spPr>
          <a:xfrm>
            <a:off x="451281" y="1564456"/>
            <a:ext cx="56447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b="1" noProof="0" dirty="0"/>
              <a:t>Final results:</a:t>
            </a:r>
            <a:br>
              <a:rPr lang="en-GB" b="1" noProof="0" dirty="0"/>
            </a:br>
            <a:r>
              <a:rPr lang="en-GB" noProof="0" dirty="0" err="1"/>
              <a:t>P_teg_awg</a:t>
            </a:r>
            <a:r>
              <a:rPr lang="en-GB" noProof="0" dirty="0"/>
              <a:t>: 18,80 </a:t>
            </a:r>
            <a:r>
              <a:rPr lang="en-GB" noProof="0" dirty="0" err="1"/>
              <a:t>mW</a:t>
            </a:r>
            <a:br>
              <a:rPr lang="en-GB" noProof="0" dirty="0"/>
            </a:br>
            <a:r>
              <a:rPr lang="en-GB" noProof="0" dirty="0" err="1"/>
              <a:t>P_pv_awg</a:t>
            </a:r>
            <a:r>
              <a:rPr lang="en-GB" noProof="0" dirty="0"/>
              <a:t>: 3,15 </a:t>
            </a:r>
            <a:r>
              <a:rPr lang="en-GB" noProof="0" dirty="0" err="1"/>
              <a:t>mW</a:t>
            </a:r>
            <a:endParaRPr lang="en-GB" noProof="0" dirty="0"/>
          </a:p>
          <a:p>
            <a:pPr lvl="0"/>
            <a:endParaRPr lang="en-GB" b="1" noProof="0" dirty="0"/>
          </a:p>
          <a:p>
            <a:pPr lvl="0"/>
            <a:r>
              <a:rPr lang="en-GB" noProof="0" dirty="0" err="1"/>
              <a:t>E_in</a:t>
            </a:r>
            <a:r>
              <a:rPr lang="en-GB" noProof="0" dirty="0"/>
              <a:t>: 12,55 J</a:t>
            </a:r>
          </a:p>
          <a:p>
            <a:pPr lvl="0"/>
            <a:r>
              <a:rPr lang="en-GB" noProof="0" dirty="0" err="1"/>
              <a:t>E_sto</a:t>
            </a:r>
            <a:r>
              <a:rPr lang="en-GB" noProof="0" dirty="0"/>
              <a:t>: 8,10 J	η = 64,5%</a:t>
            </a:r>
          </a:p>
          <a:p>
            <a:r>
              <a:rPr lang="en-GB" noProof="0" dirty="0" err="1"/>
              <a:t>E_out</a:t>
            </a:r>
            <a:r>
              <a:rPr lang="en-GB" noProof="0" dirty="0"/>
              <a:t>: 7,88 J	η = 62,8%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2B41266-4C95-0F8D-2C60-D31F271110F3}"/>
              </a:ext>
            </a:extLst>
          </p:cNvPr>
          <p:cNvSpPr txBox="1"/>
          <p:nvPr/>
        </p:nvSpPr>
        <p:spPr>
          <a:xfrm>
            <a:off x="5966089" y="1564456"/>
            <a:ext cx="5644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noProof="0" dirty="0"/>
              <a:t>Theoretical performance (from characterisation): </a:t>
            </a:r>
          </a:p>
          <a:p>
            <a:r>
              <a:rPr lang="en-GB" noProof="0" dirty="0"/>
              <a:t>AWG TEG power (</a:t>
            </a:r>
            <a:r>
              <a:rPr lang="en-GB" noProof="0" dirty="0">
                <a:latin typeface="Grandview" panose="020F0502020204030204" pitchFamily="34" charset="0"/>
              </a:rPr>
              <a:t>ΔT</a:t>
            </a:r>
            <a:r>
              <a:rPr lang="en-GB" noProof="0" dirty="0"/>
              <a:t>: 22°C): 20,5 </a:t>
            </a:r>
            <a:r>
              <a:rPr lang="en-GB" noProof="0" dirty="0" err="1"/>
              <a:t>mW</a:t>
            </a:r>
            <a:endParaRPr lang="en-GB" noProof="0" dirty="0"/>
          </a:p>
          <a:p>
            <a:r>
              <a:rPr lang="en-GB" noProof="0" dirty="0"/>
              <a:t>AWG PV power (100W/m^2): 3,95 </a:t>
            </a:r>
            <a:r>
              <a:rPr lang="en-GB" noProof="0" dirty="0" err="1"/>
              <a:t>mW</a:t>
            </a:r>
            <a:endParaRPr lang="en-GB" noProof="0" dirty="0"/>
          </a:p>
        </p:txBody>
      </p:sp>
      <p:pic>
        <p:nvPicPr>
          <p:cNvPr id="5" name="Immagine 4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7577F5DC-B20D-404F-DC77-84B716422F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6" t="6144" r="4675" b="45643"/>
          <a:stretch>
            <a:fillRect/>
          </a:stretch>
        </p:blipFill>
        <p:spPr>
          <a:xfrm>
            <a:off x="1699462" y="3537815"/>
            <a:ext cx="9784991" cy="367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169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A3F4F-712D-3B6C-20A9-15EFC5E7C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9F1C53C-FFD5-290D-1E6D-7286786B088B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improvements: </a:t>
            </a:r>
            <a:r>
              <a:rPr lang="en-GB" noProof="0" dirty="0" err="1"/>
              <a:t>C_store</a:t>
            </a:r>
            <a:r>
              <a:rPr lang="en-GB" noProof="0" dirty="0"/>
              <a:t> </a:t>
            </a:r>
            <a:r>
              <a:rPr lang="en-GB" noProof="0" dirty="0" err="1"/>
              <a:t>rateo</a:t>
            </a:r>
            <a:endParaRPr lang="en-GB" noProof="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98189112-64DF-10AF-844F-941F190C2B50}"/>
              </a:ext>
            </a:extLst>
          </p:cNvPr>
          <p:cNvSpPr txBox="1"/>
          <p:nvPr/>
        </p:nvSpPr>
        <p:spPr>
          <a:xfrm>
            <a:off x="3143729" y="1628129"/>
            <a:ext cx="5644719" cy="203132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GB" b="1" noProof="0" dirty="0" err="1"/>
              <a:t>C_store</a:t>
            </a:r>
            <a:r>
              <a:rPr lang="en-GB" b="1" noProof="0" dirty="0"/>
              <a:t> value:</a:t>
            </a:r>
            <a:br>
              <a:rPr lang="en-GB" b="1" noProof="0" dirty="0"/>
            </a:br>
            <a:r>
              <a:rPr lang="en-GB" noProof="0" dirty="0" err="1"/>
              <a:t>C_teg</a:t>
            </a:r>
            <a:r>
              <a:rPr lang="en-GB" noProof="0" dirty="0"/>
              <a:t>: 0,120 mF</a:t>
            </a:r>
          </a:p>
          <a:p>
            <a:pPr algn="ctr"/>
            <a:r>
              <a:rPr lang="en-GB" noProof="0" dirty="0" err="1"/>
              <a:t>C_pv</a:t>
            </a:r>
            <a:r>
              <a:rPr lang="en-GB" noProof="0" dirty="0"/>
              <a:t>: 0,021 mF</a:t>
            </a:r>
          </a:p>
          <a:p>
            <a:pPr algn="ctr"/>
            <a:endParaRPr lang="en-GB" noProof="0" dirty="0"/>
          </a:p>
          <a:p>
            <a:pPr algn="ctr"/>
            <a:r>
              <a:rPr lang="en-GB" b="1" noProof="0" dirty="0" err="1"/>
              <a:t>P_teg</a:t>
            </a:r>
            <a:r>
              <a:rPr lang="en-GB" b="1" noProof="0" dirty="0"/>
              <a:t>/</a:t>
            </a:r>
            <a:r>
              <a:rPr lang="en-GB" b="1" noProof="0" dirty="0" err="1"/>
              <a:t>C_teg</a:t>
            </a:r>
            <a:r>
              <a:rPr lang="en-GB" b="1" noProof="0" dirty="0"/>
              <a:t> = </a:t>
            </a:r>
            <a:r>
              <a:rPr lang="en-GB" b="1" noProof="0" dirty="0" err="1"/>
              <a:t>P_pv</a:t>
            </a:r>
            <a:r>
              <a:rPr lang="en-GB" b="1" noProof="0" dirty="0"/>
              <a:t>/</a:t>
            </a:r>
            <a:r>
              <a:rPr lang="en-GB" b="1" noProof="0" dirty="0" err="1"/>
              <a:t>P_pv</a:t>
            </a:r>
            <a:r>
              <a:rPr lang="en-GB" b="1" noProof="0" dirty="0"/>
              <a:t>  </a:t>
            </a:r>
            <a:endParaRPr lang="en-GB" b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GB" b="1" noProof="0" dirty="0"/>
          </a:p>
          <a:p>
            <a:pPr algn="ctr"/>
            <a:endParaRPr lang="en-GB" b="1" noProof="0" dirty="0"/>
          </a:p>
          <a:p>
            <a:pPr algn="ctr"/>
            <a:r>
              <a:rPr lang="en-GB" b="1" noProof="0" dirty="0" err="1"/>
              <a:t>P_awg</a:t>
            </a:r>
            <a:r>
              <a:rPr lang="en-GB" b="1" noProof="0" dirty="0"/>
              <a:t>:</a:t>
            </a:r>
          </a:p>
          <a:p>
            <a:pPr algn="ctr"/>
            <a:r>
              <a:rPr lang="en-GB" noProof="0" dirty="0" err="1"/>
              <a:t>P_awg_teg</a:t>
            </a:r>
            <a:r>
              <a:rPr lang="en-GB" noProof="0" dirty="0"/>
              <a:t>: 20,5 </a:t>
            </a:r>
            <a:r>
              <a:rPr lang="en-GB" noProof="0" dirty="0" err="1"/>
              <a:t>mW</a:t>
            </a:r>
            <a:endParaRPr lang="en-GB" noProof="0" dirty="0"/>
          </a:p>
          <a:p>
            <a:pPr algn="ctr"/>
            <a:r>
              <a:rPr lang="en-GB" noProof="0" dirty="0" err="1"/>
              <a:t>P_awg_pv</a:t>
            </a:r>
            <a:r>
              <a:rPr lang="en-GB" noProof="0" dirty="0"/>
              <a:t>: 3,95 </a:t>
            </a:r>
            <a:r>
              <a:rPr lang="en-GB" noProof="0" dirty="0" err="1"/>
              <a:t>mW</a:t>
            </a:r>
            <a:endParaRPr lang="en-GB" noProof="0" dirty="0"/>
          </a:p>
          <a:p>
            <a:pPr algn="ctr"/>
            <a:endParaRPr lang="en-GB" b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b="1" noProof="0" dirty="0"/>
              <a:t>0,151=0,149 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552431F3-4F5E-21CB-0FC8-3D71007AD6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745526"/>
              </p:ext>
            </p:extLst>
          </p:nvPr>
        </p:nvGraphicFramePr>
        <p:xfrm>
          <a:off x="2032000" y="4140961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22964353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17333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P/C </a:t>
                      </a:r>
                      <a:r>
                        <a:rPr lang="en-GB" noProof="0" dirty="0" err="1"/>
                        <a:t>rateo</a:t>
                      </a:r>
                      <a:r>
                        <a:rPr lang="en-GB" noProof="0" dirty="0"/>
                        <a:t> (TEG-PV)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E_sto</a:t>
                      </a:r>
                      <a:r>
                        <a:rPr lang="en-GB" noProof="0" dirty="0"/>
                        <a:t> efficiency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902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0,155 – 0,554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58,8%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901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0,151 – 0,149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64,5 %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545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0,156 – 0,103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63,1 %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904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0,157 – 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60,1%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6442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1076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4AEA0-78EC-884F-D02C-28EBB53D9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9A7AC7E-DCF9-3F0D-E609-443A90E4AC1F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improvements: Hysteresis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FC2B8EE4-209C-1E72-5278-D39FF5183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973611"/>
              </p:ext>
            </p:extLst>
          </p:nvPr>
        </p:nvGraphicFramePr>
        <p:xfrm>
          <a:off x="2032000" y="4490282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2296435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63173337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882456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/>
                        <a:t>Comparator Hyst.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/>
                        <a:t>E_sto efficiency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E_in</a:t>
                      </a:r>
                      <a:endParaRPr lang="en-GB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902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/>
                        <a:t>50 mV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65,8%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12,3 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901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100 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69,5 %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11,2 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545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200 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78,4 %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9,9 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904607"/>
                  </a:ext>
                </a:extLst>
              </a:tr>
            </a:tbl>
          </a:graphicData>
        </a:graphic>
      </p:graphicFrame>
      <p:pic>
        <p:nvPicPr>
          <p:cNvPr id="4" name="Immagine 3" descr="Immagine che contiene testo, diagramma, schermata, linea&#10;&#10;Il contenuto generato dall'IA potrebbe non essere corretto.">
            <a:extLst>
              <a:ext uri="{FF2B5EF4-FFF2-40B4-BE49-F238E27FC236}">
                <a16:creationId xmlns:a16="http://schemas.microsoft.com/office/drawing/2014/main" id="{803AB9AD-ED8C-6798-A982-145DD8EB3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3154" y="1284274"/>
            <a:ext cx="3470147" cy="320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850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ADDE5-7C92-C7C8-B8CE-4E13DB517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49DEF84-B5A4-F684-E091-096B7FBF9044}"/>
              </a:ext>
            </a:extLst>
          </p:cNvPr>
          <p:cNvSpPr txBox="1">
            <a:spLocks/>
          </p:cNvSpPr>
          <p:nvPr/>
        </p:nvSpPr>
        <p:spPr>
          <a:xfrm>
            <a:off x="451281" y="638608"/>
            <a:ext cx="11029616" cy="50801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457189" rtl="0" eaLnBrk="1" latinLnBrk="0" hangingPunct="1">
              <a:spcBef>
                <a:spcPct val="0"/>
              </a:spcBef>
              <a:buNone/>
              <a:defRPr sz="2800" b="0" kern="1200" cap="none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noProof="0" dirty="0"/>
              <a:t>Co-harvesting improvements: Hysteresis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F188E578-A746-BFE4-20CC-F19F64583BA4}"/>
              </a:ext>
            </a:extLst>
          </p:cNvPr>
          <p:cNvSpPr txBox="1"/>
          <p:nvPr/>
        </p:nvSpPr>
        <p:spPr>
          <a:xfrm>
            <a:off x="451281" y="1564456"/>
            <a:ext cx="56447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b="1" noProof="0" dirty="0"/>
              <a:t>Final results:</a:t>
            </a:r>
            <a:br>
              <a:rPr lang="en-GB" b="1" noProof="0" dirty="0"/>
            </a:br>
            <a:r>
              <a:rPr lang="en-GB" noProof="0" dirty="0" err="1"/>
              <a:t>P_teg_awg</a:t>
            </a:r>
            <a:r>
              <a:rPr lang="en-GB" noProof="0" dirty="0"/>
              <a:t>: 18,80 </a:t>
            </a:r>
            <a:r>
              <a:rPr lang="en-GB" noProof="0" dirty="0" err="1"/>
              <a:t>mW</a:t>
            </a:r>
            <a:br>
              <a:rPr lang="en-GB" noProof="0" dirty="0"/>
            </a:br>
            <a:r>
              <a:rPr lang="en-GB" noProof="0" dirty="0" err="1"/>
              <a:t>P_pv_awg</a:t>
            </a:r>
            <a:r>
              <a:rPr lang="en-GB" noProof="0" dirty="0"/>
              <a:t>: 3,15 </a:t>
            </a:r>
            <a:r>
              <a:rPr lang="en-GB" noProof="0" dirty="0" err="1"/>
              <a:t>mW</a:t>
            </a:r>
            <a:endParaRPr lang="en-GB" noProof="0" dirty="0"/>
          </a:p>
          <a:p>
            <a:pPr lvl="0"/>
            <a:endParaRPr lang="en-GB" b="1" noProof="0" dirty="0"/>
          </a:p>
          <a:p>
            <a:pPr lvl="0"/>
            <a:r>
              <a:rPr lang="en-GB" noProof="0" dirty="0" err="1"/>
              <a:t>E_in</a:t>
            </a:r>
            <a:r>
              <a:rPr lang="en-GB" noProof="0" dirty="0"/>
              <a:t>: 12,55 J</a:t>
            </a:r>
          </a:p>
          <a:p>
            <a:pPr lvl="0"/>
            <a:r>
              <a:rPr lang="en-GB" noProof="0" dirty="0" err="1"/>
              <a:t>E_sto</a:t>
            </a:r>
            <a:r>
              <a:rPr lang="en-GB" noProof="0" dirty="0"/>
              <a:t>: 8,10 J		η = 64,5%</a:t>
            </a:r>
          </a:p>
          <a:p>
            <a:r>
              <a:rPr lang="en-GB" noProof="0" dirty="0" err="1"/>
              <a:t>E_out</a:t>
            </a:r>
            <a:r>
              <a:rPr lang="en-GB" noProof="0" dirty="0"/>
              <a:t>: 7,88 J		η = 62,8%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332F0E7-8A52-960C-C402-933E128004A7}"/>
              </a:ext>
            </a:extLst>
          </p:cNvPr>
          <p:cNvSpPr txBox="1"/>
          <p:nvPr/>
        </p:nvSpPr>
        <p:spPr>
          <a:xfrm>
            <a:off x="5966089" y="1564456"/>
            <a:ext cx="5644719" cy="203132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algn="ctr"/>
            <a:r>
              <a:rPr lang="en-GB" b="1" noProof="0" dirty="0" err="1"/>
              <a:t>C_store</a:t>
            </a:r>
            <a:r>
              <a:rPr lang="en-GB" b="1" noProof="0" dirty="0"/>
              <a:t> value:</a:t>
            </a:r>
            <a:br>
              <a:rPr lang="en-GB" b="1" noProof="0" dirty="0"/>
            </a:br>
            <a:r>
              <a:rPr lang="en-GB" noProof="0" dirty="0" err="1"/>
              <a:t>C_teg</a:t>
            </a:r>
            <a:r>
              <a:rPr lang="en-GB" noProof="0" dirty="0"/>
              <a:t>: 0,120 mF</a:t>
            </a:r>
          </a:p>
          <a:p>
            <a:pPr algn="ctr"/>
            <a:r>
              <a:rPr lang="en-GB" noProof="0" dirty="0" err="1"/>
              <a:t>C_pv</a:t>
            </a:r>
            <a:r>
              <a:rPr lang="en-GB" noProof="0" dirty="0"/>
              <a:t>: 0,021 mF</a:t>
            </a:r>
          </a:p>
          <a:p>
            <a:pPr algn="ctr"/>
            <a:endParaRPr lang="en-GB" noProof="0" dirty="0"/>
          </a:p>
          <a:p>
            <a:pPr algn="ctr"/>
            <a:r>
              <a:rPr lang="en-GB" b="1" noProof="0" dirty="0" err="1"/>
              <a:t>P_teg</a:t>
            </a:r>
            <a:r>
              <a:rPr lang="en-GB" b="1" noProof="0" dirty="0"/>
              <a:t>/</a:t>
            </a:r>
            <a:r>
              <a:rPr lang="en-GB" b="1" noProof="0" dirty="0" err="1"/>
              <a:t>C_teg</a:t>
            </a:r>
            <a:r>
              <a:rPr lang="en-GB" b="1" noProof="0" dirty="0"/>
              <a:t> = </a:t>
            </a:r>
            <a:r>
              <a:rPr lang="en-GB" b="1" noProof="0" dirty="0" err="1"/>
              <a:t>P_pv</a:t>
            </a:r>
            <a:r>
              <a:rPr lang="en-GB" b="1" noProof="0" dirty="0"/>
              <a:t>/</a:t>
            </a:r>
            <a:r>
              <a:rPr lang="en-GB" b="1" noProof="0" dirty="0" err="1"/>
              <a:t>P_pv</a:t>
            </a:r>
            <a:r>
              <a:rPr lang="en-GB" b="1" noProof="0" dirty="0"/>
              <a:t>  </a:t>
            </a:r>
            <a:endParaRPr lang="en-GB" b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GB" b="1" noProof="0" dirty="0"/>
          </a:p>
          <a:p>
            <a:pPr algn="ctr"/>
            <a:endParaRPr lang="en-GB" b="1" noProof="0" dirty="0"/>
          </a:p>
          <a:p>
            <a:pPr algn="ctr"/>
            <a:r>
              <a:rPr lang="en-GB" b="1" noProof="0" dirty="0" err="1"/>
              <a:t>P_awg</a:t>
            </a:r>
            <a:r>
              <a:rPr lang="en-GB" b="1" noProof="0" dirty="0"/>
              <a:t>:</a:t>
            </a:r>
          </a:p>
          <a:p>
            <a:pPr algn="ctr"/>
            <a:r>
              <a:rPr lang="en-GB" noProof="0" dirty="0" err="1"/>
              <a:t>P_awg_teg</a:t>
            </a:r>
            <a:r>
              <a:rPr lang="en-GB" noProof="0" dirty="0"/>
              <a:t>: 20,5 </a:t>
            </a:r>
            <a:r>
              <a:rPr lang="en-GB" noProof="0" dirty="0" err="1"/>
              <a:t>mW</a:t>
            </a:r>
            <a:endParaRPr lang="en-GB" noProof="0" dirty="0"/>
          </a:p>
          <a:p>
            <a:pPr algn="ctr"/>
            <a:r>
              <a:rPr lang="en-GB" noProof="0" dirty="0" err="1"/>
              <a:t>P_awg_pv</a:t>
            </a:r>
            <a:r>
              <a:rPr lang="en-GB" noProof="0" dirty="0"/>
              <a:t>: 3,95 </a:t>
            </a:r>
            <a:r>
              <a:rPr lang="en-GB" noProof="0" dirty="0" err="1"/>
              <a:t>mW</a:t>
            </a:r>
            <a:endParaRPr lang="en-GB" noProof="0" dirty="0"/>
          </a:p>
          <a:p>
            <a:pPr algn="ctr"/>
            <a:endParaRPr lang="en-GB" b="1" noProof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b="1" noProof="0" dirty="0"/>
              <a:t>0,151=0,149 </a:t>
            </a: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31B0BF88-B184-2D28-3235-2610CDAA681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140961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2296435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63173337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882456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/>
                        <a:t>Comparator Hyst.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/>
                        <a:t>E_sto efficiency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 err="1"/>
                        <a:t>E_in</a:t>
                      </a:r>
                      <a:endParaRPr lang="en-GB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902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/>
                        <a:t>50 mV</a:t>
                      </a:r>
                      <a:endParaRPr lang="en-GB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65,8%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12,3 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901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100 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69,5 %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11,2 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0545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200 mV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78,4 %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noProof="0" dirty="0"/>
                        <a:t>9,9 J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39046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964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18B414-6175-8628-FEE7-A1CB9BC45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9C8818-F4EE-BBB6-2F6A-8D6FF35F9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5D97D1-B76D-94F7-2A76-B3E2B84E9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The problem: too many batteries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DA5F1DE-E838-09A9-CC42-549BF98863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8207902"/>
              </p:ext>
            </p:extLst>
          </p:nvPr>
        </p:nvGraphicFramePr>
        <p:xfrm>
          <a:off x="1352601" y="1418092"/>
          <a:ext cx="3869048" cy="2541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6" name="Picture 15" descr="A close-up of a handlebar&#10;&#10;AI-generated content may be incorrect.">
            <a:extLst>
              <a:ext uri="{FF2B5EF4-FFF2-40B4-BE49-F238E27FC236}">
                <a16:creationId xmlns:a16="http://schemas.microsoft.com/office/drawing/2014/main" id="{3D9C08A6-32B4-0D24-6359-3E17BCCEBB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8435" y="4053736"/>
            <a:ext cx="3617380" cy="2136158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DA033685-FE76-EF88-00B6-51D9BDA5B574}"/>
              </a:ext>
            </a:extLst>
          </p:cNvPr>
          <p:cNvGrpSpPr/>
          <p:nvPr/>
        </p:nvGrpSpPr>
        <p:grpSpPr>
          <a:xfrm>
            <a:off x="5602849" y="5460017"/>
            <a:ext cx="4933723" cy="399193"/>
            <a:chOff x="494717" y="5323233"/>
            <a:chExt cx="4602367" cy="399193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3D2C739-45D3-D71F-04FB-30466A6BFB93}"/>
                </a:ext>
              </a:extLst>
            </p:cNvPr>
            <p:cNvSpPr/>
            <p:nvPr/>
          </p:nvSpPr>
          <p:spPr>
            <a:xfrm>
              <a:off x="494717" y="5323233"/>
              <a:ext cx="4602367" cy="399193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 noProof="0" dirty="0"/>
            </a:p>
          </p:txBody>
        </p:sp>
        <p:sp>
          <p:nvSpPr>
            <p:cNvPr id="13" name="Rectangle: Rounded Corners 4">
              <a:extLst>
                <a:ext uri="{FF2B5EF4-FFF2-40B4-BE49-F238E27FC236}">
                  <a16:creationId xmlns:a16="http://schemas.microsoft.com/office/drawing/2014/main" id="{DEE2ED35-D5E8-B925-97D9-86373CB28486}"/>
                </a:ext>
              </a:extLst>
            </p:cNvPr>
            <p:cNvSpPr txBox="1"/>
            <p:nvPr/>
          </p:nvSpPr>
          <p:spPr>
            <a:xfrm>
              <a:off x="607050" y="5342720"/>
              <a:ext cx="4377700" cy="36021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marL="0" lvl="0" indent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b="1" kern="1200" noProof="0" dirty="0">
                  <a:solidFill>
                    <a:schemeClr val="tx1"/>
                  </a:solidFill>
                  <a:latin typeface="+mj-lt"/>
                </a:rPr>
                <a:t>We need autonomy, not more batteries</a:t>
              </a:r>
            </a:p>
          </p:txBody>
        </p:sp>
      </p:grpSp>
      <p:pic>
        <p:nvPicPr>
          <p:cNvPr id="10" name="Picture 9" descr="A person's hands holding a bicycle chain&#10;&#10;AI-generated content may be incorrect.">
            <a:extLst>
              <a:ext uri="{FF2B5EF4-FFF2-40B4-BE49-F238E27FC236}">
                <a16:creationId xmlns:a16="http://schemas.microsoft.com/office/drawing/2014/main" id="{18FC3E9A-1A4F-DF86-36DB-A3A7F7E24E4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9534" y="1473446"/>
            <a:ext cx="3747456" cy="37474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6066CF-7199-1B6C-42E6-CD1830D4F0C5}"/>
              </a:ext>
            </a:extLst>
          </p:cNvPr>
          <p:cNvSpPr txBox="1"/>
          <p:nvPr/>
        </p:nvSpPr>
        <p:spPr>
          <a:xfrm>
            <a:off x="2645442" y="6189894"/>
            <a:ext cx="14651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noProof="0" dirty="0">
                <a:hlinkClick r:id="rId10"/>
              </a:rPr>
              <a:t>SRAM Eagle AXS </a:t>
            </a:r>
            <a:endParaRPr lang="en-GB" sz="1400" noProof="0" dirty="0"/>
          </a:p>
        </p:txBody>
      </p:sp>
    </p:spTree>
    <p:extLst>
      <p:ext uri="{BB962C8B-B14F-4D97-AF65-F5344CB8AC3E}">
        <p14:creationId xmlns:p14="http://schemas.microsoft.com/office/powerpoint/2010/main" val="2636940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FF26B2-783A-5894-4666-EC901413F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077A8A-95D5-CAA7-094B-B22E17646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C1C9F5E-3C89-0941-A762-DAB2B57E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Core idea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081B2D-00D1-37A7-CB50-3BCF28129D71}"/>
              </a:ext>
            </a:extLst>
          </p:cNvPr>
          <p:cNvSpPr txBox="1"/>
          <p:nvPr/>
        </p:nvSpPr>
        <p:spPr>
          <a:xfrm>
            <a:off x="757355" y="1484637"/>
            <a:ext cx="848886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Hybrid harvesting using </a:t>
            </a:r>
            <a:r>
              <a:rPr lang="en-GB" b="1" noProof="0" dirty="0"/>
              <a:t>TEG</a:t>
            </a:r>
            <a:r>
              <a:rPr lang="en-GB" noProof="0" dirty="0"/>
              <a:t> on brake pads + small </a:t>
            </a:r>
            <a:r>
              <a:rPr lang="en-GB" b="1" noProof="0" dirty="0"/>
              <a:t>PV cells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The two sources are </a:t>
            </a:r>
            <a:r>
              <a:rPr lang="en-GB" b="1" noProof="0" dirty="0"/>
              <a:t>naturally complementary </a:t>
            </a:r>
            <a:r>
              <a:rPr lang="en-GB" noProof="0" dirty="0"/>
              <a:t>in mountain biking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Provides </a:t>
            </a:r>
            <a:r>
              <a:rPr lang="en-GB" b="1" noProof="0" dirty="0"/>
              <a:t>friction-free energy </a:t>
            </a:r>
            <a:r>
              <a:rPr lang="en-GB" noProof="0" dirty="0"/>
              <a:t>under highly variable 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Harvesting adapts to both braking events (TEG) and ambient light (PV)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0" dirty="0"/>
              <a:t>Power sources also act as sensors</a:t>
            </a:r>
            <a:r>
              <a:rPr lang="en-GB" noProof="0" dirty="0"/>
              <a:t> (TEG ↔ brake temperature ↔ braking events)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3A4DCFA-4288-1167-DF1D-DC33E637318B}"/>
              </a:ext>
            </a:extLst>
          </p:cNvPr>
          <p:cNvGrpSpPr/>
          <p:nvPr/>
        </p:nvGrpSpPr>
        <p:grpSpPr>
          <a:xfrm>
            <a:off x="1572461" y="3429000"/>
            <a:ext cx="9047078" cy="2381185"/>
            <a:chOff x="1153808" y="3411662"/>
            <a:chExt cx="9047078" cy="2381185"/>
          </a:xfrm>
        </p:grpSpPr>
        <p:sp>
          <p:nvSpPr>
            <p:cNvPr id="6" name="Rettangolo con angoli arrotondati 8">
              <a:extLst>
                <a:ext uri="{FF2B5EF4-FFF2-40B4-BE49-F238E27FC236}">
                  <a16:creationId xmlns:a16="http://schemas.microsoft.com/office/drawing/2014/main" id="{6EB4C314-29EF-F8D6-16F2-DF16E28A7735}"/>
                </a:ext>
              </a:extLst>
            </p:cNvPr>
            <p:cNvSpPr/>
            <p:nvPr/>
          </p:nvSpPr>
          <p:spPr>
            <a:xfrm>
              <a:off x="1173006" y="3411662"/>
              <a:ext cx="1839742" cy="934764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700" b="1" noProof="0" dirty="0">
                  <a:solidFill>
                    <a:schemeClr val="tx1"/>
                  </a:solidFill>
                </a:rPr>
                <a:t>TEG </a:t>
              </a:r>
            </a:p>
            <a:p>
              <a:pPr algn="ctr"/>
              <a:r>
                <a:rPr lang="en-GB" sz="1700" noProof="0" dirty="0">
                  <a:solidFill>
                    <a:schemeClr val="tx1"/>
                  </a:solidFill>
                </a:rPr>
                <a:t>braking heat</a:t>
              </a:r>
            </a:p>
          </p:txBody>
        </p:sp>
        <p:sp>
          <p:nvSpPr>
            <p:cNvPr id="7" name="Rettangolo con angoli arrotondati 8">
              <a:extLst>
                <a:ext uri="{FF2B5EF4-FFF2-40B4-BE49-F238E27FC236}">
                  <a16:creationId xmlns:a16="http://schemas.microsoft.com/office/drawing/2014/main" id="{5282916B-F004-FE96-6700-B9EF53770448}"/>
                </a:ext>
              </a:extLst>
            </p:cNvPr>
            <p:cNvSpPr/>
            <p:nvPr/>
          </p:nvSpPr>
          <p:spPr>
            <a:xfrm>
              <a:off x="1153808" y="4860159"/>
              <a:ext cx="1839742" cy="93268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700" b="1" noProof="0" dirty="0">
                  <a:solidFill>
                    <a:schemeClr val="tx1"/>
                  </a:solidFill>
                </a:rPr>
                <a:t>PV</a:t>
              </a:r>
            </a:p>
            <a:p>
              <a:pPr algn="ctr"/>
              <a:r>
                <a:rPr lang="en-GB" sz="1700" noProof="0" dirty="0">
                  <a:solidFill>
                    <a:schemeClr val="tx1"/>
                  </a:solidFill>
                </a:rPr>
                <a:t>ambient light </a:t>
              </a:r>
            </a:p>
          </p:txBody>
        </p:sp>
        <p:sp>
          <p:nvSpPr>
            <p:cNvPr id="8" name="Rettangolo con angoli arrotondati 8">
              <a:extLst>
                <a:ext uri="{FF2B5EF4-FFF2-40B4-BE49-F238E27FC236}">
                  <a16:creationId xmlns:a16="http://schemas.microsoft.com/office/drawing/2014/main" id="{391E4465-9FDB-71DF-C3AE-3D14E7B1DAC6}"/>
                </a:ext>
              </a:extLst>
            </p:cNvPr>
            <p:cNvSpPr/>
            <p:nvPr/>
          </p:nvSpPr>
          <p:spPr>
            <a:xfrm>
              <a:off x="6153519" y="4249144"/>
              <a:ext cx="1688827" cy="684885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700" b="1" noProof="0" dirty="0">
                  <a:solidFill>
                    <a:schemeClr val="tx1"/>
                  </a:solidFill>
                </a:rPr>
                <a:t>Shared energy buffer</a:t>
              </a:r>
            </a:p>
          </p:txBody>
        </p:sp>
        <p:sp>
          <p:nvSpPr>
            <p:cNvPr id="9" name="Rettangolo con angoli arrotondati 8">
              <a:extLst>
                <a:ext uri="{FF2B5EF4-FFF2-40B4-BE49-F238E27FC236}">
                  <a16:creationId xmlns:a16="http://schemas.microsoft.com/office/drawing/2014/main" id="{F257B7D6-A177-E16A-FE72-1184C44FC8C3}"/>
                </a:ext>
              </a:extLst>
            </p:cNvPr>
            <p:cNvSpPr/>
            <p:nvPr/>
          </p:nvSpPr>
          <p:spPr>
            <a:xfrm>
              <a:off x="3682461" y="3508944"/>
              <a:ext cx="1801345" cy="7402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700" b="1" noProof="0" dirty="0">
                  <a:solidFill>
                    <a:schemeClr val="tx1"/>
                  </a:solidFill>
                </a:rPr>
                <a:t>Power measurement</a:t>
              </a:r>
            </a:p>
          </p:txBody>
        </p:sp>
        <p:sp>
          <p:nvSpPr>
            <p:cNvPr id="10" name="Rettangolo con angoli arrotondati 8">
              <a:extLst>
                <a:ext uri="{FF2B5EF4-FFF2-40B4-BE49-F238E27FC236}">
                  <a16:creationId xmlns:a16="http://schemas.microsoft.com/office/drawing/2014/main" id="{DF0F52E0-7E6E-403A-C187-50FB2DAD157F}"/>
                </a:ext>
              </a:extLst>
            </p:cNvPr>
            <p:cNvSpPr/>
            <p:nvPr/>
          </p:nvSpPr>
          <p:spPr>
            <a:xfrm>
              <a:off x="3682461" y="4956403"/>
              <a:ext cx="1801345" cy="7402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700" b="1" noProof="0" dirty="0">
                  <a:solidFill>
                    <a:schemeClr val="tx1"/>
                  </a:solidFill>
                </a:rPr>
                <a:t>Power measurement</a:t>
              </a:r>
            </a:p>
          </p:txBody>
        </p:sp>
        <p:sp>
          <p:nvSpPr>
            <p:cNvPr id="11" name="Rettangolo con angoli arrotondati 8">
              <a:extLst>
                <a:ext uri="{FF2B5EF4-FFF2-40B4-BE49-F238E27FC236}">
                  <a16:creationId xmlns:a16="http://schemas.microsoft.com/office/drawing/2014/main" id="{617FD991-69A7-17CA-52AC-1840A9409042}"/>
                </a:ext>
              </a:extLst>
            </p:cNvPr>
            <p:cNvSpPr/>
            <p:nvPr/>
          </p:nvSpPr>
          <p:spPr>
            <a:xfrm>
              <a:off x="8512059" y="4249143"/>
              <a:ext cx="1688827" cy="684885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700" b="1" noProof="0" dirty="0">
                  <a:solidFill>
                    <a:schemeClr val="tx1"/>
                  </a:solidFill>
                </a:rPr>
                <a:t>Load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815CCFDF-4184-B965-4CDB-AFCD3BADC0E4}"/>
                </a:ext>
              </a:extLst>
            </p:cNvPr>
            <p:cNvSpPr/>
            <p:nvPr/>
          </p:nvSpPr>
          <p:spPr>
            <a:xfrm>
              <a:off x="3012747" y="3783683"/>
              <a:ext cx="669713" cy="19072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5" name="Arrow: Bent-Up 14">
              <a:extLst>
                <a:ext uri="{FF2B5EF4-FFF2-40B4-BE49-F238E27FC236}">
                  <a16:creationId xmlns:a16="http://schemas.microsoft.com/office/drawing/2014/main" id="{1C4CD280-F358-D300-958A-062678E85100}"/>
                </a:ext>
              </a:extLst>
            </p:cNvPr>
            <p:cNvSpPr/>
            <p:nvPr/>
          </p:nvSpPr>
          <p:spPr>
            <a:xfrm>
              <a:off x="5483806" y="4934028"/>
              <a:ext cx="1688827" cy="449467"/>
            </a:xfrm>
            <a:prstGeom prst="bent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19" name="Arrow: Bent-Up 18">
              <a:extLst>
                <a:ext uri="{FF2B5EF4-FFF2-40B4-BE49-F238E27FC236}">
                  <a16:creationId xmlns:a16="http://schemas.microsoft.com/office/drawing/2014/main" id="{2EAF20C7-72BC-20B9-7B65-390DEEC5695F}"/>
                </a:ext>
              </a:extLst>
            </p:cNvPr>
            <p:cNvSpPr/>
            <p:nvPr/>
          </p:nvSpPr>
          <p:spPr>
            <a:xfrm flipV="1">
              <a:off x="5510280" y="3799675"/>
              <a:ext cx="1662354" cy="449467"/>
            </a:xfrm>
            <a:prstGeom prst="bent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79EA4239-FE28-77ED-7736-12C6E84D06DA}"/>
                </a:ext>
              </a:extLst>
            </p:cNvPr>
            <p:cNvSpPr/>
            <p:nvPr/>
          </p:nvSpPr>
          <p:spPr>
            <a:xfrm>
              <a:off x="3012746" y="5245144"/>
              <a:ext cx="669713" cy="19072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EF90C48D-1972-D870-6181-68F8A4F25FB4}"/>
                </a:ext>
              </a:extLst>
            </p:cNvPr>
            <p:cNvSpPr/>
            <p:nvPr/>
          </p:nvSpPr>
          <p:spPr>
            <a:xfrm>
              <a:off x="7842346" y="4496224"/>
              <a:ext cx="669713" cy="190721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891927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503A897-B4FE-88EC-CEB8-1BDEBA89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6B827D-ACEC-C8D9-921E-20B4BE846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C311A-55C0-E79F-C0A7-ECC1AE2BD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Hybrid system concept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DE482F-7936-1607-8870-4DDA70C1DF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1905" y="2002752"/>
            <a:ext cx="9860655" cy="3167121"/>
          </a:xfrm>
          <a:prstGeom prst="rect">
            <a:avLst/>
          </a:prstGeom>
        </p:spPr>
      </p:pic>
      <p:sp>
        <p:nvSpPr>
          <p:cNvPr id="6" name="Rettangolo con angoli arrotondati 8">
            <a:extLst>
              <a:ext uri="{FF2B5EF4-FFF2-40B4-BE49-F238E27FC236}">
                <a16:creationId xmlns:a16="http://schemas.microsoft.com/office/drawing/2014/main" id="{4330444E-362E-EE3C-F06C-068332AEF8A6}"/>
              </a:ext>
            </a:extLst>
          </p:cNvPr>
          <p:cNvSpPr/>
          <p:nvPr/>
        </p:nvSpPr>
        <p:spPr>
          <a:xfrm>
            <a:off x="576805" y="1341311"/>
            <a:ext cx="1965960" cy="93476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700" b="1" noProof="0" dirty="0">
                <a:solidFill>
                  <a:schemeClr val="tx1"/>
                </a:solidFill>
              </a:rPr>
              <a:t>TEG </a:t>
            </a:r>
          </a:p>
          <a:p>
            <a:pPr algn="ctr"/>
            <a:r>
              <a:rPr lang="en-GB" sz="1700" noProof="0" dirty="0">
                <a:solidFill>
                  <a:schemeClr val="tx1"/>
                </a:solidFill>
              </a:rPr>
              <a:t>downhill bursts</a:t>
            </a:r>
          </a:p>
        </p:txBody>
      </p:sp>
      <p:sp>
        <p:nvSpPr>
          <p:cNvPr id="8" name="Rettangolo con angoli arrotondati 8">
            <a:extLst>
              <a:ext uri="{FF2B5EF4-FFF2-40B4-BE49-F238E27FC236}">
                <a16:creationId xmlns:a16="http://schemas.microsoft.com/office/drawing/2014/main" id="{D1DC52F2-8A3D-7DB4-35B5-C31F4887C05D}"/>
              </a:ext>
            </a:extLst>
          </p:cNvPr>
          <p:cNvSpPr/>
          <p:nvPr/>
        </p:nvSpPr>
        <p:spPr>
          <a:xfrm>
            <a:off x="1173006" y="5337120"/>
            <a:ext cx="1963484" cy="109474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700" b="1" noProof="0" dirty="0">
                <a:solidFill>
                  <a:schemeClr val="tx1"/>
                </a:solidFill>
              </a:rPr>
              <a:t>PV </a:t>
            </a:r>
          </a:p>
          <a:p>
            <a:pPr algn="ctr"/>
            <a:r>
              <a:rPr lang="en-GB" sz="1700" noProof="0" dirty="0">
                <a:solidFill>
                  <a:schemeClr val="tx1"/>
                </a:solidFill>
              </a:rPr>
              <a:t>continuous background energy</a:t>
            </a:r>
          </a:p>
        </p:txBody>
      </p:sp>
      <p:pic>
        <p:nvPicPr>
          <p:cNvPr id="11" name="Picture 10" descr="A diagram of a circuit&#10;&#10;AI-generated content may be incorrect.">
            <a:extLst>
              <a:ext uri="{FF2B5EF4-FFF2-40B4-BE49-F238E27FC236}">
                <a16:creationId xmlns:a16="http://schemas.microsoft.com/office/drawing/2014/main" id="{81BAD65D-4A07-42F1-9469-EB620FB077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206154"/>
            <a:ext cx="2427203" cy="2496592"/>
          </a:xfrm>
          <a:prstGeom prst="rect">
            <a:avLst/>
          </a:prstGeom>
        </p:spPr>
      </p:pic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F1426920-4FA2-99AD-25BC-D290A4A10346}"/>
              </a:ext>
            </a:extLst>
          </p:cNvPr>
          <p:cNvSpPr/>
          <p:nvPr/>
        </p:nvSpPr>
        <p:spPr>
          <a:xfrm>
            <a:off x="9619739" y="1464674"/>
            <a:ext cx="1965960" cy="68488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700" b="1" noProof="0" dirty="0">
                <a:solidFill>
                  <a:schemeClr val="tx1"/>
                </a:solidFill>
              </a:rPr>
              <a:t>Shared energy buffer</a:t>
            </a:r>
          </a:p>
        </p:txBody>
      </p:sp>
      <p:sp>
        <p:nvSpPr>
          <p:cNvPr id="10" name="Rettangolo con angoli arrotondati 8">
            <a:extLst>
              <a:ext uri="{FF2B5EF4-FFF2-40B4-BE49-F238E27FC236}">
                <a16:creationId xmlns:a16="http://schemas.microsoft.com/office/drawing/2014/main" id="{DB80F4E0-43BB-6C05-F489-36A428C5688E}"/>
              </a:ext>
            </a:extLst>
          </p:cNvPr>
          <p:cNvSpPr/>
          <p:nvPr/>
        </p:nvSpPr>
        <p:spPr>
          <a:xfrm>
            <a:off x="4130040" y="5169873"/>
            <a:ext cx="1965960" cy="740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700" b="1" noProof="0" dirty="0">
                <a:solidFill>
                  <a:schemeClr val="tx1"/>
                </a:solidFill>
              </a:rPr>
              <a:t>Power measurement</a:t>
            </a:r>
          </a:p>
        </p:txBody>
      </p:sp>
    </p:spTree>
    <p:extLst>
      <p:ext uri="{BB962C8B-B14F-4D97-AF65-F5344CB8AC3E}">
        <p14:creationId xmlns:p14="http://schemas.microsoft.com/office/powerpoint/2010/main" val="3844568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A5C7F24-BFAC-6A34-FCC4-D510224DF85E}"/>
              </a:ext>
            </a:extLst>
          </p:cNvPr>
          <p:cNvGrpSpPr/>
          <p:nvPr/>
        </p:nvGrpSpPr>
        <p:grpSpPr>
          <a:xfrm>
            <a:off x="8216839" y="1546260"/>
            <a:ext cx="3109923" cy="1935034"/>
            <a:chOff x="8168311" y="1635566"/>
            <a:chExt cx="3109923" cy="1935034"/>
          </a:xfrm>
        </p:grpSpPr>
        <p:pic>
          <p:nvPicPr>
            <p:cNvPr id="7" name="Immagine 11" descr="Immagine che contiene testo, elettronica, circuito&#10;&#10;Descrizione generata automaticamente">
              <a:extLst>
                <a:ext uri="{FF2B5EF4-FFF2-40B4-BE49-F238E27FC236}">
                  <a16:creationId xmlns:a16="http://schemas.microsoft.com/office/drawing/2014/main" id="{6ED2F45C-D023-8A96-DB6E-850DAAA5C6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48727" b="-1"/>
            <a:stretch/>
          </p:blipFill>
          <p:spPr>
            <a:xfrm rot="2805775">
              <a:off x="8067183" y="1736694"/>
              <a:ext cx="1935034" cy="1732778"/>
            </a:xfrm>
            <a:prstGeom prst="rect">
              <a:avLst/>
            </a:prstGeom>
          </p:spPr>
        </p:pic>
        <p:sp>
          <p:nvSpPr>
            <p:cNvPr id="9" name="CasellaDiTesto 15">
              <a:extLst>
                <a:ext uri="{FF2B5EF4-FFF2-40B4-BE49-F238E27FC236}">
                  <a16:creationId xmlns:a16="http://schemas.microsoft.com/office/drawing/2014/main" id="{E5B6F207-E724-12BF-0846-9F713144B1C6}"/>
                </a:ext>
              </a:extLst>
            </p:cNvPr>
            <p:cNvSpPr txBox="1"/>
            <p:nvPr/>
          </p:nvSpPr>
          <p:spPr>
            <a:xfrm>
              <a:off x="9849849" y="2018307"/>
              <a:ext cx="1428385" cy="1169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400" noProof="0" dirty="0"/>
                <a:t>PV (</a:t>
              </a:r>
              <a:r>
                <a:rPr lang="en-GB" sz="1400" i="1" noProof="0" dirty="0"/>
                <a:t>AM-1606C-MEL</a:t>
              </a:r>
              <a:r>
                <a:rPr lang="en-GB" sz="1400" noProof="0" dirty="0"/>
                <a:t>), mounted on BFTAG01. A sensor tag based on STM32L0</a:t>
              </a:r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7E1E54-49DF-01F1-AAB2-C32984DE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B78C7F-B541-3E74-7A46-0D06F52D7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AD2B4A-A362-0ADF-C868-28A02CD5C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Solar harvesting (PV)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CDFE47-041B-394C-EE7E-48F337852389}"/>
              </a:ext>
            </a:extLst>
          </p:cNvPr>
          <p:cNvSpPr txBox="1"/>
          <p:nvPr/>
        </p:nvSpPr>
        <p:spPr>
          <a:xfrm>
            <a:off x="1052473" y="3740339"/>
            <a:ext cx="4870155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Output power across common lighting conditions: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GB" b="1" noProof="0" dirty="0"/>
              <a:t>Indoor/shade</a:t>
            </a:r>
            <a:r>
              <a:rPr lang="en-GB" noProof="0" dirty="0"/>
              <a:t>: ~8–30 µW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0" dirty="0"/>
              <a:t>Daylight</a:t>
            </a:r>
            <a:r>
              <a:rPr lang="en-GB" noProof="0" dirty="0"/>
              <a:t>: ~170 µW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0" dirty="0"/>
              <a:t>Direct</a:t>
            </a:r>
            <a:r>
              <a:rPr lang="en-GB" noProof="0" dirty="0"/>
              <a:t> </a:t>
            </a:r>
            <a:r>
              <a:rPr lang="en-GB" b="1" noProof="0" dirty="0"/>
              <a:t>sunlight</a:t>
            </a:r>
            <a:r>
              <a:rPr lang="en-GB" noProof="0" dirty="0"/>
              <a:t>: ~1 </a:t>
            </a:r>
            <a:r>
              <a:rPr lang="en-GB" noProof="0" dirty="0" err="1"/>
              <a:t>mW</a:t>
            </a:r>
            <a:endParaRPr lang="en-GB" noProof="0" dirty="0"/>
          </a:p>
          <a:p>
            <a:endParaRPr lang="en-GB" noProof="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6E5F525-2EB2-73C7-0519-FEDB21C005B5}"/>
              </a:ext>
            </a:extLst>
          </p:cNvPr>
          <p:cNvGrpSpPr/>
          <p:nvPr/>
        </p:nvGrpSpPr>
        <p:grpSpPr>
          <a:xfrm>
            <a:off x="6143321" y="3429000"/>
            <a:ext cx="4996206" cy="2793578"/>
            <a:chOff x="6143321" y="3429000"/>
            <a:chExt cx="4996206" cy="2793578"/>
          </a:xfrm>
        </p:grpSpPr>
        <p:sp>
          <p:nvSpPr>
            <p:cNvPr id="8" name="CasellaDiTesto 15">
              <a:extLst>
                <a:ext uri="{FF2B5EF4-FFF2-40B4-BE49-F238E27FC236}">
                  <a16:creationId xmlns:a16="http://schemas.microsoft.com/office/drawing/2014/main" id="{F5219737-0EFA-F699-D76C-2B144A066C96}"/>
                </a:ext>
              </a:extLst>
            </p:cNvPr>
            <p:cNvSpPr txBox="1"/>
            <p:nvPr/>
          </p:nvSpPr>
          <p:spPr>
            <a:xfrm>
              <a:off x="6266244" y="5914801"/>
              <a:ext cx="475035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400" noProof="0" dirty="0"/>
                <a:t>PV Current vs. Illuminance at </a:t>
              </a:r>
              <a:r>
                <a:rPr lang="en-GB" sz="1400" noProof="0" dirty="0" err="1"/>
                <a:t>Vope</a:t>
              </a:r>
              <a:endParaRPr lang="en-GB" sz="1400" noProof="0" dirty="0"/>
            </a:p>
          </p:txBody>
        </p:sp>
        <p:pic>
          <p:nvPicPr>
            <p:cNvPr id="10" name="Picture 9" descr="A graph with a line graph&#10;&#10;AI-generated content may be incorrect.">
              <a:extLst>
                <a:ext uri="{FF2B5EF4-FFF2-40B4-BE49-F238E27FC236}">
                  <a16:creationId xmlns:a16="http://schemas.microsoft.com/office/drawing/2014/main" id="{89CAC961-8596-E70B-D1E2-409FD7020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43321" y="3429000"/>
              <a:ext cx="4996206" cy="2485239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F49EDC6-6964-DD7E-8579-5F48396286D5}"/>
              </a:ext>
            </a:extLst>
          </p:cNvPr>
          <p:cNvSpPr txBox="1"/>
          <p:nvPr/>
        </p:nvSpPr>
        <p:spPr>
          <a:xfrm>
            <a:off x="1054945" y="1679755"/>
            <a:ext cx="66858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Specific </a:t>
            </a:r>
            <a:r>
              <a:rPr lang="en-GB" b="1" noProof="0" dirty="0"/>
              <a:t>PV</a:t>
            </a:r>
            <a:r>
              <a:rPr lang="en-GB" noProof="0" dirty="0"/>
              <a:t> for </a:t>
            </a:r>
            <a:r>
              <a:rPr lang="en-GB" b="1" noProof="0" dirty="0"/>
              <a:t>low-light conditions</a:t>
            </a:r>
            <a:r>
              <a:rPr lang="en-GB" noProof="0" dirty="0"/>
              <a:t>, including cloudy or indoor environments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Generates </a:t>
            </a:r>
            <a:r>
              <a:rPr lang="en-GB" b="1" noProof="0" dirty="0"/>
              <a:t>µW</a:t>
            </a:r>
            <a:r>
              <a:rPr lang="en-GB" noProof="0" dirty="0"/>
              <a:t> to </a:t>
            </a:r>
            <a:r>
              <a:rPr lang="en-GB" b="1" noProof="0" dirty="0" err="1"/>
              <a:t>mW</a:t>
            </a:r>
            <a:r>
              <a:rPr lang="en-GB" noProof="0" dirty="0"/>
              <a:t> depending on sunlight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Provides </a:t>
            </a:r>
            <a:r>
              <a:rPr lang="en-GB" b="1" noProof="0" dirty="0"/>
              <a:t>baseline power</a:t>
            </a:r>
            <a:r>
              <a:rPr lang="en-GB" noProof="0" dirty="0"/>
              <a:t> over the full ride</a:t>
            </a:r>
          </a:p>
        </p:txBody>
      </p:sp>
    </p:spTree>
    <p:extLst>
      <p:ext uri="{BB962C8B-B14F-4D97-AF65-F5344CB8AC3E}">
        <p14:creationId xmlns:p14="http://schemas.microsoft.com/office/powerpoint/2010/main" val="10490759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7AC2A-B882-83A5-396E-7A8F0AD83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35A764-7BBB-4ABD-6CD8-381825746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8B687B-F611-67BB-2BC0-E3D44E933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Thermoelectric harvesting (TEG)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714C2F-4EF8-1EEE-928B-DF590E04AE2C}"/>
              </a:ext>
            </a:extLst>
          </p:cNvPr>
          <p:cNvSpPr txBox="1"/>
          <p:nvPr/>
        </p:nvSpPr>
        <p:spPr>
          <a:xfrm>
            <a:off x="451281" y="1587248"/>
            <a:ext cx="11301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Mounted on the brake </a:t>
            </a:r>
            <a:r>
              <a:rPr lang="en-GB" noProof="0" dirty="0" err="1"/>
              <a:t>caliper</a:t>
            </a:r>
            <a:r>
              <a:rPr lang="en-GB" noProof="0" dirty="0"/>
              <a:t> using the natural </a:t>
            </a:r>
            <a:r>
              <a:rPr lang="en-GB" b="1" noProof="0" dirty="0"/>
              <a:t>temperature gradient (ΔT)</a:t>
            </a:r>
            <a:endParaRPr lang="en-GB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Generates </a:t>
            </a:r>
            <a:r>
              <a:rPr lang="en-GB" b="1" noProof="0" dirty="0" err="1"/>
              <a:t>mW</a:t>
            </a:r>
            <a:r>
              <a:rPr lang="en-GB" b="1" noProof="0" dirty="0"/>
              <a:t>-level bursts</a:t>
            </a:r>
            <a:r>
              <a:rPr lang="en-GB" noProof="0" dirty="0"/>
              <a:t> during braking events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Output directly follows </a:t>
            </a:r>
            <a:r>
              <a:rPr lang="en-GB" b="1" noProof="0" dirty="0"/>
              <a:t>thermal dynamics</a:t>
            </a:r>
            <a:endParaRPr lang="en-GB" noProof="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D3C1FF9-7BAF-538A-E67E-03590AD00B7B}"/>
              </a:ext>
            </a:extLst>
          </p:cNvPr>
          <p:cNvGrpSpPr/>
          <p:nvPr/>
        </p:nvGrpSpPr>
        <p:grpSpPr>
          <a:xfrm>
            <a:off x="1031703" y="3198704"/>
            <a:ext cx="4356374" cy="3260494"/>
            <a:chOff x="1054610" y="2881259"/>
            <a:chExt cx="4035199" cy="3260494"/>
          </a:xfrm>
        </p:grpSpPr>
        <p:pic>
          <p:nvPicPr>
            <p:cNvPr id="11" name="Immagine 1" descr="Immagine che contiene testo, diagramma, Diagramma, linea&#10;&#10;Descrizione generata automaticamente">
              <a:extLst>
                <a:ext uri="{FF2B5EF4-FFF2-40B4-BE49-F238E27FC236}">
                  <a16:creationId xmlns:a16="http://schemas.microsoft.com/office/drawing/2014/main" id="{24A77FAF-182D-D9B6-62E3-1DFFA5750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58545" y="2881259"/>
              <a:ext cx="4031264" cy="2700569"/>
            </a:xfrm>
            <a:prstGeom prst="rect">
              <a:avLst/>
            </a:prstGeom>
          </p:spPr>
        </p:pic>
        <p:sp>
          <p:nvSpPr>
            <p:cNvPr id="6" name="CasellaDiTesto 15">
              <a:extLst>
                <a:ext uri="{FF2B5EF4-FFF2-40B4-BE49-F238E27FC236}">
                  <a16:creationId xmlns:a16="http://schemas.microsoft.com/office/drawing/2014/main" id="{EFC8C9D6-F24D-A7DA-26D8-C9074C9E9E56}"/>
                </a:ext>
              </a:extLst>
            </p:cNvPr>
            <p:cNvSpPr txBox="1"/>
            <p:nvPr/>
          </p:nvSpPr>
          <p:spPr>
            <a:xfrm>
              <a:off x="1054610" y="5618533"/>
              <a:ext cx="403126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400" noProof="0" dirty="0"/>
                <a:t>Lab characterization, power generation depending on ΔT.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E6252B-A054-2020-D6AB-DC7B96A298CE}"/>
              </a:ext>
            </a:extLst>
          </p:cNvPr>
          <p:cNvGrpSpPr/>
          <p:nvPr/>
        </p:nvGrpSpPr>
        <p:grpSpPr>
          <a:xfrm>
            <a:off x="6406003" y="2455431"/>
            <a:ext cx="4750359" cy="3788324"/>
            <a:chOff x="6574173" y="2137986"/>
            <a:chExt cx="4750359" cy="3788324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A503E6D-23DB-C465-4F68-CDEF1EB29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74173" y="2137986"/>
              <a:ext cx="4750359" cy="3443842"/>
            </a:xfrm>
            <a:prstGeom prst="rect">
              <a:avLst/>
            </a:prstGeom>
          </p:spPr>
        </p:pic>
        <p:sp>
          <p:nvSpPr>
            <p:cNvPr id="7" name="CasellaDiTesto 15">
              <a:extLst>
                <a:ext uri="{FF2B5EF4-FFF2-40B4-BE49-F238E27FC236}">
                  <a16:creationId xmlns:a16="http://schemas.microsoft.com/office/drawing/2014/main" id="{7427A185-9EC4-84C8-9465-770CD605B441}"/>
                </a:ext>
              </a:extLst>
            </p:cNvPr>
            <p:cNvSpPr txBox="1"/>
            <p:nvPr/>
          </p:nvSpPr>
          <p:spPr>
            <a:xfrm>
              <a:off x="6574173" y="5618533"/>
              <a:ext cx="475035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400" noProof="0" dirty="0"/>
                <a:t>TEG supporting structure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886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C69AF9-7F6B-8FD8-1228-902AC5BEE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9166E7-150F-FFD4-00AC-00A9396A1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80E2D0C-45ED-3A1F-5F34-D63337E34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Real TEG setup on the bike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A15EAC-D8D4-2148-91AF-DC73F09A4812}"/>
              </a:ext>
            </a:extLst>
          </p:cNvPr>
          <p:cNvSpPr txBox="1"/>
          <p:nvPr/>
        </p:nvSpPr>
        <p:spPr>
          <a:xfrm>
            <a:off x="451280" y="1459683"/>
            <a:ext cx="81734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Custom </a:t>
            </a:r>
            <a:r>
              <a:rPr lang="en-GB" b="1" noProof="0" dirty="0"/>
              <a:t>3D-printed mount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0" dirty="0" err="1"/>
              <a:t>Aluminum</a:t>
            </a:r>
            <a:r>
              <a:rPr lang="en-GB" b="1" noProof="0" dirty="0"/>
              <a:t> plate </a:t>
            </a:r>
            <a:r>
              <a:rPr lang="en-GB" noProof="0" dirty="0"/>
              <a:t>in direct contact with the brake </a:t>
            </a:r>
            <a:r>
              <a:rPr lang="en-GB" noProof="0" dirty="0" err="1"/>
              <a:t>caliper</a:t>
            </a:r>
            <a:r>
              <a:rPr lang="en-GB" noProof="0" dirty="0"/>
              <a:t> (hot side)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0" dirty="0"/>
              <a:t>Heat sink on the cold </a:t>
            </a:r>
            <a:r>
              <a:rPr lang="en-GB" noProof="0" dirty="0"/>
              <a:t>side to maximize ΔT and harvesting efficiency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TEG mounted </a:t>
            </a:r>
            <a:r>
              <a:rPr lang="en-GB" b="1" noProof="0" dirty="0"/>
              <a:t>without friction</a:t>
            </a:r>
            <a:r>
              <a:rPr lang="en-GB" noProof="0" dirty="0"/>
              <a:t> on the wheel system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A95E841-03C1-1B41-EDE3-491004682D71}"/>
              </a:ext>
            </a:extLst>
          </p:cNvPr>
          <p:cNvGrpSpPr/>
          <p:nvPr/>
        </p:nvGrpSpPr>
        <p:grpSpPr>
          <a:xfrm>
            <a:off x="6730538" y="2407796"/>
            <a:ext cx="4750359" cy="3757546"/>
            <a:chOff x="6574173" y="2137986"/>
            <a:chExt cx="4750359" cy="375754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3335860-E035-941B-F0D0-B26A0BDA0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74173" y="2137986"/>
              <a:ext cx="4750359" cy="3443842"/>
            </a:xfrm>
            <a:prstGeom prst="rect">
              <a:avLst/>
            </a:prstGeom>
          </p:spPr>
        </p:pic>
        <p:sp>
          <p:nvSpPr>
            <p:cNvPr id="14" name="CasellaDiTesto 15">
              <a:extLst>
                <a:ext uri="{FF2B5EF4-FFF2-40B4-BE49-F238E27FC236}">
                  <a16:creationId xmlns:a16="http://schemas.microsoft.com/office/drawing/2014/main" id="{2295928E-748C-9FC9-BFDE-AD99869B293C}"/>
                </a:ext>
              </a:extLst>
            </p:cNvPr>
            <p:cNvSpPr txBox="1"/>
            <p:nvPr/>
          </p:nvSpPr>
          <p:spPr>
            <a:xfrm>
              <a:off x="6574173" y="5618533"/>
              <a:ext cx="475035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/>
                <a:t>TEG supporting structure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8B3B43D-9401-A049-DAFE-0E70355D5115}"/>
              </a:ext>
            </a:extLst>
          </p:cNvPr>
          <p:cNvGrpSpPr/>
          <p:nvPr/>
        </p:nvGrpSpPr>
        <p:grpSpPr>
          <a:xfrm>
            <a:off x="2136795" y="2943574"/>
            <a:ext cx="3156658" cy="2934216"/>
            <a:chOff x="2136795" y="2943574"/>
            <a:chExt cx="3156658" cy="2934216"/>
          </a:xfrm>
        </p:grpSpPr>
        <p:pic>
          <p:nvPicPr>
            <p:cNvPr id="6" name="Immagine 6">
              <a:extLst>
                <a:ext uri="{FF2B5EF4-FFF2-40B4-BE49-F238E27FC236}">
                  <a16:creationId xmlns:a16="http://schemas.microsoft.com/office/drawing/2014/main" id="{62DE383F-BBF8-24B7-1088-980C00247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417"/>
            <a:stretch>
              <a:fillRect/>
            </a:stretch>
          </p:blipFill>
          <p:spPr>
            <a:xfrm>
              <a:off x="2136795" y="2943574"/>
              <a:ext cx="3156658" cy="2657217"/>
            </a:xfrm>
            <a:prstGeom prst="rect">
              <a:avLst/>
            </a:prstGeom>
          </p:spPr>
        </p:pic>
        <p:sp>
          <p:nvSpPr>
            <p:cNvPr id="15" name="CasellaDiTesto 15">
              <a:extLst>
                <a:ext uri="{FF2B5EF4-FFF2-40B4-BE49-F238E27FC236}">
                  <a16:creationId xmlns:a16="http://schemas.microsoft.com/office/drawing/2014/main" id="{4E69E628-1830-B61B-3437-FA92D5055023}"/>
                </a:ext>
              </a:extLst>
            </p:cNvPr>
            <p:cNvSpPr txBox="1"/>
            <p:nvPr/>
          </p:nvSpPr>
          <p:spPr>
            <a:xfrm>
              <a:off x="2136796" y="5600791"/>
              <a:ext cx="315665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/>
                <a:t>TEG setup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52308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224490-C05F-612B-F50C-B88C5585E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3DC894-2B06-3629-10C6-FF711F673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FCE63C-4A97-CCDA-1A4D-E6749BFC2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TEG on-field results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92B7A2-9C1C-E1F7-D6F8-8200704296B3}"/>
              </a:ext>
            </a:extLst>
          </p:cNvPr>
          <p:cNvGrpSpPr/>
          <p:nvPr/>
        </p:nvGrpSpPr>
        <p:grpSpPr>
          <a:xfrm>
            <a:off x="6145164" y="1288026"/>
            <a:ext cx="4994787" cy="2546320"/>
            <a:chOff x="6806855" y="1036647"/>
            <a:chExt cx="4586887" cy="2248173"/>
          </a:xfrm>
        </p:grpSpPr>
        <p:pic>
          <p:nvPicPr>
            <p:cNvPr id="7" name="Picture 6" descr="A graph showing the temperature and temperature&#10;&#10;AI-generated content may be incorrect.">
              <a:extLst>
                <a:ext uri="{FF2B5EF4-FFF2-40B4-BE49-F238E27FC236}">
                  <a16:creationId xmlns:a16="http://schemas.microsoft.com/office/drawing/2014/main" id="{569C7EC9-B507-33F1-3748-24767BDFB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57"/>
            <a:stretch>
              <a:fillRect/>
            </a:stretch>
          </p:blipFill>
          <p:spPr>
            <a:xfrm>
              <a:off x="6928738" y="1036647"/>
              <a:ext cx="4392768" cy="2065662"/>
            </a:xfrm>
            <a:prstGeom prst="rect">
              <a:avLst/>
            </a:prstGeom>
          </p:spPr>
        </p:pic>
        <p:sp>
          <p:nvSpPr>
            <p:cNvPr id="6" name="CasellaDiTesto 15">
              <a:extLst>
                <a:ext uri="{FF2B5EF4-FFF2-40B4-BE49-F238E27FC236}">
                  <a16:creationId xmlns:a16="http://schemas.microsoft.com/office/drawing/2014/main" id="{C8FC14A8-CA48-DA41-E9FF-14B97AA4691A}"/>
                </a:ext>
              </a:extLst>
            </p:cNvPr>
            <p:cNvSpPr txBox="1"/>
            <p:nvPr/>
          </p:nvSpPr>
          <p:spPr>
            <a:xfrm>
              <a:off x="6806855" y="3013080"/>
              <a:ext cx="4586887" cy="2717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400" noProof="0" dirty="0"/>
                <a:t>Hot side temperature and current production over time in RIDE 1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712682-5C48-3194-1958-D983A3EE34C6}"/>
              </a:ext>
            </a:extLst>
          </p:cNvPr>
          <p:cNvGrpSpPr/>
          <p:nvPr/>
        </p:nvGrpSpPr>
        <p:grpSpPr>
          <a:xfrm>
            <a:off x="6046841" y="3798006"/>
            <a:ext cx="4994786" cy="2577191"/>
            <a:chOff x="6653229" y="3911909"/>
            <a:chExt cx="4586886" cy="227543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B1C8552-44E0-E735-2DBB-93F0D18809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233"/>
            <a:stretch>
              <a:fillRect/>
            </a:stretch>
          </p:blipFill>
          <p:spPr>
            <a:xfrm>
              <a:off x="6838317" y="3911909"/>
              <a:ext cx="4392768" cy="2097727"/>
            </a:xfrm>
            <a:prstGeom prst="rect">
              <a:avLst/>
            </a:prstGeom>
          </p:spPr>
        </p:pic>
        <p:sp>
          <p:nvSpPr>
            <p:cNvPr id="8" name="CasellaDiTesto 15">
              <a:extLst>
                <a:ext uri="{FF2B5EF4-FFF2-40B4-BE49-F238E27FC236}">
                  <a16:creationId xmlns:a16="http://schemas.microsoft.com/office/drawing/2014/main" id="{CEACF5CC-0F2F-85E4-D346-7E2CD984EB14}"/>
                </a:ext>
              </a:extLst>
            </p:cNvPr>
            <p:cNvSpPr txBox="1"/>
            <p:nvPr/>
          </p:nvSpPr>
          <p:spPr>
            <a:xfrm>
              <a:off x="6653229" y="5915599"/>
              <a:ext cx="4586886" cy="2717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400" noProof="0" dirty="0"/>
                <a:t>Hot side temperature and current production over time in RIDE 2</a:t>
              </a:r>
            </a:p>
          </p:txBody>
        </p:sp>
      </p:grpSp>
      <p:graphicFrame>
        <p:nvGraphicFramePr>
          <p:cNvPr id="14" name="Diagram 13">
            <a:extLst>
              <a:ext uri="{FF2B5EF4-FFF2-40B4-BE49-F238E27FC236}">
                <a16:creationId xmlns:a16="http://schemas.microsoft.com/office/drawing/2014/main" id="{C6A85274-BB54-4208-CFAD-B1B50E5387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9510017"/>
              </p:ext>
            </p:extLst>
          </p:nvPr>
        </p:nvGraphicFramePr>
        <p:xfrm>
          <a:off x="451281" y="1452104"/>
          <a:ext cx="5398913" cy="401751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28655269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B4F787-F8C7-BCC0-CD2D-B809F0941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1507B1-B46D-DA98-88AB-A9CB8C506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B39B8D-9BEF-72EF-2D94-14ABDE784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What we do with the energy: Two Use Cases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A734D1-6ABB-F1D8-471A-D22727970732}"/>
              </a:ext>
            </a:extLst>
          </p:cNvPr>
          <p:cNvSpPr txBox="1"/>
          <p:nvPr/>
        </p:nvSpPr>
        <p:spPr>
          <a:xfrm>
            <a:off x="451281" y="1518407"/>
            <a:ext cx="5174430" cy="15542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noProof="0" dirty="0"/>
              <a:t>Use Case #1</a:t>
            </a:r>
            <a:r>
              <a:rPr lang="en-GB" noProof="0" dirty="0"/>
              <a:t>:  IoT pipeline for </a:t>
            </a:r>
            <a:r>
              <a:rPr lang="en-GB" noProof="0" dirty="0" err="1"/>
              <a:t>batteryless</a:t>
            </a:r>
            <a:r>
              <a:rPr lang="en-GB" noProof="0" dirty="0"/>
              <a:t> telemetry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GB" b="1" noProof="0" dirty="0"/>
              <a:t>Bike setup </a:t>
            </a:r>
            <a:r>
              <a:rPr lang="en-GB" noProof="0" dirty="0"/>
              <a:t>&amp; configuration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0" dirty="0"/>
              <a:t>Performance</a:t>
            </a:r>
            <a:r>
              <a:rPr lang="en-GB" noProof="0" dirty="0"/>
              <a:t> monitoring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Track </a:t>
            </a:r>
            <a:r>
              <a:rPr lang="en-GB" b="1" noProof="0" dirty="0"/>
              <a:t>real-time data</a:t>
            </a:r>
            <a:r>
              <a:rPr lang="en-GB" noProof="0" dirty="0"/>
              <a:t> on usage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0" dirty="0"/>
              <a:t>Data visualization </a:t>
            </a:r>
            <a:r>
              <a:rPr lang="en-GB" noProof="0" dirty="0"/>
              <a:t>&amp; insights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7A8BC0-84DE-3741-ED2E-6CEAEA2672C5}"/>
              </a:ext>
            </a:extLst>
          </p:cNvPr>
          <p:cNvSpPr txBox="1"/>
          <p:nvPr/>
        </p:nvSpPr>
        <p:spPr>
          <a:xfrm>
            <a:off x="451280" y="4096073"/>
            <a:ext cx="5644719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noProof="0" dirty="0"/>
              <a:t>Use Case #2</a:t>
            </a:r>
            <a:r>
              <a:rPr lang="en-GB" noProof="0" dirty="0"/>
              <a:t>:  Power commercial actuators and remote controllers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GB" noProof="0" dirty="0"/>
              <a:t>Electronic shifting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 err="1"/>
              <a:t>Seatpost</a:t>
            </a:r>
            <a:r>
              <a:rPr lang="en-GB" noProof="0" dirty="0"/>
              <a:t> droppers</a:t>
            </a:r>
          </a:p>
        </p:txBody>
      </p:sp>
      <p:pic>
        <p:nvPicPr>
          <p:cNvPr id="8" name="Picture 7" descr="A close-up of a computer chip&#10;&#10;AI-generated content may be incorrect.">
            <a:extLst>
              <a:ext uri="{FF2B5EF4-FFF2-40B4-BE49-F238E27FC236}">
                <a16:creationId xmlns:a16="http://schemas.microsoft.com/office/drawing/2014/main" id="{F8564884-4FF7-DE3F-EC44-FB105C6123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13"/>
          <a:stretch>
            <a:fillRect/>
          </a:stretch>
        </p:blipFill>
        <p:spPr>
          <a:xfrm>
            <a:off x="6191076" y="1396654"/>
            <a:ext cx="5289822" cy="2445503"/>
          </a:xfrm>
          <a:prstGeom prst="rect">
            <a:avLst/>
          </a:prstGeom>
        </p:spPr>
      </p:pic>
      <p:sp>
        <p:nvSpPr>
          <p:cNvPr id="11" name="CasellaDiTesto 15">
            <a:extLst>
              <a:ext uri="{FF2B5EF4-FFF2-40B4-BE49-F238E27FC236}">
                <a16:creationId xmlns:a16="http://schemas.microsoft.com/office/drawing/2014/main" id="{A15C3824-E2B6-7E3D-7A90-18DCC73E5254}"/>
              </a:ext>
            </a:extLst>
          </p:cNvPr>
          <p:cNvSpPr txBox="1"/>
          <p:nvPr/>
        </p:nvSpPr>
        <p:spPr>
          <a:xfrm>
            <a:off x="6420467" y="3842157"/>
            <a:ext cx="50604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400" noProof="0" dirty="0"/>
              <a:t>BLE → Smartphone App → Cloud (MQTT) → Dashboard for Real-time data and visualization</a:t>
            </a:r>
          </a:p>
        </p:txBody>
      </p:sp>
    </p:spTree>
    <p:extLst>
      <p:ext uri="{BB962C8B-B14F-4D97-AF65-F5344CB8AC3E}">
        <p14:creationId xmlns:p14="http://schemas.microsoft.com/office/powerpoint/2010/main" val="15131849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D432C3-D771-0FD4-1D26-BFBE9692D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395E00-D8EB-6452-EAFD-899F62D21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851FD7-A8A2-8942-4B67-A421C93F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Use Case #1: </a:t>
            </a:r>
            <a:r>
              <a:rPr lang="en-GB" noProof="0" dirty="0" err="1"/>
              <a:t>Batteryless</a:t>
            </a:r>
            <a:r>
              <a:rPr lang="en-GB" noProof="0" dirty="0"/>
              <a:t> Telemetry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27CFB0-2B4F-3C09-DADD-F6B7C40EC2EE}"/>
              </a:ext>
            </a:extLst>
          </p:cNvPr>
          <p:cNvSpPr txBox="1"/>
          <p:nvPr/>
        </p:nvSpPr>
        <p:spPr>
          <a:xfrm>
            <a:off x="451281" y="1476462"/>
            <a:ext cx="8220771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Harvested energy powers a self-sustaining sensor node for sensing, processing and wireless transmission.</a:t>
            </a:r>
          </a:p>
          <a:p>
            <a:pPr>
              <a:spcBef>
                <a:spcPts val="600"/>
              </a:spcBef>
            </a:pPr>
            <a:r>
              <a:rPr lang="en-GB" b="1" noProof="0" dirty="0"/>
              <a:t>Strategy:</a:t>
            </a:r>
            <a:r>
              <a:rPr lang="en-GB" noProof="0" dirty="0"/>
              <a:t> Energy is buffered on a capacitor and the node wakes only when sufficiently charged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GB" b="1" noProof="0" dirty="0"/>
              <a:t>Required energy per cycle:</a:t>
            </a:r>
            <a:r>
              <a:rPr lang="en-GB" noProof="0" dirty="0"/>
              <a:t> </a:t>
            </a:r>
            <a:r>
              <a:rPr lang="en-GB" b="1" noProof="0" dirty="0"/>
              <a:t>0.133 </a:t>
            </a:r>
            <a:r>
              <a:rPr lang="en-GB" b="1" noProof="0" dirty="0" err="1"/>
              <a:t>mJ</a:t>
            </a:r>
            <a:r>
              <a:rPr lang="en-GB" b="1" noProof="0" dirty="0"/>
              <a:t> </a:t>
            </a:r>
            <a:r>
              <a:rPr lang="en-GB" noProof="0" dirty="0"/>
              <a:t>Brake temperature, IMU, suspension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Continuous sampling during downhill (TEG with ΔT &gt; 20 °C)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0.77 s sampling period with PV only (10.000 lux)</a:t>
            </a:r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794DE65-7204-8E12-69F5-378D68D6D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2527" y="3816799"/>
            <a:ext cx="5820927" cy="2806299"/>
          </a:xfrm>
          <a:prstGeom prst="rect">
            <a:avLst/>
          </a:prstGeom>
        </p:spPr>
      </p:pic>
      <p:pic>
        <p:nvPicPr>
          <p:cNvPr id="12" name="Picture 11" descr="A screenshot of a map&#10;&#10;AI-generated content may be incorrect.">
            <a:extLst>
              <a:ext uri="{FF2B5EF4-FFF2-40B4-BE49-F238E27FC236}">
                <a16:creationId xmlns:a16="http://schemas.microsoft.com/office/drawing/2014/main" id="{D2310DDA-E895-5658-DB62-1AA59D6960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4701" y="1620737"/>
            <a:ext cx="2296057" cy="4081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3797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close up of a bicycle&#10;&#10;AI-generated content may be incorrect.">
            <a:extLst>
              <a:ext uri="{FF2B5EF4-FFF2-40B4-BE49-F238E27FC236}">
                <a16:creationId xmlns:a16="http://schemas.microsoft.com/office/drawing/2014/main" id="{4A394150-799E-7A0D-0BB8-87FFBA2A4E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56"/>
          <a:stretch>
            <a:fillRect/>
          </a:stretch>
        </p:blipFill>
        <p:spPr>
          <a:xfrm>
            <a:off x="6085808" y="4031698"/>
            <a:ext cx="3814908" cy="252716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5A4E5E-7950-20BF-193F-6802F8BE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C3A261-0701-69D2-20C6-7D3DF6C17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2A75E4-C290-9845-9C94-68E5BFBA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Use Case #2: Powering Commercial Devices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6C0D7A-A351-0C28-0ADF-127D776E8E24}"/>
              </a:ext>
            </a:extLst>
          </p:cNvPr>
          <p:cNvSpPr txBox="1"/>
          <p:nvPr/>
        </p:nvSpPr>
        <p:spPr>
          <a:xfrm>
            <a:off x="451282" y="1560352"/>
            <a:ext cx="992660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0" dirty="0"/>
              <a:t>Goal</a:t>
            </a:r>
            <a:r>
              <a:rPr lang="en-GB" noProof="0" dirty="0"/>
              <a:t>: Use harvested energy to drive commercial on-board actuators and wireless components (today battery-powered)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0" dirty="0"/>
              <a:t>Works today</a:t>
            </a:r>
            <a:r>
              <a:rPr lang="en-GB" noProof="0" dirty="0"/>
              <a:t> (low-power): remotes, shifters, power meters (</a:t>
            </a:r>
            <a:r>
              <a:rPr lang="en-GB" b="1" noProof="0" dirty="0"/>
              <a:t>1–4 </a:t>
            </a:r>
            <a:r>
              <a:rPr lang="en-GB" b="1" noProof="0" dirty="0" err="1"/>
              <a:t>mW</a:t>
            </a:r>
            <a:r>
              <a:rPr lang="en-GB" noProof="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noProof="0" dirty="0"/>
              <a:t>Not yet</a:t>
            </a:r>
            <a:r>
              <a:rPr lang="en-GB" noProof="0" dirty="0"/>
              <a:t> (high-power): droppers, derailleurs, active suspension (</a:t>
            </a:r>
            <a:r>
              <a:rPr lang="en-GB" b="1" noProof="0" dirty="0"/>
              <a:t>30–300 </a:t>
            </a:r>
            <a:r>
              <a:rPr lang="en-GB" b="1" noProof="0" dirty="0" err="1"/>
              <a:t>mW</a:t>
            </a:r>
            <a:r>
              <a:rPr lang="en-GB" noProof="0" dirty="0"/>
              <a:t>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Device optimization is key: a dropper can work battery-free with short, limited pushes powered by a capacitor, but the trade-off is reduced continuous actuation.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Continuous actuation: needs optimization.</a:t>
            </a:r>
          </a:p>
          <a:p>
            <a:endParaRPr lang="en-GB" noProof="0" dirty="0"/>
          </a:p>
        </p:txBody>
      </p:sp>
      <p:pic>
        <p:nvPicPr>
          <p:cNvPr id="7" name="Picture 6" descr="A person riding a bike&#10;&#10;AI-generated content may be incorrect.">
            <a:extLst>
              <a:ext uri="{FF2B5EF4-FFF2-40B4-BE49-F238E27FC236}">
                <a16:creationId xmlns:a16="http://schemas.microsoft.com/office/drawing/2014/main" id="{32A0F349-CFD4-0547-C0AB-EE1F1337C7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4110" y="4031698"/>
            <a:ext cx="3814908" cy="25432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189DC21-6D72-8E91-5CFC-9A660567EC03}"/>
              </a:ext>
            </a:extLst>
          </p:cNvPr>
          <p:cNvSpPr txBox="1"/>
          <p:nvPr/>
        </p:nvSpPr>
        <p:spPr>
          <a:xfrm>
            <a:off x="2792623" y="6581001"/>
            <a:ext cx="18578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hlinkClick r:id="rId5"/>
              </a:rPr>
              <a:t>Fox Transfer Neo Dropper</a:t>
            </a:r>
            <a:endParaRPr lang="en-GB" sz="1200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CE82F3-FE31-7E45-96F0-0BE623111CC1}"/>
              </a:ext>
            </a:extLst>
          </p:cNvPr>
          <p:cNvSpPr txBox="1"/>
          <p:nvPr/>
        </p:nvSpPr>
        <p:spPr>
          <a:xfrm>
            <a:off x="7260689" y="6565611"/>
            <a:ext cx="12833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hlinkClick r:id="rId6"/>
              </a:rPr>
              <a:t>SRAM Eagle AXS </a:t>
            </a:r>
            <a:endParaRPr lang="en-GB" sz="1200" noProof="0" dirty="0"/>
          </a:p>
        </p:txBody>
      </p:sp>
    </p:spTree>
    <p:extLst>
      <p:ext uri="{BB962C8B-B14F-4D97-AF65-F5344CB8AC3E}">
        <p14:creationId xmlns:p14="http://schemas.microsoft.com/office/powerpoint/2010/main" val="29261741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9010A7-B640-4F72-811A-4D2A668F3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7CA538-C7D3-153A-9DDE-7D827CB5A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DAB035-55EF-90CD-E45C-52F1C71C1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Key takeaways</a:t>
            </a:r>
          </a:p>
        </p:txBody>
      </p:sp>
      <p:graphicFrame>
        <p:nvGraphicFramePr>
          <p:cNvPr id="8" name="Diagramma 7">
            <a:extLst>
              <a:ext uri="{FF2B5EF4-FFF2-40B4-BE49-F238E27FC236}">
                <a16:creationId xmlns:a16="http://schemas.microsoft.com/office/drawing/2014/main" id="{46A90C2C-76FF-9045-585E-CD7D49C39B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60321517"/>
              </p:ext>
            </p:extLst>
          </p:nvPr>
        </p:nvGraphicFramePr>
        <p:xfrm>
          <a:off x="3108158" y="1917929"/>
          <a:ext cx="5975684" cy="3780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74702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CEECDA-5155-A791-B26A-947CF282C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9A6648-C2FB-BBF1-1617-3F34CF788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57189"/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EE5B92-9D7A-55A4-3F80-E882A92C5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noProof="0" dirty="0"/>
              <a:t>Conclusions &amp; future 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45111-5B8E-3AC3-7962-1BFFFE39E090}"/>
              </a:ext>
            </a:extLst>
          </p:cNvPr>
          <p:cNvSpPr txBox="1"/>
          <p:nvPr/>
        </p:nvSpPr>
        <p:spPr>
          <a:xfrm>
            <a:off x="1173006" y="1484851"/>
            <a:ext cx="971130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noProof="0" dirty="0"/>
              <a:t>Improve heat transfer and TEG efficiency</a:t>
            </a:r>
            <a:r>
              <a:rPr lang="en-GB" sz="2000" noProof="0" dirty="0"/>
              <a:t> to approach lab-scale performance in real riding 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noProof="0" dirty="0"/>
              <a:t>Add more energy sources like </a:t>
            </a:r>
            <a:r>
              <a:rPr lang="en-GB" sz="2000" b="1" noProof="0" dirty="0"/>
              <a:t>vibration energy harvesting</a:t>
            </a:r>
            <a:r>
              <a:rPr lang="en-GB" sz="2000" noProof="0" dirty="0"/>
              <a:t> for rough terrains in MTB use cases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noProof="0" dirty="0"/>
              <a:t>Extend the architecture to e-bikes and </a:t>
            </a:r>
            <a:r>
              <a:rPr lang="en-GB" sz="2000" b="1" noProof="0" dirty="0"/>
              <a:t>additional sensors</a:t>
            </a:r>
            <a:r>
              <a:rPr lang="en-GB" sz="2000" noProof="0" dirty="0"/>
              <a:t> for telemetry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noProof="0" dirty="0"/>
              <a:t>Move toward fully </a:t>
            </a:r>
            <a:r>
              <a:rPr lang="en-GB" sz="2000" noProof="0" dirty="0" err="1"/>
              <a:t>batteryless</a:t>
            </a:r>
            <a:r>
              <a:rPr lang="en-GB" sz="2000" noProof="0" dirty="0"/>
              <a:t> on-bike electronics for maintenance-free IoT systems</a:t>
            </a:r>
          </a:p>
        </p:txBody>
      </p:sp>
    </p:spTree>
    <p:extLst>
      <p:ext uri="{BB962C8B-B14F-4D97-AF65-F5344CB8AC3E}">
        <p14:creationId xmlns:p14="http://schemas.microsoft.com/office/powerpoint/2010/main" val="38501023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7DE46-BE12-9016-D3C8-B716F5F5C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F8CBF-B2FE-3E42-8B3A-C00712548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1170" y="1096045"/>
            <a:ext cx="9169659" cy="955900"/>
          </a:xfrm>
        </p:spPr>
        <p:txBody>
          <a:bodyPr>
            <a:normAutofit fontScale="90000"/>
          </a:bodyPr>
          <a:lstStyle/>
          <a:p>
            <a:pPr algn="ctr"/>
            <a:r>
              <a:rPr lang="en-GB" sz="3200" b="1" noProof="0" dirty="0"/>
              <a:t>Self-powered co-harvesting for </a:t>
            </a:r>
            <a:r>
              <a:rPr lang="en-GB" sz="3200" b="1" noProof="0" dirty="0" err="1"/>
              <a:t>batteryless</a:t>
            </a:r>
            <a:r>
              <a:rPr lang="en-GB" sz="3200" b="1" noProof="0" dirty="0"/>
              <a:t> sensing and monitoring in two-wheeled IoT applications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D62C8D7-DF47-3AE4-E1D1-64131DF5E0C1}"/>
              </a:ext>
            </a:extLst>
          </p:cNvPr>
          <p:cNvSpPr txBox="1"/>
          <p:nvPr/>
        </p:nvSpPr>
        <p:spPr>
          <a:xfrm>
            <a:off x="4932895" y="2611245"/>
            <a:ext cx="7050372" cy="3077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endParaRPr lang="en-GB" sz="2400" noProof="0" dirty="0">
              <a:solidFill>
                <a:srgbClr val="C8102E"/>
              </a:solidFill>
            </a:endParaRPr>
          </a:p>
          <a:p>
            <a:pPr lvl="0" algn="r">
              <a:defRPr/>
            </a:pPr>
            <a:r>
              <a:rPr lang="en-GB" sz="2000" noProof="0" dirty="0">
                <a:solidFill>
                  <a:srgbClr val="C8102E"/>
                </a:solidFill>
              </a:rPr>
              <a:t>University of Trento</a:t>
            </a:r>
            <a:br>
              <a:rPr lang="en-GB" sz="2000" noProof="0" dirty="0">
                <a:solidFill>
                  <a:srgbClr val="C8102E"/>
                </a:solidFill>
              </a:rPr>
            </a:br>
            <a:r>
              <a:rPr lang="en-GB" sz="2000" noProof="0" dirty="0">
                <a:solidFill>
                  <a:srgbClr val="C8102E"/>
                </a:solidFill>
              </a:rPr>
              <a:t>Department of Industrial Engineering (DII)</a:t>
            </a:r>
          </a:p>
          <a:p>
            <a:pPr lvl="0" algn="r">
              <a:defRPr/>
            </a:pPr>
            <a:endParaRPr lang="en-GB" sz="2000" noProof="0" dirty="0">
              <a:solidFill>
                <a:srgbClr val="C8102E"/>
              </a:solidFill>
            </a:endParaRPr>
          </a:p>
          <a:p>
            <a:pPr lvl="0" algn="r">
              <a:defRPr/>
            </a:pPr>
            <a:endParaRPr lang="en-GB" sz="2000" noProof="0" dirty="0">
              <a:solidFill>
                <a:srgbClr val="C8102E"/>
              </a:solidFill>
            </a:endParaRPr>
          </a:p>
          <a:p>
            <a:pPr lvl="0" algn="r">
              <a:defRPr/>
            </a:pPr>
            <a:r>
              <a:rPr lang="en-GB" noProof="0" dirty="0">
                <a:solidFill>
                  <a:srgbClr val="C8102E"/>
                </a:solidFill>
              </a:rPr>
              <a:t>Prof. Davide Brunelli, </a:t>
            </a:r>
            <a:r>
              <a:rPr lang="en-GB" noProof="0" dirty="0">
                <a:solidFill>
                  <a:srgbClr val="C8102E"/>
                </a:solidFill>
                <a:hlinkClick r:id="rId3"/>
              </a:rPr>
              <a:t>davide.brunelli@unitn.it</a:t>
            </a:r>
            <a:endParaRPr lang="en-GB" noProof="0" dirty="0">
              <a:solidFill>
                <a:srgbClr val="C8102E"/>
              </a:solidFill>
            </a:endParaRPr>
          </a:p>
          <a:p>
            <a:pPr lvl="0" algn="r">
              <a:defRPr/>
            </a:pPr>
            <a:r>
              <a:rPr lang="en-GB" noProof="0" dirty="0">
                <a:solidFill>
                  <a:srgbClr val="C8102E"/>
                </a:solidFill>
              </a:rPr>
              <a:t>Maria </a:t>
            </a:r>
            <a:r>
              <a:rPr lang="en-GB" noProof="0" dirty="0" err="1">
                <a:solidFill>
                  <a:srgbClr val="C8102E"/>
                </a:solidFill>
              </a:rPr>
              <a:t>Doglioni</a:t>
            </a:r>
            <a:r>
              <a:rPr lang="en-GB" noProof="0" dirty="0">
                <a:solidFill>
                  <a:srgbClr val="C8102E"/>
                </a:solidFill>
              </a:rPr>
              <a:t>, Ph.D. student, </a:t>
            </a:r>
            <a:r>
              <a:rPr lang="en-GB" noProof="0" dirty="0">
                <a:solidFill>
                  <a:srgbClr val="C8102E"/>
                </a:solidFill>
                <a:hlinkClick r:id="rId4"/>
              </a:rPr>
              <a:t>maria.doglioni@unitn.it</a:t>
            </a:r>
            <a:endParaRPr lang="en-GB" noProof="0" dirty="0">
              <a:solidFill>
                <a:srgbClr val="C8102E"/>
              </a:solidFill>
            </a:endParaRPr>
          </a:p>
          <a:p>
            <a:pPr algn="r">
              <a:defRPr/>
            </a:pPr>
            <a:r>
              <a:rPr lang="en-GB" noProof="0" dirty="0">
                <a:solidFill>
                  <a:srgbClr val="C8102E"/>
                </a:solidFill>
              </a:rPr>
              <a:t>Arianna </a:t>
            </a:r>
            <a:r>
              <a:rPr lang="en-GB" noProof="0" dirty="0" err="1">
                <a:solidFill>
                  <a:srgbClr val="C8102E"/>
                </a:solidFill>
              </a:rPr>
              <a:t>Saviane</a:t>
            </a:r>
            <a:r>
              <a:rPr lang="en-GB" noProof="0" dirty="0">
                <a:solidFill>
                  <a:srgbClr val="C8102E"/>
                </a:solidFill>
              </a:rPr>
              <a:t> M.Sc. graduate, </a:t>
            </a:r>
            <a:r>
              <a:rPr lang="en-GB" noProof="0" dirty="0">
                <a:solidFill>
                  <a:srgbClr val="C8102E"/>
                </a:solidFill>
                <a:hlinkClick r:id="rId5"/>
              </a:rPr>
              <a:t>arianna.saviane@unitn.it</a:t>
            </a:r>
            <a:endParaRPr lang="en-GB" noProof="0" dirty="0">
              <a:solidFill>
                <a:srgbClr val="C8102E"/>
              </a:solidFill>
            </a:endParaRPr>
          </a:p>
          <a:p>
            <a:pPr lvl="0" algn="r">
              <a:defRPr/>
            </a:pPr>
            <a:r>
              <a:rPr lang="en-GB" noProof="0" dirty="0">
                <a:solidFill>
                  <a:srgbClr val="C8102E"/>
                </a:solidFill>
              </a:rPr>
              <a:t>Giuseppe Pasquini M.Sc. student, </a:t>
            </a:r>
            <a:r>
              <a:rPr lang="en-GB" noProof="0" dirty="0">
                <a:solidFill>
                  <a:srgbClr val="C8102E"/>
                </a:solidFill>
                <a:hlinkClick r:id="rId6"/>
              </a:rPr>
              <a:t>giuseppe.pasquini@unitn.it</a:t>
            </a:r>
            <a:endParaRPr lang="en-GB" noProof="0" dirty="0">
              <a:solidFill>
                <a:srgbClr val="C8102E"/>
              </a:solidFill>
            </a:endParaRPr>
          </a:p>
          <a:p>
            <a:pPr lvl="0" algn="r">
              <a:defRPr/>
            </a:pPr>
            <a:endParaRPr lang="en-GB" noProof="0" dirty="0">
              <a:solidFill>
                <a:srgbClr val="C8102E"/>
              </a:solidFill>
            </a:endParaRPr>
          </a:p>
        </p:txBody>
      </p:sp>
      <p:sp>
        <p:nvSpPr>
          <p:cNvPr id="3" name="CasellaDiTesto 5">
            <a:extLst>
              <a:ext uri="{FF2B5EF4-FFF2-40B4-BE49-F238E27FC236}">
                <a16:creationId xmlns:a16="http://schemas.microsoft.com/office/drawing/2014/main" id="{47BEDB14-696E-5B0E-F15A-30992849726D}"/>
              </a:ext>
            </a:extLst>
          </p:cNvPr>
          <p:cNvSpPr txBox="1"/>
          <p:nvPr/>
        </p:nvSpPr>
        <p:spPr>
          <a:xfrm>
            <a:off x="7427342" y="5635464"/>
            <a:ext cx="4555923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en-GB" sz="1100" noProof="0" dirty="0">
                <a:solidFill>
                  <a:prstClr val="white"/>
                </a:solidFill>
              </a:rPr>
              <a:t>G. Pasquini, </a:t>
            </a:r>
            <a:r>
              <a:rPr lang="en-GB" sz="1100" noProof="0" dirty="0">
                <a:solidFill>
                  <a:prstClr val="white"/>
                </a:solidFill>
                <a:latin typeface="Gill Sans MT" panose="020B0502020104020203"/>
              </a:rPr>
              <a:t>M. </a:t>
            </a:r>
            <a:r>
              <a:rPr lang="en-GB" sz="1100" noProof="0" dirty="0" err="1">
                <a:solidFill>
                  <a:prstClr val="white"/>
                </a:solidFill>
                <a:latin typeface="Gill Sans MT" panose="020B0502020104020203"/>
              </a:rPr>
              <a:t>Doglioni</a:t>
            </a:r>
            <a:r>
              <a:rPr lang="en-GB" sz="1100" noProof="0" dirty="0">
                <a:solidFill>
                  <a:prstClr val="white"/>
                </a:solidFill>
                <a:latin typeface="Gill Sans MT" panose="020B0502020104020203"/>
              </a:rPr>
              <a:t>, A. </a:t>
            </a:r>
            <a:r>
              <a:rPr lang="en-GB" sz="1100" noProof="0" dirty="0" err="1">
                <a:solidFill>
                  <a:prstClr val="white"/>
                </a:solidFill>
                <a:latin typeface="Gill Sans MT" panose="020B0502020104020203"/>
              </a:rPr>
              <a:t>Saviane</a:t>
            </a:r>
            <a:r>
              <a:rPr lang="en-GB" sz="1100" noProof="0" dirty="0">
                <a:solidFill>
                  <a:prstClr val="white"/>
                </a:solidFill>
                <a:latin typeface="Gill Sans MT" panose="020B0502020104020203"/>
              </a:rPr>
              <a:t> and D. Brunelli (2025), "Self-Powered Co-Harvesting for </a:t>
            </a:r>
            <a:r>
              <a:rPr lang="en-GB" sz="1100" noProof="0" dirty="0" err="1">
                <a:solidFill>
                  <a:prstClr val="white"/>
                </a:solidFill>
                <a:latin typeface="Gill Sans MT" panose="020B0502020104020203"/>
              </a:rPr>
              <a:t>Batteryless</a:t>
            </a:r>
            <a:r>
              <a:rPr lang="en-GB" sz="1100" noProof="0" dirty="0">
                <a:solidFill>
                  <a:prstClr val="white"/>
                </a:solidFill>
                <a:latin typeface="Gill Sans MT" panose="020B0502020104020203"/>
              </a:rPr>
              <a:t> Sensing and Monitoring in</a:t>
            </a:r>
          </a:p>
          <a:p>
            <a:pPr lvl="0" algn="r">
              <a:defRPr/>
            </a:pPr>
            <a:r>
              <a:rPr lang="en-GB" sz="1100" noProof="0" dirty="0">
                <a:solidFill>
                  <a:prstClr val="white"/>
                </a:solidFill>
                <a:latin typeface="Gill Sans MT" panose="020B0502020104020203"/>
              </a:rPr>
              <a:t> Two-Wheeled IoT Applications</a:t>
            </a:r>
            <a:r>
              <a:rPr lang="en-GB" sz="1100" noProof="0" dirty="0">
                <a:solidFill>
                  <a:schemeClr val="bg1"/>
                </a:solidFill>
                <a:latin typeface="Gill Sans MT" panose="020B0502020104020203"/>
              </a:rPr>
              <a:t>," </a:t>
            </a:r>
          </a:p>
          <a:p>
            <a:pPr lvl="0" algn="r">
              <a:defRPr/>
            </a:pPr>
            <a:r>
              <a:rPr lang="en-GB" sz="1100" noProof="0" dirty="0">
                <a:solidFill>
                  <a:schemeClr val="bg1"/>
                </a:solidFill>
                <a:latin typeface="Gill Sans MT" panose="020B0502020104020203"/>
              </a:rPr>
              <a:t>in IEEE STAR 2025. 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90A4476-BE6F-2D76-BC25-6F3562C2BD7B}"/>
              </a:ext>
            </a:extLst>
          </p:cNvPr>
          <p:cNvGrpSpPr/>
          <p:nvPr/>
        </p:nvGrpSpPr>
        <p:grpSpPr>
          <a:xfrm>
            <a:off x="-700964" y="4946356"/>
            <a:ext cx="7687702" cy="1748494"/>
            <a:chOff x="-700964" y="4946356"/>
            <a:chExt cx="7687702" cy="1748494"/>
          </a:xfrm>
        </p:grpSpPr>
        <p:sp>
          <p:nvSpPr>
            <p:cNvPr id="19" name="CasellaDiTesto 9">
              <a:extLst>
                <a:ext uri="{FF2B5EF4-FFF2-40B4-BE49-F238E27FC236}">
                  <a16:creationId xmlns:a16="http://schemas.microsoft.com/office/drawing/2014/main" id="{08A6AA9C-9EE9-2F71-4B6E-C30B81AE4DD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32346" y="6347173"/>
              <a:ext cx="3118020" cy="3385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Calibri" panose="020F0502020204030204" pitchFamily="34" charset="0"/>
                  <a:ea typeface="Microsoft YaHei UI" panose="020B0503020204020204" pitchFamily="34" charset="-122"/>
                  <a:cs typeface="Calibri" panose="020F0502020204030204" pitchFamily="34" charset="0"/>
                </a:rPr>
                <a:t>Arianna </a:t>
              </a:r>
              <a:r>
                <a:rPr kumimoji="0" lang="en-GB" sz="16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Calibri" panose="020F0502020204030204" pitchFamily="34" charset="0"/>
                  <a:ea typeface="Microsoft YaHei UI" panose="020B0503020204020204" pitchFamily="34" charset="-122"/>
                  <a:cs typeface="Calibri" panose="020F0502020204030204" pitchFamily="34" charset="0"/>
                </a:rPr>
                <a:t>Saviane</a:t>
              </a: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ea typeface="Microsoft YaHei UI" panose="020B0503020204020204" pitchFamily="34" charset="-122"/>
                <a:cs typeface="Calibri" panose="020F0502020204030204" pitchFamily="34" charset="0"/>
              </a:endParaRPr>
            </a:p>
          </p:txBody>
        </p:sp>
        <p:sp>
          <p:nvSpPr>
            <p:cNvPr id="7" name="CasellaDiTesto 9">
              <a:extLst>
                <a:ext uri="{FF2B5EF4-FFF2-40B4-BE49-F238E27FC236}">
                  <a16:creationId xmlns:a16="http://schemas.microsoft.com/office/drawing/2014/main" id="{C1E9CF1D-80A3-89F1-27B7-3BD3CD1A51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3586" y="6356295"/>
              <a:ext cx="3118020" cy="3385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Calibri" panose="020F0502020204030204" pitchFamily="34" charset="0"/>
                  <a:ea typeface="Microsoft YaHei UI" panose="020B0503020204020204" pitchFamily="34" charset="-122"/>
                  <a:cs typeface="Calibri" panose="020F0502020204030204" pitchFamily="34" charset="0"/>
                </a:rPr>
                <a:t>Maria </a:t>
              </a:r>
              <a:r>
                <a:rPr kumimoji="0" lang="en-GB" sz="16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Calibri" panose="020F0502020204030204" pitchFamily="34" charset="0"/>
                  <a:ea typeface="Microsoft YaHei UI" panose="020B0503020204020204" pitchFamily="34" charset="-122"/>
                  <a:cs typeface="Calibri" panose="020F0502020204030204" pitchFamily="34" charset="0"/>
                </a:rPr>
                <a:t>Doglioni</a:t>
              </a: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Calibri" panose="020F0502020204030204" pitchFamily="34" charset="0"/>
                <a:ea typeface="Microsoft YaHei UI" panose="020B0503020204020204" pitchFamily="34" charset="-122"/>
                <a:cs typeface="Calibri" panose="020F0502020204030204" pitchFamily="34" charset="0"/>
              </a:endParaRPr>
            </a:p>
          </p:txBody>
        </p:sp>
        <p:pic>
          <p:nvPicPr>
            <p:cNvPr id="8" name="Immagine 25" descr="Immagine che contiene persona, albero, esterni, uomo&#10;&#10;Descrizione generata automaticamente">
              <a:extLst>
                <a:ext uri="{FF2B5EF4-FFF2-40B4-BE49-F238E27FC236}">
                  <a16:creationId xmlns:a16="http://schemas.microsoft.com/office/drawing/2014/main" id="{65018EF2-D8C4-59F6-15F0-3290678A3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67" t="2786" r="-1567" b="1097"/>
            <a:stretch/>
          </p:blipFill>
          <p:spPr>
            <a:xfrm>
              <a:off x="4928616" y="4946358"/>
              <a:ext cx="1143000" cy="136594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1" name="CasellaDiTesto 9">
              <a:extLst>
                <a:ext uri="{FF2B5EF4-FFF2-40B4-BE49-F238E27FC236}">
                  <a16:creationId xmlns:a16="http://schemas.microsoft.com/office/drawing/2014/main" id="{D96F3674-08B4-506A-5929-3BD0401573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-700964" y="6356295"/>
              <a:ext cx="3256137" cy="3385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 u="none">
                  <a:latin typeface="Calibri" panose="020F0502020204030204" pitchFamily="34" charset="0"/>
                  <a:ea typeface="Microsoft YaHei UI" panose="020B0503020204020204" pitchFamily="34" charset="-122"/>
                  <a:cs typeface="Calibri" panose="020F0502020204030204" pitchFamily="34" charset="0"/>
                </a:defRPr>
              </a:lvl1pPr>
              <a:lvl2pPr marL="742950" indent="-285750"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Calibri" panose="020F0502020204030204" pitchFamily="34" charset="0"/>
                  <a:ea typeface="Microsoft YaHei UI" panose="020B0503020204020204" pitchFamily="34" charset="-122"/>
                  <a:cs typeface="Calibri" panose="020F0502020204030204" pitchFamily="34" charset="0"/>
                </a:rPr>
                <a:t>Giuseppe Pasquini</a:t>
              </a:r>
            </a:p>
          </p:txBody>
        </p:sp>
        <p:sp>
          <p:nvSpPr>
            <p:cNvPr id="13" name="CasellaDiTesto 9">
              <a:extLst>
                <a:ext uri="{FF2B5EF4-FFF2-40B4-BE49-F238E27FC236}">
                  <a16:creationId xmlns:a16="http://schemas.microsoft.com/office/drawing/2014/main" id="{8A582427-D980-B4BF-D2CF-650EC689B6F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79723" y="6347174"/>
              <a:ext cx="280701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 u="none">
                  <a:latin typeface="Calibri" panose="020F0502020204030204" pitchFamily="34" charset="0"/>
                  <a:ea typeface="Microsoft YaHei UI" panose="020B0503020204020204" pitchFamily="34" charset="-122"/>
                  <a:cs typeface="Calibri" panose="020F0502020204030204" pitchFamily="34" charset="0"/>
                </a:defRPr>
              </a:lvl1pPr>
              <a:lvl2pPr marL="742950" indent="-285750"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u="sng"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Calibri" panose="020F0502020204030204" pitchFamily="34" charset="0"/>
                  <a:ea typeface="Microsoft YaHei UI" panose="020B0503020204020204" pitchFamily="34" charset="-122"/>
                  <a:cs typeface="Calibri" panose="020F0502020204030204" pitchFamily="34" charset="0"/>
                </a:rPr>
                <a:t>Prof. Davide Brunelli</a:t>
              </a:r>
            </a:p>
          </p:txBody>
        </p:sp>
        <p:pic>
          <p:nvPicPr>
            <p:cNvPr id="14" name="Picture 13" descr="A person with long hair&#10;&#10;Description automatically generated with low confidence">
              <a:extLst>
                <a:ext uri="{FF2B5EF4-FFF2-40B4-BE49-F238E27FC236}">
                  <a16:creationId xmlns:a16="http://schemas.microsoft.com/office/drawing/2014/main" id="{4076600D-F365-38C4-F436-B3943CDCA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386" r="183"/>
            <a:stretch>
              <a:fillRect/>
            </a:stretch>
          </p:blipFill>
          <p:spPr>
            <a:xfrm>
              <a:off x="1911096" y="4946356"/>
              <a:ext cx="1143000" cy="1353751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0CB042B-29EA-3905-246B-0119FDC3A17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94" t="10129" r="6515"/>
            <a:stretch>
              <a:fillRect/>
            </a:stretch>
          </p:blipFill>
          <p:spPr>
            <a:xfrm>
              <a:off x="400104" y="4946357"/>
              <a:ext cx="1143000" cy="135492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D068FFE-E46B-FA58-3315-5D100CE49B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94" r="10094"/>
            <a:stretch/>
          </p:blipFill>
          <p:spPr>
            <a:xfrm>
              <a:off x="3419856" y="4946356"/>
              <a:ext cx="1143000" cy="1353751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pic>
        <p:nvPicPr>
          <p:cNvPr id="22" name="Picture 21" descr="A person riding a bike on a mountain&#10;&#10;AI-generated content may be incorrect.">
            <a:extLst>
              <a:ext uri="{FF2B5EF4-FFF2-40B4-BE49-F238E27FC236}">
                <a16:creationId xmlns:a16="http://schemas.microsoft.com/office/drawing/2014/main" id="{A3724B92-3183-B245-12C5-9815732DCBC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104" y="1110730"/>
            <a:ext cx="955900" cy="955900"/>
          </a:xfrm>
          <a:prstGeom prst="rect">
            <a:avLst/>
          </a:prstGeom>
        </p:spPr>
      </p:pic>
      <p:pic>
        <p:nvPicPr>
          <p:cNvPr id="23" name="Picture 22" descr="A person riding a bike on a mountain&#10;&#10;AI-generated content may be incorrect.">
            <a:extLst>
              <a:ext uri="{FF2B5EF4-FFF2-40B4-BE49-F238E27FC236}">
                <a16:creationId xmlns:a16="http://schemas.microsoft.com/office/drawing/2014/main" id="{D601BBEA-7236-778C-1958-6B382327427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996" y="1110730"/>
            <a:ext cx="955900" cy="95590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DA1773AD-0126-4E16-89B0-F0ED993FC3E4}"/>
              </a:ext>
            </a:extLst>
          </p:cNvPr>
          <p:cNvSpPr txBox="1"/>
          <p:nvPr/>
        </p:nvSpPr>
        <p:spPr>
          <a:xfrm>
            <a:off x="630643" y="3136612"/>
            <a:ext cx="672142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noProof="0" dirty="0"/>
              <a:t>Thank you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3571440942"/>
      </p:ext>
    </p:extLst>
  </p:cSld>
  <p:clrMapOvr>
    <a:masterClrMapping/>
  </p:clrMapOvr>
</p:sld>
</file>

<file path=ppt/theme/theme1.xml><?xml version="1.0" encoding="utf-8"?>
<a:theme xmlns:a="http://schemas.openxmlformats.org/drawingml/2006/main" name="1_Dividendi">
  <a:themeElements>
    <a:clrScheme name="Custom 8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C8102E"/>
      </a:accent1>
      <a:accent2>
        <a:srgbClr val="920C22"/>
      </a:accent2>
      <a:accent3>
        <a:srgbClr val="F04A66"/>
      </a:accent3>
      <a:accent4>
        <a:srgbClr val="C8102E"/>
      </a:accent4>
      <a:accent5>
        <a:srgbClr val="F3677E"/>
      </a:accent5>
      <a:accent6>
        <a:srgbClr val="FFC000"/>
      </a:accent6>
      <a:hlink>
        <a:srgbClr val="920C22"/>
      </a:hlink>
      <a:folHlink>
        <a:srgbClr val="262626"/>
      </a:folHlink>
    </a:clrScheme>
    <a:fontScheme name="Dividendi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i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Dividendi">
  <a:themeElements>
    <a:clrScheme name="Custom 8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C8102E"/>
      </a:accent1>
      <a:accent2>
        <a:srgbClr val="920C22"/>
      </a:accent2>
      <a:accent3>
        <a:srgbClr val="F04A66"/>
      </a:accent3>
      <a:accent4>
        <a:srgbClr val="C8102E"/>
      </a:accent4>
      <a:accent5>
        <a:srgbClr val="F3677E"/>
      </a:accent5>
      <a:accent6>
        <a:srgbClr val="FFC000"/>
      </a:accent6>
      <a:hlink>
        <a:srgbClr val="920C22"/>
      </a:hlink>
      <a:folHlink>
        <a:srgbClr val="262626"/>
      </a:folHlink>
    </a:clrScheme>
    <a:fontScheme name="Dividendi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i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11331</TotalTime>
  <Words>1297</Words>
  <Application>Microsoft Office PowerPoint</Application>
  <PresentationFormat>Widescreen</PresentationFormat>
  <Paragraphs>237</Paragraphs>
  <Slides>23</Slides>
  <Notes>23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23</vt:i4>
      </vt:variant>
    </vt:vector>
  </HeadingPairs>
  <TitlesOfParts>
    <vt:vector size="32" baseType="lpstr">
      <vt:lpstr>Aptos</vt:lpstr>
      <vt:lpstr>Arial</vt:lpstr>
      <vt:lpstr>Calibri</vt:lpstr>
      <vt:lpstr>Gill Sans MT</vt:lpstr>
      <vt:lpstr>Grandview</vt:lpstr>
      <vt:lpstr>Times New Roman</vt:lpstr>
      <vt:lpstr>Wingdings 2</vt:lpstr>
      <vt:lpstr>1_Dividendi</vt:lpstr>
      <vt:lpstr>Dividendi</vt:lpstr>
      <vt:lpstr>FINAL RESULTS Self-powered co-harvesting for batteryless sensing and actuation in two-wheeled IoT applications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The problem: too many batteries</vt:lpstr>
      <vt:lpstr>Core idea</vt:lpstr>
      <vt:lpstr>Hybrid system concept</vt:lpstr>
      <vt:lpstr>Solar harvesting (PV)</vt:lpstr>
      <vt:lpstr>Thermoelectric harvesting (TEG)</vt:lpstr>
      <vt:lpstr>Real TEG setup on the bike</vt:lpstr>
      <vt:lpstr>TEG on-field results</vt:lpstr>
      <vt:lpstr>What we do with the energy: Two Use Cases</vt:lpstr>
      <vt:lpstr>Use Case #1: Batteryless Telemetry</vt:lpstr>
      <vt:lpstr>Use Case #2: Powering Commercial Devices</vt:lpstr>
      <vt:lpstr>Key takeaways</vt:lpstr>
      <vt:lpstr>Conclusions &amp; future work</vt:lpstr>
      <vt:lpstr>Self-powered co-harvesting for batteryless sensing and monitoring in two-wheeled IoT applications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Doglioni</dc:creator>
  <cp:lastModifiedBy>The Bepps</cp:lastModifiedBy>
  <cp:revision>28</cp:revision>
  <cp:lastPrinted>2025-10-24T14:45:22Z</cp:lastPrinted>
  <dcterms:created xsi:type="dcterms:W3CDTF">2024-09-16T07:54:47Z</dcterms:created>
  <dcterms:modified xsi:type="dcterms:W3CDTF">2026-02-02T15:37:58Z</dcterms:modified>
</cp:coreProperties>
</file>