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3" r:id="rId2"/>
  </p:sldMasterIdLst>
  <p:notesMasterIdLst>
    <p:notesMasterId r:id="rId14"/>
  </p:notesMasterIdLst>
  <p:sldIdLst>
    <p:sldId id="989" r:id="rId3"/>
    <p:sldId id="1058" r:id="rId4"/>
    <p:sldId id="1087" r:id="rId5"/>
    <p:sldId id="1088" r:id="rId6"/>
    <p:sldId id="1089" r:id="rId7"/>
    <p:sldId id="1090" r:id="rId8"/>
    <p:sldId id="1091" r:id="rId9"/>
    <p:sldId id="1092" r:id="rId10"/>
    <p:sldId id="1093" r:id="rId11"/>
    <p:sldId id="1094" r:id="rId12"/>
    <p:sldId id="1095" r:id="rId13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A00"/>
    <a:srgbClr val="30A650"/>
    <a:srgbClr val="FDD151"/>
    <a:srgbClr val="EA4235"/>
    <a:srgbClr val="EA4739"/>
    <a:srgbClr val="397F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110" autoAdjust="0"/>
    <p:restoredTop sz="95527" autoAdjust="0"/>
  </p:normalViewPr>
  <p:slideViewPr>
    <p:cSldViewPr snapToGrid="0">
      <p:cViewPr varScale="1">
        <p:scale>
          <a:sx n="93" d="100"/>
          <a:sy n="93" d="100"/>
        </p:scale>
        <p:origin x="126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554"/>
    </p:cViewPr>
  </p:sorterViewPr>
  <p:notesViewPr>
    <p:cSldViewPr snapToGrid="0">
      <p:cViewPr varScale="1">
        <p:scale>
          <a:sx n="71" d="100"/>
          <a:sy n="71" d="100"/>
        </p:scale>
        <p:origin x="2742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F05510-8F20-4855-92F5-1C6E04172244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F7C705-EDF9-4E83-8E9D-D876313D7C0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24303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B2BEFE3-C87D-45B0-A113-D47012EFAB8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881390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25B2D-3DCE-880A-3A61-52A800A5B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0CDD519-5305-66D5-BC7F-9C018AADB2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F83D2E3-2CD0-E003-9063-09DBCFD035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507133C-A392-4B55-A75F-DD895CDAF6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B2BEFE3-C87D-45B0-A113-D47012EFAB8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317127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E7300-408B-7E14-EA80-2BB120C8B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C418DC2-8FFB-71D4-38FD-DE7BC4A63A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0DCA272-F619-E619-B820-3FAF4A89EC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985B0A7-6CCC-6633-4A80-9155E57956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B2BEFE3-C87D-45B0-A113-D47012EFAB8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232982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FC6D8-29E3-6B3E-2B86-F71EBC8B2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A4D228B-BC47-6D4B-0EB2-D93F17E4B3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267A71D-5FAE-096C-0CED-6F8AA02B9B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BCC88FC-CC43-F91C-35DD-804C464FEA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B2BEFE3-C87D-45B0-A113-D47012EFAB8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251382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F92E4-E870-9163-6BC5-82FBE18C8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6FAC4DB-7620-5F75-5052-3D8128AC07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584E75B-EE0A-F3DB-1538-77ACF45777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C534482-25D0-36F2-B85E-BE3939BFC0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B2BEFE3-C87D-45B0-A113-D47012EFAB8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02786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E2A3A-3F81-FD4A-390A-6591E05AE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3FF0595-726F-D89B-2F00-641B54F43B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AD0F30D-DB48-8D8A-C82B-95DB824C6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EF561BB-A0AA-7FE0-7334-0DE5320082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B2BEFE3-C87D-45B0-A113-D47012EFAB8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61178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DE54C-F72A-7CF5-3EBD-121E40A35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75DCB5C-B979-A995-3BF0-248937B424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9D7CC4B-1203-6572-7C0B-749915D754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60C20CD-E313-4E0A-A4BB-808A6550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B2BEFE3-C87D-45B0-A113-D47012EFAB8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5960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CCA96-7A7B-DD64-2884-12DF24648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26E7051-49E5-1523-FA7F-C36C45B715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802F1AC-F561-4DB3-320F-AAC02F6574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E13641B-9306-EFAE-34E1-262476EAE7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B2BEFE3-C87D-45B0-A113-D47012EFAB8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982605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9417D-B673-4AB8-4809-66F127D10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E77B999-B558-F580-ADEB-A13E63557F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08F143C-A7F3-13AD-5A4B-9B024BDB45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B95879E-F6B0-8610-08C8-0FC351751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B2BEFE3-C87D-45B0-A113-D47012EFAB8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25093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9A02D-C047-B005-F3E2-D203DC37D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232043B-3734-FA9B-61B6-A79F2DBDD5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2DCCCD2-5C0D-4A80-5260-855362D6F2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2B23C2F-7EF9-41FE-1114-AF046B2F97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B2BEFE3-C87D-45B0-A113-D47012EFAB8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90898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28BA0-1358-7D99-267F-383DE4C5D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CD19B8E-5102-162A-8580-CCA40275EB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EC5BD71-4A92-9D4A-6ED9-7006CBCC4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B4E5AD-76DD-D84B-42E4-4DF8ECC4D7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B2BEFE3-C87D-45B0-A113-D47012EFAB8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41122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0" y="5599173"/>
            <a:ext cx="1219200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4" y="3043911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none" baseline="0">
                <a:solidFill>
                  <a:schemeClr val="accent1"/>
                </a:solidFill>
              </a:defRPr>
            </a:lvl1pPr>
          </a:lstStyle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4" y="4541418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none" baseline="0">
                <a:solidFill>
                  <a:schemeClr val="accent2"/>
                </a:solidFill>
              </a:defRPr>
            </a:lvl1pPr>
            <a:lvl2pPr marL="45718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72579" y="6356424"/>
            <a:ext cx="2844799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defTabSz="457189"/>
            <a:endParaRPr lang="it-IT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47818" y="6352098"/>
            <a:ext cx="69172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defTabSz="457189"/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927" y="6356424"/>
            <a:ext cx="10525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defTabSz="457189"/>
            <a:endParaRPr lang="it-IT"/>
          </a:p>
          <a:p>
            <a:pPr defTabSz="457189"/>
            <a:endParaRPr lang="it-IT" dirty="0"/>
          </a:p>
        </p:txBody>
      </p:sp>
      <p:pic>
        <p:nvPicPr>
          <p:cNvPr id="9" name="Immagine 14">
            <a:extLst>
              <a:ext uri="{FF2B5EF4-FFF2-40B4-BE49-F238E27FC236}">
                <a16:creationId xmlns:a16="http://schemas.microsoft.com/office/drawing/2014/main" id="{4A783CF1-9FD3-89CD-6915-13ADA57969E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9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3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31277" y="3276931"/>
            <a:ext cx="6838950" cy="683895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E53C8DA-2C2B-CB73-D995-3330E56BE781}"/>
              </a:ext>
            </a:extLst>
          </p:cNvPr>
          <p:cNvSpPr/>
          <p:nvPr userDrawn="1"/>
        </p:nvSpPr>
        <p:spPr>
          <a:xfrm>
            <a:off x="581194" y="1801898"/>
            <a:ext cx="3808092" cy="7481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890398"/>
      </p:ext>
    </p:extLst>
  </p:cSld>
  <p:clrMapOvr>
    <a:masterClrMapping/>
  </p:clrMapOvr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00810" y="6440536"/>
            <a:ext cx="1867783" cy="36512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pPr defTabSz="457189"/>
            <a:endParaRPr lang="it-IT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73006" y="6431865"/>
            <a:ext cx="6820256" cy="36512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pPr defTabSz="457189"/>
            <a:endParaRPr lang="it-IT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5"/>
            <a:ext cx="11300036" cy="63111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451281" y="668106"/>
            <a:ext cx="11029616" cy="508015"/>
          </a:xfrm>
        </p:spPr>
        <p:txBody>
          <a:bodyPr/>
          <a:lstStyle>
            <a:lvl1pPr>
              <a:defRPr cap="none" baseline="0"/>
            </a:lvl1pPr>
          </a:lstStyle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  <p:pic>
        <p:nvPicPr>
          <p:cNvPr id="2" name="Immagine 6">
            <a:extLst>
              <a:ext uri="{FF2B5EF4-FFF2-40B4-BE49-F238E27FC236}">
                <a16:creationId xmlns:a16="http://schemas.microsoft.com/office/drawing/2014/main" id="{91501FE4-A3FB-EAE8-FEB8-8A0AC06A5AB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0854" y="5896990"/>
            <a:ext cx="900000" cy="900000"/>
          </a:xfrm>
          <a:prstGeom prst="rect">
            <a:avLst/>
          </a:prstGeom>
        </p:spPr>
      </p:pic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9C898440-A091-A6AA-359D-36F697BE0201}"/>
              </a:ext>
            </a:extLst>
          </p:cNvPr>
          <p:cNvSpPr txBox="1">
            <a:spLocks/>
          </p:cNvSpPr>
          <p:nvPr userDrawn="1"/>
        </p:nvSpPr>
        <p:spPr>
          <a:xfrm>
            <a:off x="10076141" y="6440536"/>
            <a:ext cx="6919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914400" rtl="0" eaLnBrk="1" latinLnBrk="0" hangingPunct="1">
              <a:defRPr sz="9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C365D6E-99C1-4841-AC06-39C757C2E5A2}" type="slidenum">
              <a:rPr lang="it-IT" smtClean="0"/>
              <a:pPr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76100673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>
            <a:extLst>
              <a:ext uri="{FF2B5EF4-FFF2-40B4-BE49-F238E27FC236}">
                <a16:creationId xmlns:a16="http://schemas.microsoft.com/office/drawing/2014/main" id="{819A776B-6E34-13AC-16D3-B2FEC60291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00810" y="6440536"/>
            <a:ext cx="2844799" cy="36512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pPr defTabSz="457189"/>
            <a:endParaRPr lang="it-IT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BA035B54-581B-D9E9-BE0A-BFDA327DF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73006" y="6431865"/>
            <a:ext cx="6820256" cy="36512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pPr defTabSz="457189"/>
            <a:endParaRPr lang="it-IT" dirty="0"/>
          </a:p>
        </p:txBody>
      </p:sp>
      <p:sp>
        <p:nvSpPr>
          <p:cNvPr id="7" name="Segnaposto numero diapositiva 5">
            <a:extLst>
              <a:ext uri="{FF2B5EF4-FFF2-40B4-BE49-F238E27FC236}">
                <a16:creationId xmlns:a16="http://schemas.microsoft.com/office/drawing/2014/main" id="{CE7EBCD5-8B9C-3EB4-CD84-2CEC0EF7E191}"/>
              </a:ext>
            </a:extLst>
          </p:cNvPr>
          <p:cNvSpPr txBox="1">
            <a:spLocks/>
          </p:cNvSpPr>
          <p:nvPr userDrawn="1"/>
        </p:nvSpPr>
        <p:spPr>
          <a:xfrm>
            <a:off x="11053157" y="6436211"/>
            <a:ext cx="105251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914400" rtl="0" eaLnBrk="1" latinLnBrk="0" hangingPunct="1">
              <a:defRPr sz="9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C365D6E-99C1-4841-AC06-39C757C2E5A2}" type="slidenum">
              <a:rPr lang="it-IT" smtClean="0"/>
              <a:pPr/>
              <a:t>‹N›</a:t>
            </a:fld>
            <a:endParaRPr lang="it-IT" dirty="0"/>
          </a:p>
        </p:txBody>
      </p:sp>
      <p:pic>
        <p:nvPicPr>
          <p:cNvPr id="8" name="Immagine 6">
            <a:extLst>
              <a:ext uri="{FF2B5EF4-FFF2-40B4-BE49-F238E27FC236}">
                <a16:creationId xmlns:a16="http://schemas.microsoft.com/office/drawing/2014/main" id="{65F19420-913D-1FE1-EA65-1FA0D05E2B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0854" y="5896990"/>
            <a:ext cx="900000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479246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1FAB41-29E5-892A-3D4A-E48A65221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B8FF01B-54E8-EB84-E424-5CB4381B07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CE1F428-BE28-C521-8BFE-DA1CAD8C9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456F9-5324-E24F-B3F0-0DBA7E0CFF8E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AF9F7B6-E91C-5756-D0E9-4D88F2C58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214BFE-01EF-2771-8F0E-3AB45B5FA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FF076-883C-FC43-9240-C85BCC9BEA6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45578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42A24D-E835-1CD5-1C1E-F0E6B7595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1DF2D58-D70F-4F84-9DB1-61C47F445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D910A1C-F452-C41D-3836-EAF4A852B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456F9-5324-E24F-B3F0-0DBA7E0CFF8E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07D01D0-41FD-D5CD-E047-CB342ED12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6D573CF-1343-0DBC-78A0-9DD160F5D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FF076-883C-FC43-9240-C85BCC9BEA6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56876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3" y="5956138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defTabSz="457189"/>
            <a:endParaRPr lang="it-IT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2"/>
            <a:ext cx="691721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defTabSz="457189"/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1" y="5956138"/>
            <a:ext cx="105251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defTabSz="457189"/>
            <a:endParaRPr lang="it-IT"/>
          </a:p>
          <a:p>
            <a:pPr defTabSz="457189"/>
            <a:endParaRPr lang="it-IT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1CC3BF5-0D5C-D142-6DFC-2AA3E159548A}"/>
              </a:ext>
            </a:extLst>
          </p:cNvPr>
          <p:cNvGrpSpPr/>
          <p:nvPr userDrawn="1"/>
        </p:nvGrpSpPr>
        <p:grpSpPr>
          <a:xfrm>
            <a:off x="2699999" y="462336"/>
            <a:ext cx="9002265" cy="89819"/>
            <a:chOff x="446535" y="453643"/>
            <a:chExt cx="11298932" cy="98555"/>
          </a:xfrm>
        </p:grpSpPr>
        <p:sp>
          <p:nvSpPr>
            <p:cNvPr id="9" name="Rectangle 8"/>
            <p:cNvSpPr/>
            <p:nvPr/>
          </p:nvSpPr>
          <p:spPr>
            <a:xfrm>
              <a:off x="446535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8042147" y="453643"/>
              <a:ext cx="3703320" cy="98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241831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8" name="Picture 7" descr="Text&#10;&#10;Description automatically generated with medium confidence">
            <a:extLst>
              <a:ext uri="{FF2B5EF4-FFF2-40B4-BE49-F238E27FC236}">
                <a16:creationId xmlns:a16="http://schemas.microsoft.com/office/drawing/2014/main" id="{C5D32FFA-79B1-56CE-6A51-9294E3FE311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792" y="131053"/>
            <a:ext cx="2402189" cy="743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794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hdr="0"/>
  <p:txStyles>
    <p:titleStyle>
      <a:lvl1pPr algn="l" defTabSz="457189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5992" indent="-305992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29984" indent="-305992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899978" indent="-269993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1969" indent="-2339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1960" indent="-2339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899953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199945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499938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799930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3" y="5956138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defTabSz="457189"/>
            <a:endParaRPr lang="it-IT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2"/>
            <a:ext cx="691721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defTabSz="457189"/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1" y="5956138"/>
            <a:ext cx="105251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defTabSz="457189"/>
            <a:endParaRPr lang="it-IT"/>
          </a:p>
          <a:p>
            <a:pPr defTabSz="457189"/>
            <a:endParaRPr lang="it-IT" dirty="0"/>
          </a:p>
        </p:txBody>
      </p:sp>
      <p:sp>
        <p:nvSpPr>
          <p:cNvPr id="9" name="Rectangle 8"/>
          <p:cNvSpPr/>
          <p:nvPr/>
        </p:nvSpPr>
        <p:spPr>
          <a:xfrm>
            <a:off x="446535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1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606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</p:sldLayoutIdLst>
  <p:hf hdr="0"/>
  <p:txStyles>
    <p:titleStyle>
      <a:lvl1pPr algn="l" defTabSz="457189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5992" indent="-305992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29984" indent="-305992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899978" indent="-269993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1969" indent="-2339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1960" indent="-2339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899953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199945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499938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799930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E4708-9008-4482-8948-94497CF1C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1170" y="1936058"/>
            <a:ext cx="9169659" cy="1492942"/>
          </a:xfrm>
        </p:spPr>
        <p:txBody>
          <a:bodyPr>
            <a:normAutofit fontScale="90000"/>
          </a:bodyPr>
          <a:lstStyle/>
          <a:p>
            <a:pPr algn="ctr"/>
            <a:r>
              <a:rPr lang="en-GB" sz="3200" b="1" noProof="0" dirty="0"/>
              <a:t>FINAL RESULTS</a:t>
            </a:r>
            <a:br>
              <a:rPr lang="en-GB" sz="3200" b="1" noProof="0" dirty="0"/>
            </a:br>
            <a:r>
              <a:rPr lang="en-GB" sz="3200" b="1" noProof="0" dirty="0"/>
              <a:t>Self-powered co-harvesting for </a:t>
            </a:r>
            <a:r>
              <a:rPr lang="en-GB" sz="3200" b="1" noProof="0" dirty="0" err="1"/>
              <a:t>batteryless</a:t>
            </a:r>
            <a:r>
              <a:rPr lang="en-GB" sz="3200" b="1" noProof="0" dirty="0"/>
              <a:t> sensing and actuation in two-wheeled IoT applications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B5AA19E-EA80-71A9-0E7D-A8DE4A0372B8}"/>
              </a:ext>
            </a:extLst>
          </p:cNvPr>
          <p:cNvSpPr txBox="1"/>
          <p:nvPr/>
        </p:nvSpPr>
        <p:spPr>
          <a:xfrm>
            <a:off x="4741524" y="4269014"/>
            <a:ext cx="7050372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endParaRPr lang="en-GB" sz="2400" noProof="0" dirty="0">
              <a:solidFill>
                <a:srgbClr val="C8102E"/>
              </a:solidFill>
            </a:endParaRPr>
          </a:p>
          <a:p>
            <a:pPr lvl="0" algn="r">
              <a:defRPr/>
            </a:pPr>
            <a:r>
              <a:rPr lang="en-GB" sz="2000" noProof="0" dirty="0">
                <a:solidFill>
                  <a:srgbClr val="C8102E"/>
                </a:solidFill>
              </a:rPr>
              <a:t>University of Trento</a:t>
            </a:r>
            <a:br>
              <a:rPr lang="en-GB" sz="2000" noProof="0" dirty="0">
                <a:solidFill>
                  <a:srgbClr val="C8102E"/>
                </a:solidFill>
              </a:rPr>
            </a:br>
            <a:r>
              <a:rPr lang="en-GB" sz="2000" noProof="0" dirty="0">
                <a:solidFill>
                  <a:srgbClr val="C8102E"/>
                </a:solidFill>
              </a:rPr>
              <a:t>Department of Industrial Engineering (DII)</a:t>
            </a:r>
          </a:p>
          <a:p>
            <a:pPr lvl="0" algn="r">
              <a:defRPr/>
            </a:pPr>
            <a:endParaRPr lang="en-GB" noProof="0" dirty="0">
              <a:solidFill>
                <a:srgbClr val="C8102E"/>
              </a:solidFill>
            </a:endParaRPr>
          </a:p>
        </p:txBody>
      </p:sp>
      <p:sp>
        <p:nvSpPr>
          <p:cNvPr id="3" name="CasellaDiTesto 5">
            <a:extLst>
              <a:ext uri="{FF2B5EF4-FFF2-40B4-BE49-F238E27FC236}">
                <a16:creationId xmlns:a16="http://schemas.microsoft.com/office/drawing/2014/main" id="{089AB882-1711-5F38-67DA-F3B3AF84DD3D}"/>
              </a:ext>
            </a:extLst>
          </p:cNvPr>
          <p:cNvSpPr txBox="1"/>
          <p:nvPr/>
        </p:nvSpPr>
        <p:spPr>
          <a:xfrm>
            <a:off x="400104" y="6055633"/>
            <a:ext cx="45559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2000" noProof="0" dirty="0">
                <a:solidFill>
                  <a:prstClr val="white"/>
                </a:solidFill>
              </a:rPr>
              <a:t>Giuseppe Pasquini 239978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34278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77A7A-6325-7097-0F15-805D53B86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DAE2BE2E-4DF6-E08C-41E6-B1A228E9E8F7}"/>
              </a:ext>
            </a:extLst>
          </p:cNvPr>
          <p:cNvSpPr txBox="1">
            <a:spLocks/>
          </p:cNvSpPr>
          <p:nvPr/>
        </p:nvSpPr>
        <p:spPr>
          <a:xfrm>
            <a:off x="451281" y="638608"/>
            <a:ext cx="11029616" cy="50801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457189" rtl="0" eaLnBrk="1" latinLnBrk="0" hangingPunct="1">
              <a:spcBef>
                <a:spcPct val="0"/>
              </a:spcBef>
              <a:buNone/>
              <a:defRPr sz="2800" b="0" kern="1200" cap="none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noProof="0" dirty="0"/>
              <a:t>Final schema</a:t>
            </a:r>
          </a:p>
        </p:txBody>
      </p:sp>
      <p:pic>
        <p:nvPicPr>
          <p:cNvPr id="4" name="Immagine 3" descr="Immagine che contiene testo, diagramma, Piano, mappa&#10;&#10;Il contenuto generato dall'IA potrebbe non essere corretto.">
            <a:extLst>
              <a:ext uri="{FF2B5EF4-FFF2-40B4-BE49-F238E27FC236}">
                <a16:creationId xmlns:a16="http://schemas.microsoft.com/office/drawing/2014/main" id="{CA7A7EB9-E8AF-883E-A7EA-241C3974A5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2" t="4372" r="2794" b="3989"/>
          <a:stretch>
            <a:fillRect/>
          </a:stretch>
        </p:blipFill>
        <p:spPr>
          <a:xfrm>
            <a:off x="2239766" y="1315092"/>
            <a:ext cx="7726168" cy="531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0779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4057-37AA-EAC0-BBCC-D50E7240F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CD195F32-1B69-481E-4E81-C926747EDB82}"/>
              </a:ext>
            </a:extLst>
          </p:cNvPr>
          <p:cNvSpPr txBox="1">
            <a:spLocks/>
          </p:cNvSpPr>
          <p:nvPr/>
        </p:nvSpPr>
        <p:spPr>
          <a:xfrm>
            <a:off x="451281" y="638608"/>
            <a:ext cx="11029616" cy="50801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457189" rtl="0" eaLnBrk="1" latinLnBrk="0" hangingPunct="1">
              <a:spcBef>
                <a:spcPct val="0"/>
              </a:spcBef>
              <a:buNone/>
              <a:defRPr sz="2800" b="0" kern="1200" cap="none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noProof="0" dirty="0"/>
              <a:t>Co-harvesting inputs</a:t>
            </a:r>
          </a:p>
        </p:txBody>
      </p:sp>
      <p:pic>
        <p:nvPicPr>
          <p:cNvPr id="3" name="Immagine 2" descr="Immagine che contiene testo, diagramma, Piano, mappa&#10;&#10;Il contenuto generato dall'IA potrebbe non essere corretto.">
            <a:extLst>
              <a:ext uri="{FF2B5EF4-FFF2-40B4-BE49-F238E27FC236}">
                <a16:creationId xmlns:a16="http://schemas.microsoft.com/office/drawing/2014/main" id="{5B8405E8-2045-F917-6995-9D59F5F553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886" y="1269013"/>
            <a:ext cx="9926227" cy="5022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7783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B5DB5-7C42-6B11-F764-C47C02AC3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A2DFFD9A-0215-09E9-A0AE-CB74BD123C96}"/>
              </a:ext>
            </a:extLst>
          </p:cNvPr>
          <p:cNvSpPr txBox="1">
            <a:spLocks/>
          </p:cNvSpPr>
          <p:nvPr/>
        </p:nvSpPr>
        <p:spPr>
          <a:xfrm>
            <a:off x="451281" y="638608"/>
            <a:ext cx="11029616" cy="50801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457189" rtl="0" eaLnBrk="1" latinLnBrk="0" hangingPunct="1">
              <a:spcBef>
                <a:spcPct val="0"/>
              </a:spcBef>
              <a:buNone/>
              <a:defRPr sz="2800" b="0" kern="1200" cap="none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noProof="0" dirty="0"/>
              <a:t>Co-harvesting load switch</a:t>
            </a:r>
          </a:p>
        </p:txBody>
      </p:sp>
      <p:pic>
        <p:nvPicPr>
          <p:cNvPr id="4" name="Immagine 3" descr="Immagine che contiene testo, diagramma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9939B464-FE0F-F434-A098-67BA19037A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1990" y="1230004"/>
            <a:ext cx="5708020" cy="5273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926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732F0-C8BB-443C-206D-27D951917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96EEC348-50C3-3C49-890B-18902863D2F2}"/>
              </a:ext>
            </a:extLst>
          </p:cNvPr>
          <p:cNvSpPr txBox="1">
            <a:spLocks/>
          </p:cNvSpPr>
          <p:nvPr/>
        </p:nvSpPr>
        <p:spPr>
          <a:xfrm>
            <a:off x="451281" y="638608"/>
            <a:ext cx="11029616" cy="50801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457189" rtl="0" eaLnBrk="1" latinLnBrk="0" hangingPunct="1">
              <a:spcBef>
                <a:spcPct val="0"/>
              </a:spcBef>
              <a:buNone/>
              <a:defRPr sz="2800" b="0" kern="1200" cap="none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noProof="0" dirty="0"/>
              <a:t>Co-harvesting current &amp; voltage sense</a:t>
            </a:r>
          </a:p>
        </p:txBody>
      </p:sp>
      <p:pic>
        <p:nvPicPr>
          <p:cNvPr id="15" name="Immagine 14" descr="Immagine che contiene testo, diagramma, Piano, schermata&#10;&#10;Il contenuto generato dall'IA potrebbe non essere corretto.">
            <a:extLst>
              <a:ext uri="{FF2B5EF4-FFF2-40B4-BE49-F238E27FC236}">
                <a16:creationId xmlns:a16="http://schemas.microsoft.com/office/drawing/2014/main" id="{46C70CEC-A5D0-CFD5-DB5B-50AA17D905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2683" y="1402749"/>
            <a:ext cx="4490844" cy="5210461"/>
          </a:xfrm>
          <a:prstGeom prst="rect">
            <a:avLst/>
          </a:prstGeom>
        </p:spPr>
      </p:pic>
      <p:pic>
        <p:nvPicPr>
          <p:cNvPr id="17" name="Immagine 16" descr="Immagine che contiene testo, diagramma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45BFFCBE-9BF0-8F19-C394-C87E502C19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8475" y="2644362"/>
            <a:ext cx="4490844" cy="2727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5854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6AA41-BC24-0DFE-D615-9D92441F8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BF2F80F-30C7-6BBB-58EA-6D2C446BC69B}"/>
              </a:ext>
            </a:extLst>
          </p:cNvPr>
          <p:cNvSpPr txBox="1">
            <a:spLocks/>
          </p:cNvSpPr>
          <p:nvPr/>
        </p:nvSpPr>
        <p:spPr>
          <a:xfrm>
            <a:off x="451281" y="638608"/>
            <a:ext cx="11029616" cy="50801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457189" rtl="0" eaLnBrk="1" latinLnBrk="0" hangingPunct="1">
              <a:spcBef>
                <a:spcPct val="0"/>
              </a:spcBef>
              <a:buNone/>
              <a:defRPr sz="2800" b="0" kern="1200" cap="none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noProof="0" dirty="0"/>
              <a:t>Real ride data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EF4B99B-65F2-9F35-2DA8-1A17F3392080}"/>
              </a:ext>
            </a:extLst>
          </p:cNvPr>
          <p:cNvSpPr txBox="1"/>
          <p:nvPr/>
        </p:nvSpPr>
        <p:spPr>
          <a:xfrm>
            <a:off x="451281" y="1564456"/>
            <a:ext cx="564471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b="1" noProof="0" dirty="0"/>
              <a:t>Ride data:</a:t>
            </a:r>
          </a:p>
          <a:p>
            <a:pPr lvl="0"/>
            <a:r>
              <a:rPr lang="en-GB" noProof="0" dirty="0"/>
              <a:t>Descent: ∼6 km</a:t>
            </a:r>
          </a:p>
          <a:p>
            <a:pPr lvl="0"/>
            <a:r>
              <a:rPr lang="en-GB" noProof="0" dirty="0"/>
              <a:t>Duration: ∼30 min</a:t>
            </a:r>
          </a:p>
          <a:p>
            <a:pPr lvl="0"/>
            <a:r>
              <a:rPr lang="en-GB" noProof="0" dirty="0"/>
              <a:t>Maximum TEG hot-side temperature: 46°C</a:t>
            </a:r>
          </a:p>
          <a:p>
            <a:pPr lvl="0"/>
            <a:r>
              <a:rPr lang="en-GB" noProof="0" dirty="0"/>
              <a:t>Ambient temperature: ∼16°C</a:t>
            </a:r>
          </a:p>
          <a:p>
            <a:pPr lvl="0"/>
            <a:r>
              <a:rPr lang="en-GB" noProof="0" dirty="0"/>
              <a:t>AWG </a:t>
            </a:r>
            <a:r>
              <a:rPr lang="en-GB" noProof="0" dirty="0">
                <a:latin typeface="Grandview" panose="020F0502020204030204" pitchFamily="34" charset="0"/>
              </a:rPr>
              <a:t>ΔT</a:t>
            </a:r>
            <a:r>
              <a:rPr lang="en-GB" noProof="0" dirty="0"/>
              <a:t>: 22°C</a:t>
            </a:r>
          </a:p>
          <a:p>
            <a:pPr lvl="0"/>
            <a:r>
              <a:rPr lang="en-GB" noProof="0" dirty="0"/>
              <a:t>Cloudy conditions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6C61C601-2115-E648-BB27-A7D710F38138}"/>
              </a:ext>
            </a:extLst>
          </p:cNvPr>
          <p:cNvSpPr txBox="1"/>
          <p:nvPr/>
        </p:nvSpPr>
        <p:spPr>
          <a:xfrm>
            <a:off x="6096000" y="1564456"/>
            <a:ext cx="56447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Theoretical performance (from characterisation): </a:t>
            </a:r>
          </a:p>
          <a:p>
            <a:r>
              <a:rPr lang="en-GB" dirty="0"/>
              <a:t>AWG TEG power (</a:t>
            </a:r>
            <a:r>
              <a:rPr lang="en-GB" dirty="0">
                <a:latin typeface="Grandview" panose="020F0502020204030204" pitchFamily="34" charset="0"/>
              </a:rPr>
              <a:t>ΔT</a:t>
            </a:r>
            <a:r>
              <a:rPr lang="en-GB" dirty="0"/>
              <a:t>: 22 °C): 20,5 </a:t>
            </a:r>
            <a:r>
              <a:rPr lang="en-GB" dirty="0" err="1"/>
              <a:t>mW</a:t>
            </a:r>
            <a:endParaRPr lang="en-GB" dirty="0"/>
          </a:p>
          <a:p>
            <a:r>
              <a:rPr lang="en-GB" dirty="0"/>
              <a:t>AWG PV power (100 W/m^2): 3,95 </a:t>
            </a:r>
            <a:r>
              <a:rPr lang="en-GB" dirty="0" err="1"/>
              <a:t>mW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320019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D4EF1-0F45-949F-3F01-A255951B3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3FA44ED-0F49-A21E-4D2D-01B88103DA25}"/>
              </a:ext>
            </a:extLst>
          </p:cNvPr>
          <p:cNvSpPr txBox="1">
            <a:spLocks/>
          </p:cNvSpPr>
          <p:nvPr/>
        </p:nvSpPr>
        <p:spPr>
          <a:xfrm>
            <a:off x="451281" y="638608"/>
            <a:ext cx="11029616" cy="50801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457189" rtl="0" eaLnBrk="1" latinLnBrk="0" hangingPunct="1">
              <a:spcBef>
                <a:spcPct val="0"/>
              </a:spcBef>
              <a:buNone/>
              <a:defRPr sz="2800" b="0" kern="1200" cap="none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noProof="0" dirty="0"/>
              <a:t>Co-harvesting performance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17F9382-E279-2B24-DA78-1E169B5CBB11}"/>
              </a:ext>
            </a:extLst>
          </p:cNvPr>
          <p:cNvSpPr txBox="1"/>
          <p:nvPr/>
        </p:nvSpPr>
        <p:spPr>
          <a:xfrm>
            <a:off x="451281" y="1564456"/>
            <a:ext cx="564471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b="1" noProof="0" dirty="0"/>
              <a:t>Final results:</a:t>
            </a:r>
            <a:br>
              <a:rPr lang="en-GB" b="1" noProof="0" dirty="0"/>
            </a:br>
            <a:r>
              <a:rPr lang="en-GB" noProof="0" dirty="0" err="1"/>
              <a:t>P_teg_awg</a:t>
            </a:r>
            <a:r>
              <a:rPr lang="en-GB" noProof="0" dirty="0"/>
              <a:t>: 18,80 </a:t>
            </a:r>
            <a:r>
              <a:rPr lang="en-GB" noProof="0" dirty="0" err="1"/>
              <a:t>mW</a:t>
            </a:r>
            <a:br>
              <a:rPr lang="en-GB" noProof="0" dirty="0"/>
            </a:br>
            <a:r>
              <a:rPr lang="en-GB" noProof="0" dirty="0" err="1"/>
              <a:t>P_pv_awg</a:t>
            </a:r>
            <a:r>
              <a:rPr lang="en-GB" noProof="0" dirty="0"/>
              <a:t>: 3,15 </a:t>
            </a:r>
            <a:r>
              <a:rPr lang="en-GB" noProof="0" dirty="0" err="1"/>
              <a:t>mW</a:t>
            </a:r>
            <a:endParaRPr lang="en-GB" noProof="0" dirty="0"/>
          </a:p>
          <a:p>
            <a:pPr lvl="0"/>
            <a:endParaRPr lang="en-GB" b="1" noProof="0" dirty="0"/>
          </a:p>
          <a:p>
            <a:pPr lvl="0"/>
            <a:r>
              <a:rPr lang="en-GB" noProof="0" dirty="0" err="1"/>
              <a:t>E_in</a:t>
            </a:r>
            <a:r>
              <a:rPr lang="en-GB" noProof="0" dirty="0"/>
              <a:t>: 12,55 J</a:t>
            </a:r>
          </a:p>
          <a:p>
            <a:pPr lvl="0"/>
            <a:r>
              <a:rPr lang="en-GB" noProof="0" dirty="0" err="1"/>
              <a:t>E_sto</a:t>
            </a:r>
            <a:r>
              <a:rPr lang="en-GB" noProof="0" dirty="0"/>
              <a:t>: 8,10 J	η = 64,5%</a:t>
            </a:r>
          </a:p>
          <a:p>
            <a:r>
              <a:rPr lang="en-GB" noProof="0" dirty="0" err="1"/>
              <a:t>E_out</a:t>
            </a:r>
            <a:r>
              <a:rPr lang="en-GB" noProof="0" dirty="0"/>
              <a:t>: 7,88 J	η = 62,8%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2B41266-4C95-0F8D-2C60-D31F271110F3}"/>
              </a:ext>
            </a:extLst>
          </p:cNvPr>
          <p:cNvSpPr txBox="1"/>
          <p:nvPr/>
        </p:nvSpPr>
        <p:spPr>
          <a:xfrm>
            <a:off x="5966089" y="1564456"/>
            <a:ext cx="56447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noProof="0" dirty="0"/>
              <a:t>Theoretical performance (from characterisation): </a:t>
            </a:r>
          </a:p>
          <a:p>
            <a:r>
              <a:rPr lang="en-GB" noProof="0" dirty="0"/>
              <a:t>AWG TEG power (</a:t>
            </a:r>
            <a:r>
              <a:rPr lang="en-GB" noProof="0" dirty="0">
                <a:latin typeface="Grandview" panose="020F0502020204030204" pitchFamily="34" charset="0"/>
              </a:rPr>
              <a:t>ΔT</a:t>
            </a:r>
            <a:r>
              <a:rPr lang="en-GB" noProof="0" dirty="0"/>
              <a:t>: 22°C): 20,5 </a:t>
            </a:r>
            <a:r>
              <a:rPr lang="en-GB" noProof="0" dirty="0" err="1"/>
              <a:t>mW</a:t>
            </a:r>
            <a:endParaRPr lang="en-GB" noProof="0" dirty="0"/>
          </a:p>
          <a:p>
            <a:r>
              <a:rPr lang="en-GB" noProof="0" dirty="0"/>
              <a:t>AWG PV power (100W/m^2): 3,95 </a:t>
            </a:r>
            <a:r>
              <a:rPr lang="en-GB" noProof="0" dirty="0" err="1"/>
              <a:t>mW</a:t>
            </a:r>
            <a:endParaRPr lang="en-GB" noProof="0" dirty="0"/>
          </a:p>
        </p:txBody>
      </p:sp>
      <p:pic>
        <p:nvPicPr>
          <p:cNvPr id="5" name="Immagine 4" descr="Immagine che contiene testo, diagramma, Piano, mappa&#10;&#10;Il contenuto generato dall'IA potrebbe non essere corretto.">
            <a:extLst>
              <a:ext uri="{FF2B5EF4-FFF2-40B4-BE49-F238E27FC236}">
                <a16:creationId xmlns:a16="http://schemas.microsoft.com/office/drawing/2014/main" id="{7577F5DC-B20D-404F-DC77-84B716422F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6" t="6144" r="4675" b="45643"/>
          <a:stretch>
            <a:fillRect/>
          </a:stretch>
        </p:blipFill>
        <p:spPr>
          <a:xfrm>
            <a:off x="1699462" y="3537815"/>
            <a:ext cx="9784991" cy="367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1695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A3F4F-712D-3B6C-20A9-15EFC5E7C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9F1C53C-FFD5-290D-1E6D-7286786B088B}"/>
              </a:ext>
            </a:extLst>
          </p:cNvPr>
          <p:cNvSpPr txBox="1">
            <a:spLocks/>
          </p:cNvSpPr>
          <p:nvPr/>
        </p:nvSpPr>
        <p:spPr>
          <a:xfrm>
            <a:off x="451281" y="638608"/>
            <a:ext cx="11029616" cy="50801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457189" rtl="0" eaLnBrk="1" latinLnBrk="0" hangingPunct="1">
              <a:spcBef>
                <a:spcPct val="0"/>
              </a:spcBef>
              <a:buNone/>
              <a:defRPr sz="2800" b="0" kern="1200" cap="none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noProof="0" dirty="0"/>
              <a:t>Co-harvesting improvements: </a:t>
            </a:r>
            <a:r>
              <a:rPr lang="en-GB" noProof="0" dirty="0" err="1"/>
              <a:t>C_store</a:t>
            </a:r>
            <a:r>
              <a:rPr lang="en-GB" noProof="0" dirty="0"/>
              <a:t> </a:t>
            </a:r>
            <a:r>
              <a:rPr lang="en-GB" noProof="0" dirty="0" err="1"/>
              <a:t>rateo</a:t>
            </a:r>
            <a:endParaRPr lang="en-GB" noProof="0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98189112-64DF-10AF-844F-941F190C2B50}"/>
              </a:ext>
            </a:extLst>
          </p:cNvPr>
          <p:cNvSpPr txBox="1"/>
          <p:nvPr/>
        </p:nvSpPr>
        <p:spPr>
          <a:xfrm>
            <a:off x="3143729" y="1628129"/>
            <a:ext cx="5644719" cy="2031325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algn="ctr"/>
            <a:r>
              <a:rPr lang="en-GB" b="1" noProof="0" dirty="0" err="1"/>
              <a:t>C_store</a:t>
            </a:r>
            <a:r>
              <a:rPr lang="en-GB" b="1" noProof="0" dirty="0"/>
              <a:t> value:</a:t>
            </a:r>
            <a:br>
              <a:rPr lang="en-GB" b="1" noProof="0" dirty="0"/>
            </a:br>
            <a:r>
              <a:rPr lang="en-GB" noProof="0" dirty="0" err="1"/>
              <a:t>C_teg</a:t>
            </a:r>
            <a:r>
              <a:rPr lang="en-GB" noProof="0" dirty="0"/>
              <a:t>: 0,120 mF</a:t>
            </a:r>
          </a:p>
          <a:p>
            <a:pPr algn="ctr"/>
            <a:r>
              <a:rPr lang="en-GB" noProof="0" dirty="0" err="1"/>
              <a:t>C_pv</a:t>
            </a:r>
            <a:r>
              <a:rPr lang="en-GB" noProof="0" dirty="0"/>
              <a:t>: 0,021 mF</a:t>
            </a:r>
          </a:p>
          <a:p>
            <a:pPr algn="ctr"/>
            <a:endParaRPr lang="en-GB" noProof="0" dirty="0"/>
          </a:p>
          <a:p>
            <a:pPr algn="ctr"/>
            <a:r>
              <a:rPr lang="en-GB" b="1" noProof="0" dirty="0" err="1"/>
              <a:t>P_teg</a:t>
            </a:r>
            <a:r>
              <a:rPr lang="en-GB" b="1" noProof="0" dirty="0"/>
              <a:t>/</a:t>
            </a:r>
            <a:r>
              <a:rPr lang="en-GB" b="1" noProof="0" dirty="0" err="1"/>
              <a:t>C_teg</a:t>
            </a:r>
            <a:r>
              <a:rPr lang="en-GB" b="1" noProof="0" dirty="0"/>
              <a:t> = </a:t>
            </a:r>
            <a:r>
              <a:rPr lang="en-GB" b="1" noProof="0" dirty="0" err="1"/>
              <a:t>P_pv</a:t>
            </a:r>
            <a:r>
              <a:rPr lang="en-GB" b="1" noProof="0" dirty="0"/>
              <a:t>/</a:t>
            </a:r>
            <a:r>
              <a:rPr lang="en-GB" b="1" noProof="0" dirty="0" err="1"/>
              <a:t>P_pv</a:t>
            </a:r>
            <a:r>
              <a:rPr lang="en-GB" b="1" noProof="0" dirty="0"/>
              <a:t>  </a:t>
            </a:r>
            <a:endParaRPr lang="en-GB" b="1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GB" b="1" noProof="0" dirty="0"/>
          </a:p>
          <a:p>
            <a:pPr algn="ctr"/>
            <a:endParaRPr lang="en-GB" b="1" noProof="0" dirty="0"/>
          </a:p>
          <a:p>
            <a:pPr algn="ctr"/>
            <a:r>
              <a:rPr lang="en-GB" b="1" noProof="0" dirty="0" err="1"/>
              <a:t>P_awg</a:t>
            </a:r>
            <a:r>
              <a:rPr lang="en-GB" b="1" noProof="0" dirty="0"/>
              <a:t>:</a:t>
            </a:r>
          </a:p>
          <a:p>
            <a:pPr algn="ctr"/>
            <a:r>
              <a:rPr lang="en-GB" noProof="0" dirty="0" err="1"/>
              <a:t>P_awg_teg</a:t>
            </a:r>
            <a:r>
              <a:rPr lang="en-GB" noProof="0" dirty="0"/>
              <a:t>: 20,5 </a:t>
            </a:r>
            <a:r>
              <a:rPr lang="en-GB" noProof="0" dirty="0" err="1"/>
              <a:t>mW</a:t>
            </a:r>
            <a:endParaRPr lang="en-GB" noProof="0" dirty="0"/>
          </a:p>
          <a:p>
            <a:pPr algn="ctr"/>
            <a:r>
              <a:rPr lang="en-GB" noProof="0" dirty="0" err="1"/>
              <a:t>P_awg_pv</a:t>
            </a:r>
            <a:r>
              <a:rPr lang="en-GB" noProof="0" dirty="0"/>
              <a:t>: 3,95 </a:t>
            </a:r>
            <a:r>
              <a:rPr lang="en-GB" noProof="0" dirty="0" err="1"/>
              <a:t>mW</a:t>
            </a:r>
            <a:endParaRPr lang="en-GB" noProof="0" dirty="0"/>
          </a:p>
          <a:p>
            <a:pPr algn="ctr"/>
            <a:endParaRPr lang="en-GB" b="1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b="1" noProof="0" dirty="0"/>
              <a:t>0,151=0,149 </a:t>
            </a:r>
          </a:p>
        </p:txBody>
      </p:sp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552431F3-4F5E-21CB-0FC8-3D71007AD6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745526"/>
              </p:ext>
            </p:extLst>
          </p:nvPr>
        </p:nvGraphicFramePr>
        <p:xfrm>
          <a:off x="2032000" y="4140961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22964353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6317333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P/C </a:t>
                      </a:r>
                      <a:r>
                        <a:rPr lang="en-GB" noProof="0" dirty="0" err="1"/>
                        <a:t>rateo</a:t>
                      </a:r>
                      <a:r>
                        <a:rPr lang="en-GB" noProof="0" dirty="0"/>
                        <a:t> (TEG-PV)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 err="1"/>
                        <a:t>E_sto</a:t>
                      </a:r>
                      <a:r>
                        <a:rPr lang="en-GB" noProof="0" dirty="0"/>
                        <a:t> efficiency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4902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0,155 – 0,554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58,8%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7901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0,151 – 0,149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64,5 %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0545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0,156 – 0,103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63,1 %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3904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0,157 – 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60,1%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64429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10765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4AEA0-78EC-884F-D02C-28EBB53D9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D9A7AC7E-DCF9-3F0D-E609-443A90E4AC1F}"/>
              </a:ext>
            </a:extLst>
          </p:cNvPr>
          <p:cNvSpPr txBox="1">
            <a:spLocks/>
          </p:cNvSpPr>
          <p:nvPr/>
        </p:nvSpPr>
        <p:spPr>
          <a:xfrm>
            <a:off x="451281" y="638608"/>
            <a:ext cx="11029616" cy="50801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457189" rtl="0" eaLnBrk="1" latinLnBrk="0" hangingPunct="1">
              <a:spcBef>
                <a:spcPct val="0"/>
              </a:spcBef>
              <a:buNone/>
              <a:defRPr sz="2800" b="0" kern="1200" cap="none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noProof="0" dirty="0"/>
              <a:t>Co-harvesting improvements: Hysteresis</a:t>
            </a:r>
          </a:p>
        </p:txBody>
      </p:sp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FC2B8EE4-209C-1E72-5278-D39FF5183B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2973611"/>
              </p:ext>
            </p:extLst>
          </p:nvPr>
        </p:nvGraphicFramePr>
        <p:xfrm>
          <a:off x="2032000" y="4490282"/>
          <a:ext cx="812799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22964353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631733379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9882456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/>
                        <a:t>Comparator Hyst.</a:t>
                      </a:r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/>
                        <a:t>E_sto efficiency</a:t>
                      </a:r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 err="1"/>
                        <a:t>E_in</a:t>
                      </a:r>
                      <a:endParaRPr lang="en-GB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4902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/>
                        <a:t>50 mV</a:t>
                      </a:r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65,8%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12,3 J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7901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100 mV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69,5 %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11,2 J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0545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200 mV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78,4 %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9,9 J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3904607"/>
                  </a:ext>
                </a:extLst>
              </a:tr>
            </a:tbl>
          </a:graphicData>
        </a:graphic>
      </p:graphicFrame>
      <p:pic>
        <p:nvPicPr>
          <p:cNvPr id="4" name="Immagine 3" descr="Immagine che contiene testo, diagramma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803AB9AD-ED8C-6798-A982-145DD8EB33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1015" y="1284275"/>
            <a:ext cx="3470147" cy="3206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850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ADDE5-7C92-C7C8-B8CE-4E13DB517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49DEF84-B5A4-F684-E091-096B7FBF9044}"/>
              </a:ext>
            </a:extLst>
          </p:cNvPr>
          <p:cNvSpPr txBox="1">
            <a:spLocks/>
          </p:cNvSpPr>
          <p:nvPr/>
        </p:nvSpPr>
        <p:spPr>
          <a:xfrm>
            <a:off x="451281" y="638608"/>
            <a:ext cx="11029616" cy="50801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457189" rtl="0" eaLnBrk="1" latinLnBrk="0" hangingPunct="1">
              <a:spcBef>
                <a:spcPct val="0"/>
              </a:spcBef>
              <a:buNone/>
              <a:defRPr sz="2800" b="0" kern="1200" cap="none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noProof="0" dirty="0"/>
              <a:t>Co-harvesting improvements: Cold start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188E578-A746-BFE4-20CC-F19F64583BA4}"/>
              </a:ext>
            </a:extLst>
          </p:cNvPr>
          <p:cNvSpPr txBox="1"/>
          <p:nvPr/>
        </p:nvSpPr>
        <p:spPr>
          <a:xfrm>
            <a:off x="451281" y="1564456"/>
            <a:ext cx="56447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b="1" noProof="0" dirty="0"/>
              <a:t>Cold start: </a:t>
            </a:r>
          </a:p>
          <a:p>
            <a:pPr lvl="0"/>
            <a:r>
              <a:rPr lang="en-GB" noProof="0" dirty="0"/>
              <a:t>from off state to </a:t>
            </a:r>
            <a:r>
              <a:rPr lang="en-GB" noProof="0" dirty="0" err="1"/>
              <a:t>C_out</a:t>
            </a:r>
            <a:r>
              <a:rPr lang="en-GB" noProof="0" dirty="0"/>
              <a:t> = 5V</a:t>
            </a:r>
          </a:p>
        </p:txBody>
      </p:sp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31B0BF88-B184-2D28-3235-2610CDAA6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7340617"/>
              </p:ext>
            </p:extLst>
          </p:nvPr>
        </p:nvGraphicFramePr>
        <p:xfrm>
          <a:off x="2032000" y="3429000"/>
          <a:ext cx="901522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3807">
                  <a:extLst>
                    <a:ext uri="{9D8B030D-6E8A-4147-A177-3AD203B41FA5}">
                      <a16:colId xmlns:a16="http://schemas.microsoft.com/office/drawing/2014/main" val="3229643532"/>
                    </a:ext>
                  </a:extLst>
                </a:gridCol>
                <a:gridCol w="2253807">
                  <a:extLst>
                    <a:ext uri="{9D8B030D-6E8A-4147-A177-3AD203B41FA5}">
                      <a16:colId xmlns:a16="http://schemas.microsoft.com/office/drawing/2014/main" val="3631733379"/>
                    </a:ext>
                  </a:extLst>
                </a:gridCol>
                <a:gridCol w="2253807">
                  <a:extLst>
                    <a:ext uri="{9D8B030D-6E8A-4147-A177-3AD203B41FA5}">
                      <a16:colId xmlns:a16="http://schemas.microsoft.com/office/drawing/2014/main" val="1988245663"/>
                    </a:ext>
                  </a:extLst>
                </a:gridCol>
                <a:gridCol w="2253807">
                  <a:extLst>
                    <a:ext uri="{9D8B030D-6E8A-4147-A177-3AD203B41FA5}">
                      <a16:colId xmlns:a16="http://schemas.microsoft.com/office/drawing/2014/main" val="19561131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 err="1"/>
                        <a:t>C_pv</a:t>
                      </a:r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Cold start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 err="1"/>
                        <a:t>P_awg_pv</a:t>
                      </a:r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Efficiency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4902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0,0046 mF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403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1,46 </a:t>
                      </a:r>
                      <a:r>
                        <a:rPr lang="en-GB" noProof="0" dirty="0" err="1"/>
                        <a:t>mW</a:t>
                      </a:r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36,9 %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7901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0,0211 mF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438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0,71 </a:t>
                      </a:r>
                      <a:r>
                        <a:rPr lang="en-GB" noProof="0" dirty="0" err="1"/>
                        <a:t>mW</a:t>
                      </a:r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17,9 %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0545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0,0304 mF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447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0,52 </a:t>
                      </a:r>
                      <a:r>
                        <a:rPr lang="en-GB" noProof="0" dirty="0" err="1"/>
                        <a:t>mW</a:t>
                      </a:r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13,1 %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3904607"/>
                  </a:ext>
                </a:extLst>
              </a:tr>
            </a:tbl>
          </a:graphicData>
        </a:graphic>
      </p:graphicFrame>
      <p:sp>
        <p:nvSpPr>
          <p:cNvPr id="6" name="CasellaDiTesto 5">
            <a:extLst>
              <a:ext uri="{FF2B5EF4-FFF2-40B4-BE49-F238E27FC236}">
                <a16:creationId xmlns:a16="http://schemas.microsoft.com/office/drawing/2014/main" id="{FE38B1ED-56C5-5096-4200-D06DC876EEC3}"/>
              </a:ext>
            </a:extLst>
          </p:cNvPr>
          <p:cNvSpPr txBox="1"/>
          <p:nvPr/>
        </p:nvSpPr>
        <p:spPr>
          <a:xfrm>
            <a:off x="6096000" y="1564456"/>
            <a:ext cx="56447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Theoretical performance (from characterisation): </a:t>
            </a:r>
          </a:p>
          <a:p>
            <a:r>
              <a:rPr lang="en-GB" dirty="0"/>
              <a:t>AWG TEG power (</a:t>
            </a:r>
            <a:r>
              <a:rPr lang="en-GB" dirty="0">
                <a:latin typeface="Grandview" panose="020F0502020204030204" pitchFamily="34" charset="0"/>
              </a:rPr>
              <a:t>ΔT</a:t>
            </a:r>
            <a:r>
              <a:rPr lang="en-GB" dirty="0"/>
              <a:t>: 22°C): 20,5 </a:t>
            </a:r>
            <a:r>
              <a:rPr lang="en-GB" dirty="0" err="1"/>
              <a:t>mW</a:t>
            </a:r>
            <a:endParaRPr lang="en-GB" dirty="0"/>
          </a:p>
          <a:p>
            <a:r>
              <a:rPr lang="en-GB" dirty="0"/>
              <a:t>AWG PV power (100W/m^2): 3,95 </a:t>
            </a:r>
            <a:r>
              <a:rPr lang="en-GB" dirty="0" err="1"/>
              <a:t>mW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1964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F8A91-52BF-2A6D-8535-A7BF45AD0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6B0A15C-8CBB-6518-231F-E40B8EC7761C}"/>
              </a:ext>
            </a:extLst>
          </p:cNvPr>
          <p:cNvSpPr txBox="1">
            <a:spLocks/>
          </p:cNvSpPr>
          <p:nvPr/>
        </p:nvSpPr>
        <p:spPr>
          <a:xfrm>
            <a:off x="451281" y="638608"/>
            <a:ext cx="11029616" cy="50801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457189" rtl="0" eaLnBrk="1" latinLnBrk="0" hangingPunct="1">
              <a:spcBef>
                <a:spcPct val="0"/>
              </a:spcBef>
              <a:buNone/>
              <a:defRPr sz="2800" b="0" kern="1200" cap="none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noProof="0" dirty="0"/>
              <a:t>Co-harvesting improvements: BQ efficiency</a:t>
            </a:r>
          </a:p>
        </p:txBody>
      </p:sp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A46757B7-FE70-684B-C765-7BFC1556A5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6128147"/>
              </p:ext>
            </p:extLst>
          </p:nvPr>
        </p:nvGraphicFramePr>
        <p:xfrm>
          <a:off x="933236" y="4192808"/>
          <a:ext cx="498525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1750">
                  <a:extLst>
                    <a:ext uri="{9D8B030D-6E8A-4147-A177-3AD203B41FA5}">
                      <a16:colId xmlns:a16="http://schemas.microsoft.com/office/drawing/2014/main" val="3229643532"/>
                    </a:ext>
                  </a:extLst>
                </a:gridCol>
                <a:gridCol w="1661750">
                  <a:extLst>
                    <a:ext uri="{9D8B030D-6E8A-4147-A177-3AD203B41FA5}">
                      <a16:colId xmlns:a16="http://schemas.microsoft.com/office/drawing/2014/main" val="3631733379"/>
                    </a:ext>
                  </a:extLst>
                </a:gridCol>
                <a:gridCol w="1661750">
                  <a:extLst>
                    <a:ext uri="{9D8B030D-6E8A-4147-A177-3AD203B41FA5}">
                      <a16:colId xmlns:a16="http://schemas.microsoft.com/office/drawing/2014/main" val="19882456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 err="1"/>
                        <a:t>Vout_teg</a:t>
                      </a:r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 err="1"/>
                        <a:t>Pout_teg</a:t>
                      </a:r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 err="1"/>
                        <a:t>Efficiency_teg</a:t>
                      </a:r>
                      <a:endParaRPr lang="en-GB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4902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4,9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 12,3 </a:t>
                      </a:r>
                      <a:r>
                        <a:rPr lang="en-GB" noProof="0" dirty="0" err="1"/>
                        <a:t>mW</a:t>
                      </a:r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58,3 %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7901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4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11,9 </a:t>
                      </a:r>
                      <a:r>
                        <a:rPr lang="en-GB" noProof="0" dirty="0" err="1"/>
                        <a:t>mW</a:t>
                      </a:r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56,9 %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0545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3,5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11,3 </a:t>
                      </a:r>
                      <a:r>
                        <a:rPr lang="en-GB" noProof="0" dirty="0" err="1"/>
                        <a:t>mW</a:t>
                      </a:r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53,9 %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3904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2,9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10,9 </a:t>
                      </a:r>
                      <a:r>
                        <a:rPr lang="en-GB" noProof="0" dirty="0" err="1"/>
                        <a:t>mW</a:t>
                      </a:r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51,9 %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9350920"/>
                  </a:ext>
                </a:extLst>
              </a:tr>
            </a:tbl>
          </a:graphicData>
        </a:graphic>
      </p:graphicFrame>
      <p:sp>
        <p:nvSpPr>
          <p:cNvPr id="4" name="CasellaDiTesto 3">
            <a:extLst>
              <a:ext uri="{FF2B5EF4-FFF2-40B4-BE49-F238E27FC236}">
                <a16:creationId xmlns:a16="http://schemas.microsoft.com/office/drawing/2014/main" id="{29881AB8-CD42-A133-5528-6338CFB72DFC}"/>
              </a:ext>
            </a:extLst>
          </p:cNvPr>
          <p:cNvSpPr txBox="1"/>
          <p:nvPr/>
        </p:nvSpPr>
        <p:spPr>
          <a:xfrm>
            <a:off x="6096000" y="1564456"/>
            <a:ext cx="56447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Theoretical performance (from characterisation): </a:t>
            </a:r>
          </a:p>
          <a:p>
            <a:r>
              <a:rPr lang="en-GB" dirty="0"/>
              <a:t>AWG TEG power (</a:t>
            </a:r>
            <a:r>
              <a:rPr lang="en-GB" dirty="0">
                <a:latin typeface="Grandview" panose="020F0502020204030204" pitchFamily="34" charset="0"/>
              </a:rPr>
              <a:t>ΔT</a:t>
            </a:r>
            <a:r>
              <a:rPr lang="en-GB" dirty="0"/>
              <a:t>: 22°C): 20,5 </a:t>
            </a:r>
            <a:r>
              <a:rPr lang="en-GB" dirty="0" err="1"/>
              <a:t>mW</a:t>
            </a:r>
            <a:endParaRPr lang="en-GB" dirty="0"/>
          </a:p>
          <a:p>
            <a:r>
              <a:rPr lang="en-GB" dirty="0"/>
              <a:t>AWG PV power (100W/m^2): 3,95 </a:t>
            </a:r>
            <a:r>
              <a:rPr lang="en-GB" dirty="0" err="1"/>
              <a:t>mW</a:t>
            </a:r>
            <a:endParaRPr lang="en-GB" dirty="0"/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05FF4A2A-CE8A-3499-A889-0708DE2FB5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68110"/>
              </p:ext>
            </p:extLst>
          </p:nvPr>
        </p:nvGraphicFramePr>
        <p:xfrm>
          <a:off x="6273515" y="4192808"/>
          <a:ext cx="498525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1750">
                  <a:extLst>
                    <a:ext uri="{9D8B030D-6E8A-4147-A177-3AD203B41FA5}">
                      <a16:colId xmlns:a16="http://schemas.microsoft.com/office/drawing/2014/main" val="3229643532"/>
                    </a:ext>
                  </a:extLst>
                </a:gridCol>
                <a:gridCol w="1661750">
                  <a:extLst>
                    <a:ext uri="{9D8B030D-6E8A-4147-A177-3AD203B41FA5}">
                      <a16:colId xmlns:a16="http://schemas.microsoft.com/office/drawing/2014/main" val="3631733379"/>
                    </a:ext>
                  </a:extLst>
                </a:gridCol>
                <a:gridCol w="1661750">
                  <a:extLst>
                    <a:ext uri="{9D8B030D-6E8A-4147-A177-3AD203B41FA5}">
                      <a16:colId xmlns:a16="http://schemas.microsoft.com/office/drawing/2014/main" val="19882456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 err="1"/>
                        <a:t>Vout_pv</a:t>
                      </a:r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 err="1"/>
                        <a:t>Pout_pv</a:t>
                      </a:r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 err="1"/>
                        <a:t>Efficiency_pv</a:t>
                      </a:r>
                      <a:endParaRPr lang="en-GB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4902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4,9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3,1 </a:t>
                      </a:r>
                      <a:r>
                        <a:rPr lang="en-GB" noProof="0" dirty="0" err="1"/>
                        <a:t>mW</a:t>
                      </a:r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77,6 %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7901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4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3,0 </a:t>
                      </a:r>
                      <a:r>
                        <a:rPr lang="en-GB" noProof="0" dirty="0" err="1"/>
                        <a:t>mW</a:t>
                      </a:r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74,9 %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0545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3,5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2,9 </a:t>
                      </a:r>
                      <a:r>
                        <a:rPr lang="en-GB" noProof="0" dirty="0" err="1"/>
                        <a:t>mW</a:t>
                      </a:r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73,6 %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3904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2,9 V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Under </a:t>
                      </a:r>
                      <a:r>
                        <a:rPr lang="en-GB" noProof="0" dirty="0" err="1"/>
                        <a:t>Mpp</a:t>
                      </a:r>
                      <a:r>
                        <a:rPr lang="en-GB" noProof="0" dirty="0"/>
                        <a:t> voltage (3,4V) 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9350920"/>
                  </a:ext>
                </a:extLst>
              </a:tr>
            </a:tbl>
          </a:graphicData>
        </a:graphic>
      </p:graphicFrame>
      <p:pic>
        <p:nvPicPr>
          <p:cNvPr id="10" name="Immagine 9" descr="Immagine che contiene testo, diagramm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5B2176F4-79CE-9490-A869-B697952C6F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12" y="1425582"/>
            <a:ext cx="5442274" cy="2160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300351"/>
      </p:ext>
    </p:extLst>
  </p:cSld>
  <p:clrMapOvr>
    <a:masterClrMapping/>
  </p:clrMapOvr>
</p:sld>
</file>

<file path=ppt/theme/theme1.xml><?xml version="1.0" encoding="utf-8"?>
<a:theme xmlns:a="http://schemas.openxmlformats.org/drawingml/2006/main" name="1_Dividendi">
  <a:themeElements>
    <a:clrScheme name="Custom 8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C8102E"/>
      </a:accent1>
      <a:accent2>
        <a:srgbClr val="920C22"/>
      </a:accent2>
      <a:accent3>
        <a:srgbClr val="F04A66"/>
      </a:accent3>
      <a:accent4>
        <a:srgbClr val="C8102E"/>
      </a:accent4>
      <a:accent5>
        <a:srgbClr val="F3677E"/>
      </a:accent5>
      <a:accent6>
        <a:srgbClr val="FFC000"/>
      </a:accent6>
      <a:hlink>
        <a:srgbClr val="920C22"/>
      </a:hlink>
      <a:folHlink>
        <a:srgbClr val="262626"/>
      </a:folHlink>
    </a:clrScheme>
    <a:fontScheme name="Dividendi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i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Dividendi">
  <a:themeElements>
    <a:clrScheme name="Custom 8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C8102E"/>
      </a:accent1>
      <a:accent2>
        <a:srgbClr val="920C22"/>
      </a:accent2>
      <a:accent3>
        <a:srgbClr val="F04A66"/>
      </a:accent3>
      <a:accent4>
        <a:srgbClr val="C8102E"/>
      </a:accent4>
      <a:accent5>
        <a:srgbClr val="F3677E"/>
      </a:accent5>
      <a:accent6>
        <a:srgbClr val="FFC000"/>
      </a:accent6>
      <a:hlink>
        <a:srgbClr val="920C22"/>
      </a:hlink>
      <a:folHlink>
        <a:srgbClr val="262626"/>
      </a:folHlink>
    </a:clrScheme>
    <a:fontScheme name="Dividendi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i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11423</TotalTime>
  <Words>513</Words>
  <Application>Microsoft Office PowerPoint</Application>
  <PresentationFormat>Widescreen</PresentationFormat>
  <Paragraphs>129</Paragraphs>
  <Slides>11</Slides>
  <Notes>11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11</vt:i4>
      </vt:variant>
    </vt:vector>
  </HeadingPairs>
  <TitlesOfParts>
    <vt:vector size="20" baseType="lpstr">
      <vt:lpstr>Aptos</vt:lpstr>
      <vt:lpstr>Arial</vt:lpstr>
      <vt:lpstr>Calibri</vt:lpstr>
      <vt:lpstr>Gill Sans MT</vt:lpstr>
      <vt:lpstr>Grandview</vt:lpstr>
      <vt:lpstr>Times New Roman</vt:lpstr>
      <vt:lpstr>Wingdings 2</vt:lpstr>
      <vt:lpstr>1_Dividendi</vt:lpstr>
      <vt:lpstr>Dividendi</vt:lpstr>
      <vt:lpstr>FINAL RESULTS Self-powered co-harvesting for batteryless sensing and actuation in two-wheeled IoT applications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Doglioni</dc:creator>
  <cp:lastModifiedBy>The Bepps</cp:lastModifiedBy>
  <cp:revision>29</cp:revision>
  <cp:lastPrinted>2025-10-24T14:45:22Z</cp:lastPrinted>
  <dcterms:created xsi:type="dcterms:W3CDTF">2024-09-16T07:54:47Z</dcterms:created>
  <dcterms:modified xsi:type="dcterms:W3CDTF">2026-02-02T17:11:07Z</dcterms:modified>
</cp:coreProperties>
</file>