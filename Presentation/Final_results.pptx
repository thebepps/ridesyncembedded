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4"/>
  </p:notesMasterIdLst>
  <p:sldIdLst>
    <p:sldId id="989" r:id="rId3"/>
    <p:sldId id="1058" r:id="rId4"/>
    <p:sldId id="1087" r:id="rId5"/>
    <p:sldId id="1088" r:id="rId6"/>
    <p:sldId id="1089" r:id="rId7"/>
    <p:sldId id="1090" r:id="rId8"/>
    <p:sldId id="1091" r:id="rId9"/>
    <p:sldId id="1092" r:id="rId10"/>
    <p:sldId id="1093" r:id="rId11"/>
    <p:sldId id="1094" r:id="rId12"/>
    <p:sldId id="1095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A00"/>
    <a:srgbClr val="30A650"/>
    <a:srgbClr val="FDD151"/>
    <a:srgbClr val="EA4235"/>
    <a:srgbClr val="EA4739"/>
    <a:srgbClr val="397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0" autoAdjust="0"/>
    <p:restoredTop sz="95527" autoAdjust="0"/>
  </p:normalViewPr>
  <p:slideViewPr>
    <p:cSldViewPr snapToGrid="0">
      <p:cViewPr varScale="1">
        <p:scale>
          <a:sx n="89" d="100"/>
          <a:sy n="89" d="100"/>
        </p:scale>
        <p:origin x="55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54"/>
    </p:cViewPr>
  </p:sorterViewPr>
  <p:notesViewPr>
    <p:cSldViewPr snapToGrid="0">
      <p:cViewPr varScale="1">
        <p:scale>
          <a:sx n="71" d="100"/>
          <a:sy n="71" d="100"/>
        </p:scale>
        <p:origin x="274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05510-8F20-4855-92F5-1C6E04172244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7C705-EDF9-4E83-8E9D-D876313D7C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430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39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5B2D-3DCE-880A-3A61-52A800A5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0CDD519-5305-66D5-BC7F-9C018AADB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83D2E3-2CD0-E003-9063-09DBCFD03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07133C-A392-4B55-A75F-DD895CDAF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712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E7300-408B-7E14-EA80-2BB120C8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C418DC2-8FFB-71D4-38FD-DE7BC4A63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0DCA272-F619-E619-B820-3FAF4A89E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85B0A7-6CCC-6633-4A80-9155E5795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298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FC6D8-29E3-6B3E-2B86-F71EBC8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A4D228B-BC47-6D4B-0EB2-D93F17E4B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267A71D-5FAE-096C-0CED-6F8AA02B9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BCC88FC-CC43-F91C-35DD-804C464FE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5138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92E4-E870-9163-6BC5-82FBE18C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FAC4DB-7620-5F75-5052-3D8128AC0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84E75B-EE0A-F3DB-1538-77ACF4577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534482-25D0-36F2-B85E-BE3939BFC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278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E2A3A-3F81-FD4A-390A-6591E05AE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FF0595-726F-D89B-2F00-641B54F43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AD0F30D-DB48-8D8A-C82B-95DB824C6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F561BB-A0AA-7FE0-7334-0DE5320082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117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DE54C-F72A-7CF5-3EBD-121E40A3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75DCB5C-B979-A995-3BF0-248937B42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9D7CC4B-1203-6572-7C0B-749915D75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0C20CD-E313-4E0A-A4BB-808A65500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96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CA96-7A7B-DD64-2884-12DF24648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6E7051-49E5-1523-FA7F-C36C45B71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802F1AC-F561-4DB3-320F-AAC02F657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13641B-9306-EFAE-34E1-262476EAE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260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9417D-B673-4AB8-4809-66F127D10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E77B999-B558-F580-ADEB-A13E63557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08F143C-A7F3-13AD-5A4B-9B024BDB4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B95879E-F6B0-8610-08C8-0FC351751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509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A02D-C047-B005-F3E2-D203DC37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232043B-3734-FA9B-61B6-A79F2DBDD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2DCCCD2-5C0D-4A80-5260-855362D6F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B23C2F-7EF9-41FE-1114-AF046B2F9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9089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8BA0-1358-7D99-267F-383DE4C5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CD19B8E-5102-162A-8580-CCA40275E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EC5BD71-4A92-9D4A-6ED9-7006CBCC4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B4E5AD-76DD-D84B-42E4-4DF8ECC4D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2BEFE3-C87D-45B0-A113-D47012EFAB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11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599173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1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72579" y="6356424"/>
            <a:ext cx="28447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7818" y="6352098"/>
            <a:ext cx="69172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24927" y="6356424"/>
            <a:ext cx="10525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457189"/>
            <a:endParaRPr lang="it-IT"/>
          </a:p>
          <a:p>
            <a:pPr defTabSz="457189"/>
            <a:endParaRPr lang="it-IT" dirty="0"/>
          </a:p>
        </p:txBody>
      </p:sp>
      <p:pic>
        <p:nvPicPr>
          <p:cNvPr id="9" name="Immagine 14">
            <a:extLst>
              <a:ext uri="{FF2B5EF4-FFF2-40B4-BE49-F238E27FC236}">
                <a16:creationId xmlns:a16="http://schemas.microsoft.com/office/drawing/2014/main" id="{4A783CF1-9FD3-89CD-6915-13ADA57969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31277" y="3276931"/>
            <a:ext cx="6838950" cy="68389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E53C8DA-2C2B-CB73-D995-3330E56BE781}"/>
              </a:ext>
            </a:extLst>
          </p:cNvPr>
          <p:cNvSpPr/>
          <p:nvPr userDrawn="1"/>
        </p:nvSpPr>
        <p:spPr>
          <a:xfrm>
            <a:off x="581194" y="1801898"/>
            <a:ext cx="3808092" cy="748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90398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00810" y="6440536"/>
            <a:ext cx="1867783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73006" y="6431865"/>
            <a:ext cx="6820256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5"/>
            <a:ext cx="11300036" cy="63111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1281" y="668106"/>
            <a:ext cx="11029616" cy="508015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pic>
        <p:nvPicPr>
          <p:cNvPr id="2" name="Immagine 6">
            <a:extLst>
              <a:ext uri="{FF2B5EF4-FFF2-40B4-BE49-F238E27FC236}">
                <a16:creationId xmlns:a16="http://schemas.microsoft.com/office/drawing/2014/main" id="{91501FE4-A3FB-EAE8-FEB8-8A0AC06A5A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54" y="5896990"/>
            <a:ext cx="900000" cy="900000"/>
          </a:xfrm>
          <a:prstGeom prst="rect">
            <a:avLst/>
          </a:prstGeom>
        </p:spPr>
      </p:pic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9C898440-A091-A6AA-359D-36F697BE0201}"/>
              </a:ext>
            </a:extLst>
          </p:cNvPr>
          <p:cNvSpPr txBox="1">
            <a:spLocks/>
          </p:cNvSpPr>
          <p:nvPr userDrawn="1"/>
        </p:nvSpPr>
        <p:spPr>
          <a:xfrm>
            <a:off x="10076141" y="6440536"/>
            <a:ext cx="691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365D6E-99C1-4841-AC06-39C757C2E5A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6100673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819A776B-6E34-13AC-16D3-B2FEC602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00810" y="6440536"/>
            <a:ext cx="2844799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A035B54-581B-D9E9-BE0A-BFDA327DF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73006" y="6431865"/>
            <a:ext cx="6820256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CE7EBCD5-8B9C-3EB4-CD84-2CEC0EF7E191}"/>
              </a:ext>
            </a:extLst>
          </p:cNvPr>
          <p:cNvSpPr txBox="1">
            <a:spLocks/>
          </p:cNvSpPr>
          <p:nvPr userDrawn="1"/>
        </p:nvSpPr>
        <p:spPr>
          <a:xfrm>
            <a:off x="11053157" y="6436211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C365D6E-99C1-4841-AC06-39C757C2E5A2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8" name="Immagine 6">
            <a:extLst>
              <a:ext uri="{FF2B5EF4-FFF2-40B4-BE49-F238E27FC236}">
                <a16:creationId xmlns:a16="http://schemas.microsoft.com/office/drawing/2014/main" id="{65F19420-913D-1FE1-EA65-1FA0D05E2B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854" y="5896990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7924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1FAB41-29E5-892A-3D4A-E48A65221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B8FF01B-54E8-EB84-E424-5CB4381B0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E1F428-BE28-C521-8BFE-DA1CAD8C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456F9-5324-E24F-B3F0-0DBA7E0CFF8E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F9F7B6-E91C-5756-D0E9-4D88F2C5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214BFE-01EF-2771-8F0E-3AB45B5FA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F076-883C-FC43-9240-C85BCC9B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557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42A24D-E835-1CD5-1C1E-F0E6B759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DF2D58-D70F-4F84-9DB1-61C47F445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910A1C-F452-C41D-3836-EAF4A852B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456F9-5324-E24F-B3F0-0DBA7E0CFF8E}" type="datetimeFigureOut">
              <a:rPr lang="it-IT" smtClean="0"/>
              <a:t>03/02/2026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7D01D0-41FD-D5CD-E047-CB342ED1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D573CF-1343-0DBC-78A0-9DD160F5D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F076-883C-FC43-9240-C85BCC9BEA6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568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8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2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8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defTabSz="457189"/>
            <a:endParaRPr lang="it-IT"/>
          </a:p>
          <a:p>
            <a:pPr defTabSz="457189"/>
            <a:endParaRPr lang="it-IT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CC3BF5-0D5C-D142-6DFC-2AA3E159548A}"/>
              </a:ext>
            </a:extLst>
          </p:cNvPr>
          <p:cNvGrpSpPr/>
          <p:nvPr userDrawn="1"/>
        </p:nvGrpSpPr>
        <p:grpSpPr>
          <a:xfrm>
            <a:off x="2699999" y="462336"/>
            <a:ext cx="9002265" cy="89819"/>
            <a:chOff x="446535" y="453643"/>
            <a:chExt cx="11298932" cy="98555"/>
          </a:xfrm>
        </p:grpSpPr>
        <p:sp>
          <p:nvSpPr>
            <p:cNvPr id="9" name="Rectangle 8"/>
            <p:cNvSpPr/>
            <p:nvPr/>
          </p:nvSpPr>
          <p:spPr>
            <a:xfrm>
              <a:off x="446535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042147" y="453643"/>
              <a:ext cx="3703320" cy="98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241831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C5D32FFA-79B1-56CE-6A51-9294E3FE31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92" y="131053"/>
            <a:ext cx="2402189" cy="74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9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 algn="l" defTabSz="457189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8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2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defTabSz="457189"/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8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defTabSz="457189"/>
            <a:endParaRPr lang="it-IT"/>
          </a:p>
          <a:p>
            <a:pPr defTabSz="457189"/>
            <a:endParaRPr lang="it-IT" dirty="0"/>
          </a:p>
        </p:txBody>
      </p:sp>
      <p:sp>
        <p:nvSpPr>
          <p:cNvPr id="9" name="Rectangle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06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hdr="0"/>
  <p:txStyles>
    <p:titleStyle>
      <a:lvl1pPr algn="l" defTabSz="457189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4708-9008-4482-8948-94497CF1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170" y="1936058"/>
            <a:ext cx="9169659" cy="1492942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b="1" noProof="0" dirty="0"/>
              <a:t>FINAL RESULTS</a:t>
            </a:r>
            <a:br>
              <a:rPr lang="en-GB" sz="3200" b="1" noProof="0" dirty="0"/>
            </a:br>
            <a:r>
              <a:rPr lang="en-GB" sz="3200" b="1" noProof="0" dirty="0"/>
              <a:t>Self-powered co-harvesting for </a:t>
            </a:r>
            <a:r>
              <a:rPr lang="en-GB" sz="3200" b="1" noProof="0" dirty="0" err="1"/>
              <a:t>batteryless</a:t>
            </a:r>
            <a:r>
              <a:rPr lang="en-GB" sz="3200" b="1" noProof="0" dirty="0"/>
              <a:t> sensing and actuation in two-wheeled IoT applications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B5AA19E-EA80-71A9-0E7D-A8DE4A0372B8}"/>
              </a:ext>
            </a:extLst>
          </p:cNvPr>
          <p:cNvSpPr txBox="1"/>
          <p:nvPr/>
        </p:nvSpPr>
        <p:spPr>
          <a:xfrm>
            <a:off x="4741524" y="4269014"/>
            <a:ext cx="705037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endParaRPr lang="en-GB" sz="2400" noProof="0" dirty="0">
              <a:solidFill>
                <a:srgbClr val="C8102E"/>
              </a:solidFill>
            </a:endParaRPr>
          </a:p>
          <a:p>
            <a:pPr lvl="0" algn="r">
              <a:defRPr/>
            </a:pPr>
            <a:r>
              <a:rPr lang="en-GB" sz="2000" noProof="0" dirty="0">
                <a:solidFill>
                  <a:srgbClr val="C8102E"/>
                </a:solidFill>
              </a:rPr>
              <a:t>University of Trento</a:t>
            </a:r>
            <a:br>
              <a:rPr lang="en-GB" sz="2000" noProof="0" dirty="0">
                <a:solidFill>
                  <a:srgbClr val="C8102E"/>
                </a:solidFill>
              </a:rPr>
            </a:br>
            <a:r>
              <a:rPr lang="en-GB" sz="2000" noProof="0" dirty="0">
                <a:solidFill>
                  <a:srgbClr val="C8102E"/>
                </a:solidFill>
              </a:rPr>
              <a:t>Department of Industrial Engineering (DII)</a:t>
            </a:r>
          </a:p>
          <a:p>
            <a:pPr lvl="0" algn="r">
              <a:defRPr/>
            </a:pPr>
            <a:endParaRPr lang="en-GB" noProof="0" dirty="0">
              <a:solidFill>
                <a:srgbClr val="C8102E"/>
              </a:solidFill>
            </a:endParaRPr>
          </a:p>
        </p:txBody>
      </p:sp>
      <p:sp>
        <p:nvSpPr>
          <p:cNvPr id="3" name="CasellaDiTesto 5">
            <a:extLst>
              <a:ext uri="{FF2B5EF4-FFF2-40B4-BE49-F238E27FC236}">
                <a16:creationId xmlns:a16="http://schemas.microsoft.com/office/drawing/2014/main" id="{089AB882-1711-5F38-67DA-F3B3AF84DD3D}"/>
              </a:ext>
            </a:extLst>
          </p:cNvPr>
          <p:cNvSpPr txBox="1"/>
          <p:nvPr/>
        </p:nvSpPr>
        <p:spPr>
          <a:xfrm>
            <a:off x="400104" y="6055633"/>
            <a:ext cx="45559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2000" noProof="0" dirty="0">
                <a:solidFill>
                  <a:prstClr val="white"/>
                </a:solidFill>
              </a:rPr>
              <a:t>Giuseppe Pasquini 239978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427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7A7A-6325-7097-0F15-805D53B86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AE2BE2E-4DF6-E08C-41E6-B1A228E9E8F7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Final schema</a:t>
            </a:r>
          </a:p>
        </p:txBody>
      </p:sp>
      <p:pic>
        <p:nvPicPr>
          <p:cNvPr id="4" name="Immagine 3" descr="Immagine che contiene testo, diagramma, Piano, mappa&#10;&#10;Il contenuto generato dall'IA potrebbe non essere corretto.">
            <a:extLst>
              <a:ext uri="{FF2B5EF4-FFF2-40B4-BE49-F238E27FC236}">
                <a16:creationId xmlns:a16="http://schemas.microsoft.com/office/drawing/2014/main" id="{CA7A7EB9-E8AF-883E-A7EA-241C3974A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4372" r="2794" b="3989"/>
          <a:stretch>
            <a:fillRect/>
          </a:stretch>
        </p:blipFill>
        <p:spPr>
          <a:xfrm>
            <a:off x="2239766" y="1315092"/>
            <a:ext cx="7726168" cy="531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77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4057-37AA-EAC0-BBCC-D50E7240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D195F32-1B69-481E-4E81-C926747EDB82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inputs</a:t>
            </a:r>
          </a:p>
        </p:txBody>
      </p:sp>
      <p:pic>
        <p:nvPicPr>
          <p:cNvPr id="3" name="Immagine 2" descr="Immagine che contiene testo, diagramma, Piano, mappa&#10;&#10;Il contenuto generato dall'IA potrebbe non essere corretto.">
            <a:extLst>
              <a:ext uri="{FF2B5EF4-FFF2-40B4-BE49-F238E27FC236}">
                <a16:creationId xmlns:a16="http://schemas.microsoft.com/office/drawing/2014/main" id="{5B8405E8-2045-F917-6995-9D59F5F55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86" y="1269013"/>
            <a:ext cx="9926227" cy="502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7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5DB5-7C42-6B11-F764-C47C02AC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2DFFD9A-0215-09E9-A0AE-CB74BD123C96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load switch</a:t>
            </a:r>
          </a:p>
        </p:txBody>
      </p:sp>
      <p:pic>
        <p:nvPicPr>
          <p:cNvPr id="4" name="Immagine 3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9939B464-FE0F-F434-A098-67BA19037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990" y="1230004"/>
            <a:ext cx="5708020" cy="527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26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732F0-C8BB-443C-206D-27D95191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6EEC348-50C3-3C49-890B-18902863D2F2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current &amp; voltage sense</a:t>
            </a:r>
          </a:p>
        </p:txBody>
      </p:sp>
      <p:pic>
        <p:nvPicPr>
          <p:cNvPr id="15" name="Immagine 14" descr="Immagine che contiene testo, diagramma, Piano, schermata&#10;&#10;Il contenuto generato dall'IA potrebbe non essere corretto.">
            <a:extLst>
              <a:ext uri="{FF2B5EF4-FFF2-40B4-BE49-F238E27FC236}">
                <a16:creationId xmlns:a16="http://schemas.microsoft.com/office/drawing/2014/main" id="{46C70CEC-A5D0-CFD5-DB5B-50AA17D90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683" y="1402749"/>
            <a:ext cx="4490844" cy="5210461"/>
          </a:xfrm>
          <a:prstGeom prst="rect">
            <a:avLst/>
          </a:prstGeom>
        </p:spPr>
      </p:pic>
      <p:pic>
        <p:nvPicPr>
          <p:cNvPr id="17" name="Immagine 16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45BFFCBE-9BF0-8F19-C394-C87E502C1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475" y="2644362"/>
            <a:ext cx="4490844" cy="272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8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6AA41-BC24-0DFE-D615-9D92441F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BF2F80F-30C7-6BBB-58EA-6D2C446BC69B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Real ride data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EF4B99B-65F2-9F35-2DA8-1A17F3392080}"/>
              </a:ext>
            </a:extLst>
          </p:cNvPr>
          <p:cNvSpPr txBox="1"/>
          <p:nvPr/>
        </p:nvSpPr>
        <p:spPr>
          <a:xfrm>
            <a:off x="451281" y="1564456"/>
            <a:ext cx="56447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b="1" noProof="0" dirty="0"/>
              <a:t>Ride data:</a:t>
            </a:r>
          </a:p>
          <a:p>
            <a:pPr lvl="0"/>
            <a:r>
              <a:rPr lang="en-GB" noProof="0" dirty="0"/>
              <a:t>Descent: ∼6 km</a:t>
            </a:r>
          </a:p>
          <a:p>
            <a:pPr lvl="0"/>
            <a:r>
              <a:rPr lang="en-GB" noProof="0" dirty="0"/>
              <a:t>Duration: ∼30 min</a:t>
            </a:r>
          </a:p>
          <a:p>
            <a:pPr lvl="0"/>
            <a:r>
              <a:rPr lang="en-GB" noProof="0" dirty="0"/>
              <a:t>Maximum TEG hot-side temperature: 46°C</a:t>
            </a:r>
          </a:p>
          <a:p>
            <a:pPr lvl="0"/>
            <a:r>
              <a:rPr lang="en-GB" noProof="0" dirty="0"/>
              <a:t>Ambient temperature: ∼16°C</a:t>
            </a:r>
          </a:p>
          <a:p>
            <a:pPr lvl="0"/>
            <a:r>
              <a:rPr lang="en-GB" noProof="0" dirty="0"/>
              <a:t>AWG </a:t>
            </a:r>
            <a:r>
              <a:rPr lang="en-GB" noProof="0" dirty="0">
                <a:latin typeface="Grandview" panose="020F0502020204030204" pitchFamily="34" charset="0"/>
              </a:rPr>
              <a:t>ΔT</a:t>
            </a:r>
            <a:r>
              <a:rPr lang="en-GB" noProof="0" dirty="0"/>
              <a:t>: 22°C</a:t>
            </a:r>
          </a:p>
          <a:p>
            <a:pPr lvl="0"/>
            <a:r>
              <a:rPr lang="en-GB" noProof="0" dirty="0"/>
              <a:t>Cloudy conditions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C61C601-2115-E648-BB27-A7D710F38138}"/>
              </a:ext>
            </a:extLst>
          </p:cNvPr>
          <p:cNvSpPr txBox="1"/>
          <p:nvPr/>
        </p:nvSpPr>
        <p:spPr>
          <a:xfrm>
            <a:off x="6096000" y="1564456"/>
            <a:ext cx="5644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Theoretical performance (from characterisation): </a:t>
            </a:r>
          </a:p>
          <a:p>
            <a:r>
              <a:rPr lang="en-GB" dirty="0"/>
              <a:t>AWG TEG power (</a:t>
            </a:r>
            <a:r>
              <a:rPr lang="en-GB" dirty="0">
                <a:latin typeface="Grandview" panose="020F0502020204030204" pitchFamily="34" charset="0"/>
              </a:rPr>
              <a:t>ΔT</a:t>
            </a:r>
            <a:r>
              <a:rPr lang="en-GB" dirty="0"/>
              <a:t>: 22 °C): 20,5 </a:t>
            </a:r>
            <a:r>
              <a:rPr lang="en-GB" dirty="0" err="1"/>
              <a:t>mW</a:t>
            </a:r>
            <a:endParaRPr lang="en-GB" dirty="0"/>
          </a:p>
          <a:p>
            <a:r>
              <a:rPr lang="en-GB" dirty="0"/>
              <a:t>AWG PV power (100 W/m^2): 3,95 </a:t>
            </a:r>
            <a:r>
              <a:rPr lang="en-GB" dirty="0" err="1"/>
              <a:t>mW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2001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D4EF1-0F45-949F-3F01-A255951B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3FA44ED-0F49-A21E-4D2D-01B88103DA25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performance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17F9382-E279-2B24-DA78-1E169B5CBB11}"/>
              </a:ext>
            </a:extLst>
          </p:cNvPr>
          <p:cNvSpPr txBox="1"/>
          <p:nvPr/>
        </p:nvSpPr>
        <p:spPr>
          <a:xfrm>
            <a:off x="451281" y="1564456"/>
            <a:ext cx="56447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b="1" noProof="0" dirty="0"/>
              <a:t>Final results:</a:t>
            </a:r>
            <a:br>
              <a:rPr lang="en-GB" b="1" noProof="0" dirty="0"/>
            </a:br>
            <a:r>
              <a:rPr lang="en-GB" noProof="0" dirty="0" err="1"/>
              <a:t>P_teg_awg</a:t>
            </a:r>
            <a:r>
              <a:rPr lang="en-GB" noProof="0" dirty="0"/>
              <a:t>: 18,80 </a:t>
            </a:r>
            <a:r>
              <a:rPr lang="en-GB" noProof="0" dirty="0" err="1"/>
              <a:t>mW</a:t>
            </a:r>
            <a:br>
              <a:rPr lang="en-GB" noProof="0" dirty="0"/>
            </a:br>
            <a:r>
              <a:rPr lang="en-GB" noProof="0" dirty="0" err="1"/>
              <a:t>P_pv_awg</a:t>
            </a:r>
            <a:r>
              <a:rPr lang="en-GB" noProof="0" dirty="0"/>
              <a:t>: 3,15 </a:t>
            </a:r>
            <a:r>
              <a:rPr lang="en-GB" noProof="0" dirty="0" err="1"/>
              <a:t>mW</a:t>
            </a:r>
            <a:endParaRPr lang="en-GB" noProof="0" dirty="0"/>
          </a:p>
          <a:p>
            <a:pPr lvl="0"/>
            <a:endParaRPr lang="en-GB" b="1" noProof="0" dirty="0"/>
          </a:p>
          <a:p>
            <a:pPr lvl="0"/>
            <a:r>
              <a:rPr lang="en-GB" noProof="0" dirty="0" err="1"/>
              <a:t>E_in</a:t>
            </a:r>
            <a:r>
              <a:rPr lang="en-GB" noProof="0" dirty="0"/>
              <a:t>: 12,55 J</a:t>
            </a:r>
          </a:p>
          <a:p>
            <a:pPr lvl="0"/>
            <a:r>
              <a:rPr lang="en-GB" noProof="0" dirty="0" err="1"/>
              <a:t>E_sto</a:t>
            </a:r>
            <a:r>
              <a:rPr lang="en-GB" noProof="0" dirty="0"/>
              <a:t>: 8,10 J	η = 64,5%</a:t>
            </a:r>
          </a:p>
          <a:p>
            <a:r>
              <a:rPr lang="en-GB" noProof="0" dirty="0" err="1"/>
              <a:t>E_out</a:t>
            </a:r>
            <a:r>
              <a:rPr lang="en-GB" noProof="0" dirty="0"/>
              <a:t>: 7,88 J	η = 62,8%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2B41266-4C95-0F8D-2C60-D31F271110F3}"/>
              </a:ext>
            </a:extLst>
          </p:cNvPr>
          <p:cNvSpPr txBox="1"/>
          <p:nvPr/>
        </p:nvSpPr>
        <p:spPr>
          <a:xfrm>
            <a:off x="5966089" y="1564456"/>
            <a:ext cx="5644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noProof="0" dirty="0"/>
              <a:t>Theoretical performance (from characterisation): </a:t>
            </a:r>
          </a:p>
          <a:p>
            <a:r>
              <a:rPr lang="en-GB" noProof="0" dirty="0"/>
              <a:t>AWG TEG power (</a:t>
            </a:r>
            <a:r>
              <a:rPr lang="en-GB" noProof="0" dirty="0">
                <a:latin typeface="Grandview" panose="020F0502020204030204" pitchFamily="34" charset="0"/>
              </a:rPr>
              <a:t>ΔT</a:t>
            </a:r>
            <a:r>
              <a:rPr lang="en-GB" noProof="0" dirty="0"/>
              <a:t>: 22°C): 20,5 </a:t>
            </a:r>
            <a:r>
              <a:rPr lang="en-GB" noProof="0" dirty="0" err="1"/>
              <a:t>mW</a:t>
            </a:r>
            <a:endParaRPr lang="en-GB" noProof="0" dirty="0"/>
          </a:p>
          <a:p>
            <a:r>
              <a:rPr lang="en-GB" noProof="0" dirty="0"/>
              <a:t>AWG PV power (100W/m^2): 3,95 </a:t>
            </a:r>
            <a:r>
              <a:rPr lang="en-GB" noProof="0" dirty="0" err="1"/>
              <a:t>mW</a:t>
            </a:r>
            <a:endParaRPr lang="en-GB" noProof="0" dirty="0"/>
          </a:p>
        </p:txBody>
      </p:sp>
      <p:pic>
        <p:nvPicPr>
          <p:cNvPr id="5" name="Immagine 4" descr="Immagine che contiene testo, diagramma, Piano, mappa&#10;&#10;Il contenuto generato dall'IA potrebbe non essere corretto.">
            <a:extLst>
              <a:ext uri="{FF2B5EF4-FFF2-40B4-BE49-F238E27FC236}">
                <a16:creationId xmlns:a16="http://schemas.microsoft.com/office/drawing/2014/main" id="{7577F5DC-B20D-404F-DC77-84B716422F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6144" r="4675" b="45643"/>
          <a:stretch>
            <a:fillRect/>
          </a:stretch>
        </p:blipFill>
        <p:spPr>
          <a:xfrm>
            <a:off x="1699462" y="3537815"/>
            <a:ext cx="9784991" cy="367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6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3F4F-712D-3B6C-20A9-15EFC5E7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F1C53C-FFD5-290D-1E6D-7286786B088B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improvements: </a:t>
            </a:r>
            <a:r>
              <a:rPr lang="en-GB" noProof="0" dirty="0" err="1"/>
              <a:t>C_store</a:t>
            </a:r>
            <a:r>
              <a:rPr lang="en-GB" noProof="0" dirty="0"/>
              <a:t> </a:t>
            </a:r>
            <a:r>
              <a:rPr lang="en-GB" noProof="0" dirty="0" err="1"/>
              <a:t>rateo</a:t>
            </a:r>
            <a:endParaRPr lang="en-GB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189112-64DF-10AF-844F-941F190C2B50}"/>
              </a:ext>
            </a:extLst>
          </p:cNvPr>
          <p:cNvSpPr txBox="1"/>
          <p:nvPr/>
        </p:nvSpPr>
        <p:spPr>
          <a:xfrm>
            <a:off x="3143729" y="1628129"/>
            <a:ext cx="5644719" cy="2031325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en-GB" b="1" noProof="0" dirty="0" err="1"/>
              <a:t>C_store</a:t>
            </a:r>
            <a:r>
              <a:rPr lang="en-GB" b="1" noProof="0" dirty="0"/>
              <a:t> value:</a:t>
            </a:r>
            <a:br>
              <a:rPr lang="en-GB" b="1" noProof="0" dirty="0"/>
            </a:br>
            <a:r>
              <a:rPr lang="en-GB" noProof="0" dirty="0" err="1"/>
              <a:t>C_teg</a:t>
            </a:r>
            <a:r>
              <a:rPr lang="en-GB" noProof="0" dirty="0"/>
              <a:t>: 0,120 mF</a:t>
            </a:r>
          </a:p>
          <a:p>
            <a:pPr algn="ctr"/>
            <a:r>
              <a:rPr lang="en-GB" noProof="0" dirty="0" err="1"/>
              <a:t>C_pv</a:t>
            </a:r>
            <a:r>
              <a:rPr lang="en-GB" noProof="0" dirty="0"/>
              <a:t>: 0,021 mF</a:t>
            </a:r>
          </a:p>
          <a:p>
            <a:pPr algn="ctr"/>
            <a:endParaRPr lang="en-GB" noProof="0" dirty="0"/>
          </a:p>
          <a:p>
            <a:pPr algn="ctr"/>
            <a:r>
              <a:rPr lang="en-GB" b="1" noProof="0" dirty="0" err="1"/>
              <a:t>P_teg</a:t>
            </a:r>
            <a:r>
              <a:rPr lang="en-GB" b="1" noProof="0" dirty="0"/>
              <a:t>/</a:t>
            </a:r>
            <a:r>
              <a:rPr lang="en-GB" b="1" noProof="0" dirty="0" err="1"/>
              <a:t>C_teg</a:t>
            </a:r>
            <a:r>
              <a:rPr lang="en-GB" b="1" noProof="0" dirty="0"/>
              <a:t> = </a:t>
            </a:r>
            <a:r>
              <a:rPr lang="en-GB" b="1" noProof="0" dirty="0" err="1"/>
              <a:t>P_pv</a:t>
            </a:r>
            <a:r>
              <a:rPr lang="en-GB" b="1" noProof="0" dirty="0"/>
              <a:t>/</a:t>
            </a:r>
            <a:r>
              <a:rPr lang="en-GB" b="1" noProof="0" dirty="0" err="1"/>
              <a:t>P_pv</a:t>
            </a:r>
            <a:r>
              <a:rPr lang="en-GB" b="1" noProof="0" dirty="0"/>
              <a:t>  </a:t>
            </a:r>
            <a:endParaRPr lang="en-GB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b="1" noProof="0" dirty="0"/>
          </a:p>
          <a:p>
            <a:pPr algn="ctr"/>
            <a:endParaRPr lang="en-GB" b="1" noProof="0" dirty="0"/>
          </a:p>
          <a:p>
            <a:pPr algn="ctr"/>
            <a:r>
              <a:rPr lang="en-GB" b="1" noProof="0" dirty="0" err="1"/>
              <a:t>P_awg</a:t>
            </a:r>
            <a:r>
              <a:rPr lang="en-GB" b="1" noProof="0" dirty="0"/>
              <a:t>:</a:t>
            </a:r>
          </a:p>
          <a:p>
            <a:pPr algn="ctr"/>
            <a:r>
              <a:rPr lang="en-GB" noProof="0" dirty="0" err="1"/>
              <a:t>P_awg_teg</a:t>
            </a:r>
            <a:r>
              <a:rPr lang="en-GB" noProof="0" dirty="0"/>
              <a:t>: 20,5 </a:t>
            </a:r>
            <a:r>
              <a:rPr lang="en-GB" noProof="0" dirty="0" err="1"/>
              <a:t>mW</a:t>
            </a:r>
            <a:endParaRPr lang="en-GB" noProof="0" dirty="0"/>
          </a:p>
          <a:p>
            <a:pPr algn="ctr"/>
            <a:r>
              <a:rPr lang="en-GB" noProof="0" dirty="0" err="1"/>
              <a:t>P_awg_pv</a:t>
            </a:r>
            <a:r>
              <a:rPr lang="en-GB" noProof="0" dirty="0"/>
              <a:t>: 3,95 </a:t>
            </a:r>
            <a:r>
              <a:rPr lang="en-GB" noProof="0" dirty="0" err="1"/>
              <a:t>mW</a:t>
            </a:r>
            <a:endParaRPr lang="en-GB" noProof="0" dirty="0"/>
          </a:p>
          <a:p>
            <a:pPr algn="ctr"/>
            <a:endParaRPr lang="en-GB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b="1" noProof="0" dirty="0"/>
              <a:t>0,151=0,149 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52431F3-4F5E-21CB-0FC8-3D71007AD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45526"/>
              </p:ext>
            </p:extLst>
          </p:nvPr>
        </p:nvGraphicFramePr>
        <p:xfrm>
          <a:off x="2032000" y="414096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296435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31733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P/C </a:t>
                      </a:r>
                      <a:r>
                        <a:rPr lang="en-GB" noProof="0" dirty="0" err="1"/>
                        <a:t>rateo</a:t>
                      </a:r>
                      <a:r>
                        <a:rPr lang="en-GB" noProof="0" dirty="0"/>
                        <a:t> (TEG-PV)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E_sto</a:t>
                      </a:r>
                      <a:r>
                        <a:rPr lang="en-GB" noProof="0" dirty="0"/>
                        <a:t>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90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0,155 – 0,554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58,8%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0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0,151 – 0,149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64,5 %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54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0,156 – 0,103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63,1 %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90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0,157 – 0,061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60,1%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442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07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AEA0-78EC-884F-D02C-28EBB53D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9A7AC7E-DCF9-3F0D-E609-443A90E4AC1F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improvements: Hysteresis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FC2B8EE4-209C-1E72-5278-D39FF5183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13939"/>
              </p:ext>
            </p:extLst>
          </p:nvPr>
        </p:nvGraphicFramePr>
        <p:xfrm>
          <a:off x="2032000" y="4490282"/>
          <a:ext cx="89839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5983">
                  <a:extLst>
                    <a:ext uri="{9D8B030D-6E8A-4147-A177-3AD203B41FA5}">
                      <a16:colId xmlns:a16="http://schemas.microsoft.com/office/drawing/2014/main" val="3229643532"/>
                    </a:ext>
                  </a:extLst>
                </a:gridCol>
                <a:gridCol w="2245983">
                  <a:extLst>
                    <a:ext uri="{9D8B030D-6E8A-4147-A177-3AD203B41FA5}">
                      <a16:colId xmlns:a16="http://schemas.microsoft.com/office/drawing/2014/main" val="3631733379"/>
                    </a:ext>
                  </a:extLst>
                </a:gridCol>
                <a:gridCol w="2245983">
                  <a:extLst>
                    <a:ext uri="{9D8B030D-6E8A-4147-A177-3AD203B41FA5}">
                      <a16:colId xmlns:a16="http://schemas.microsoft.com/office/drawing/2014/main" val="1988245663"/>
                    </a:ext>
                  </a:extLst>
                </a:gridCol>
                <a:gridCol w="2245983">
                  <a:extLst>
                    <a:ext uri="{9D8B030D-6E8A-4147-A177-3AD203B41FA5}">
                      <a16:colId xmlns:a16="http://schemas.microsoft.com/office/drawing/2014/main" val="91464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/>
                        <a:t>Comparator Hyst.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/>
                        <a:t>E_sto efficiency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E_in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E_out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90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20 mV(no res.)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64,5 %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12,5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7,88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645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50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65,8 %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12,3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7,90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0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100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69,5 %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11,2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7,09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54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200 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78,4 %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9,9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/>
                        <a:t>6,47 J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904607"/>
                  </a:ext>
                </a:extLst>
              </a:tr>
            </a:tbl>
          </a:graphicData>
        </a:graphic>
      </p:graphicFrame>
      <p:pic>
        <p:nvPicPr>
          <p:cNvPr id="4" name="Immagine 3" descr="Immagine che contiene testo, diagramma, schermata, linea&#10;&#10;Il contenuto generato dall'IA potrebbe non essere corretto.">
            <a:extLst>
              <a:ext uri="{FF2B5EF4-FFF2-40B4-BE49-F238E27FC236}">
                <a16:creationId xmlns:a16="http://schemas.microsoft.com/office/drawing/2014/main" id="{803AB9AD-ED8C-6798-A982-145DD8EB3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015" y="1284275"/>
            <a:ext cx="3470147" cy="320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5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ADDE5-7C92-C7C8-B8CE-4E13DB51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49DEF84-B5A4-F684-E091-096B7FBF9044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improvements: Cold start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188E578-A746-BFE4-20CC-F19F64583BA4}"/>
              </a:ext>
            </a:extLst>
          </p:cNvPr>
          <p:cNvSpPr txBox="1"/>
          <p:nvPr/>
        </p:nvSpPr>
        <p:spPr>
          <a:xfrm>
            <a:off x="451281" y="1564456"/>
            <a:ext cx="5644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b="1" noProof="0" dirty="0"/>
              <a:t>Cold start: </a:t>
            </a:r>
          </a:p>
          <a:p>
            <a:pPr lvl="0"/>
            <a:r>
              <a:rPr lang="en-GB" noProof="0" dirty="0"/>
              <a:t>from off state to </a:t>
            </a:r>
            <a:r>
              <a:rPr lang="en-GB" noProof="0" dirty="0" err="1"/>
              <a:t>C_out</a:t>
            </a:r>
            <a:r>
              <a:rPr lang="en-GB" noProof="0" dirty="0"/>
              <a:t> = 5V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31B0BF88-B184-2D28-3235-2610CDAA6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340617"/>
              </p:ext>
            </p:extLst>
          </p:nvPr>
        </p:nvGraphicFramePr>
        <p:xfrm>
          <a:off x="2032000" y="3429000"/>
          <a:ext cx="901522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3807">
                  <a:extLst>
                    <a:ext uri="{9D8B030D-6E8A-4147-A177-3AD203B41FA5}">
                      <a16:colId xmlns:a16="http://schemas.microsoft.com/office/drawing/2014/main" val="3229643532"/>
                    </a:ext>
                  </a:extLst>
                </a:gridCol>
                <a:gridCol w="2253807">
                  <a:extLst>
                    <a:ext uri="{9D8B030D-6E8A-4147-A177-3AD203B41FA5}">
                      <a16:colId xmlns:a16="http://schemas.microsoft.com/office/drawing/2014/main" val="3631733379"/>
                    </a:ext>
                  </a:extLst>
                </a:gridCol>
                <a:gridCol w="2253807">
                  <a:extLst>
                    <a:ext uri="{9D8B030D-6E8A-4147-A177-3AD203B41FA5}">
                      <a16:colId xmlns:a16="http://schemas.microsoft.com/office/drawing/2014/main" val="1988245663"/>
                    </a:ext>
                  </a:extLst>
                </a:gridCol>
                <a:gridCol w="2253807">
                  <a:extLst>
                    <a:ext uri="{9D8B030D-6E8A-4147-A177-3AD203B41FA5}">
                      <a16:colId xmlns:a16="http://schemas.microsoft.com/office/drawing/2014/main" val="19561131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C_pv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Cold start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P_awg_pv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90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0,0046 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403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1,46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36,9 %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0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0,0211 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438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0,71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17,9 %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54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0,0304 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447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0,52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13,1 %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90460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38B1ED-56C5-5096-4200-D06DC876EEC3}"/>
              </a:ext>
            </a:extLst>
          </p:cNvPr>
          <p:cNvSpPr txBox="1"/>
          <p:nvPr/>
        </p:nvSpPr>
        <p:spPr>
          <a:xfrm>
            <a:off x="6096000" y="1564456"/>
            <a:ext cx="5644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Theoretical performance (from characterisation): </a:t>
            </a:r>
          </a:p>
          <a:p>
            <a:r>
              <a:rPr lang="en-GB" dirty="0"/>
              <a:t>AWG TEG power (</a:t>
            </a:r>
            <a:r>
              <a:rPr lang="en-GB" dirty="0">
                <a:latin typeface="Grandview" panose="020F0502020204030204" pitchFamily="34" charset="0"/>
              </a:rPr>
              <a:t>ΔT</a:t>
            </a:r>
            <a:r>
              <a:rPr lang="en-GB" dirty="0"/>
              <a:t>: 22°C): 20,5 </a:t>
            </a:r>
            <a:r>
              <a:rPr lang="en-GB" dirty="0" err="1"/>
              <a:t>mW</a:t>
            </a:r>
            <a:endParaRPr lang="en-GB" dirty="0"/>
          </a:p>
          <a:p>
            <a:r>
              <a:rPr lang="en-GB" dirty="0"/>
              <a:t>AWG PV power (100W/m^2): 3,95 </a:t>
            </a:r>
            <a:r>
              <a:rPr lang="en-GB" dirty="0" err="1"/>
              <a:t>mW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19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F8A91-52BF-2A6D-8535-A7BF45AD0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6B0A15C-8CBB-6518-231F-E40B8EC7761C}"/>
              </a:ext>
            </a:extLst>
          </p:cNvPr>
          <p:cNvSpPr txBox="1">
            <a:spLocks/>
          </p:cNvSpPr>
          <p:nvPr/>
        </p:nvSpPr>
        <p:spPr>
          <a:xfrm>
            <a:off x="451281" y="638608"/>
            <a:ext cx="11029616" cy="5080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noProof="0" dirty="0"/>
              <a:t>Co-harvesting improvements: BQ efficiency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46757B7-FE70-684B-C765-7BFC1556A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128147"/>
              </p:ext>
            </p:extLst>
          </p:nvPr>
        </p:nvGraphicFramePr>
        <p:xfrm>
          <a:off x="933236" y="4192808"/>
          <a:ext cx="4985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750">
                  <a:extLst>
                    <a:ext uri="{9D8B030D-6E8A-4147-A177-3AD203B41FA5}">
                      <a16:colId xmlns:a16="http://schemas.microsoft.com/office/drawing/2014/main" val="3229643532"/>
                    </a:ext>
                  </a:extLst>
                </a:gridCol>
                <a:gridCol w="1661750">
                  <a:extLst>
                    <a:ext uri="{9D8B030D-6E8A-4147-A177-3AD203B41FA5}">
                      <a16:colId xmlns:a16="http://schemas.microsoft.com/office/drawing/2014/main" val="3631733379"/>
                    </a:ext>
                  </a:extLst>
                </a:gridCol>
                <a:gridCol w="1661750">
                  <a:extLst>
                    <a:ext uri="{9D8B030D-6E8A-4147-A177-3AD203B41FA5}">
                      <a16:colId xmlns:a16="http://schemas.microsoft.com/office/drawing/2014/main" val="198824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Vout_teg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Pout_teg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Efficiency_teg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90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4,9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 12,3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58,3 %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0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11,9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56,9 %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54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3,5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11,3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53,9 %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90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2,9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10,9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51,9 %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50920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881AB8-CD42-A133-5528-6338CFB72DFC}"/>
              </a:ext>
            </a:extLst>
          </p:cNvPr>
          <p:cNvSpPr txBox="1"/>
          <p:nvPr/>
        </p:nvSpPr>
        <p:spPr>
          <a:xfrm>
            <a:off x="6096000" y="1564456"/>
            <a:ext cx="5644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Theoretical performance (from characterisation): </a:t>
            </a:r>
          </a:p>
          <a:p>
            <a:r>
              <a:rPr lang="en-GB" dirty="0"/>
              <a:t>AWG TEG power (</a:t>
            </a:r>
            <a:r>
              <a:rPr lang="en-GB" dirty="0">
                <a:latin typeface="Grandview" panose="020F0502020204030204" pitchFamily="34" charset="0"/>
              </a:rPr>
              <a:t>ΔT</a:t>
            </a:r>
            <a:r>
              <a:rPr lang="en-GB" dirty="0"/>
              <a:t>: 22°C): 20,5 </a:t>
            </a:r>
            <a:r>
              <a:rPr lang="en-GB" dirty="0" err="1"/>
              <a:t>mW</a:t>
            </a:r>
            <a:endParaRPr lang="en-GB" dirty="0"/>
          </a:p>
          <a:p>
            <a:r>
              <a:rPr lang="en-GB" dirty="0"/>
              <a:t>AWG PV power (100W/m^2): 3,95 </a:t>
            </a:r>
            <a:r>
              <a:rPr lang="en-GB" dirty="0" err="1"/>
              <a:t>mW</a:t>
            </a:r>
            <a:endParaRPr lang="en-GB" dirty="0"/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5FF4A2A-CE8A-3499-A889-0708DE2FB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8110"/>
              </p:ext>
            </p:extLst>
          </p:nvPr>
        </p:nvGraphicFramePr>
        <p:xfrm>
          <a:off x="6273515" y="4192808"/>
          <a:ext cx="4985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750">
                  <a:extLst>
                    <a:ext uri="{9D8B030D-6E8A-4147-A177-3AD203B41FA5}">
                      <a16:colId xmlns:a16="http://schemas.microsoft.com/office/drawing/2014/main" val="3229643532"/>
                    </a:ext>
                  </a:extLst>
                </a:gridCol>
                <a:gridCol w="1661750">
                  <a:extLst>
                    <a:ext uri="{9D8B030D-6E8A-4147-A177-3AD203B41FA5}">
                      <a16:colId xmlns:a16="http://schemas.microsoft.com/office/drawing/2014/main" val="3631733379"/>
                    </a:ext>
                  </a:extLst>
                </a:gridCol>
                <a:gridCol w="1661750">
                  <a:extLst>
                    <a:ext uri="{9D8B030D-6E8A-4147-A177-3AD203B41FA5}">
                      <a16:colId xmlns:a16="http://schemas.microsoft.com/office/drawing/2014/main" val="1988245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Vout_pv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Pout_pv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 err="1"/>
                        <a:t>Efficiency_pv</a:t>
                      </a:r>
                      <a:endParaRPr lang="en-GB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90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4,9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3,1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77,6 %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0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3,0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74,9 %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054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3,5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2,9 </a:t>
                      </a:r>
                      <a:r>
                        <a:rPr lang="en-GB" noProof="0" dirty="0" err="1"/>
                        <a:t>mW</a:t>
                      </a:r>
                      <a:endParaRPr lang="en-GB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73,6 %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904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2,9 V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noProof="0" dirty="0"/>
                        <a:t>Under </a:t>
                      </a:r>
                      <a:r>
                        <a:rPr lang="en-GB" noProof="0" dirty="0" err="1"/>
                        <a:t>Mpp</a:t>
                      </a:r>
                      <a:r>
                        <a:rPr lang="en-GB" noProof="0" dirty="0"/>
                        <a:t> voltage (3,4V)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50920"/>
                  </a:ext>
                </a:extLst>
              </a:tr>
            </a:tbl>
          </a:graphicData>
        </a:graphic>
      </p:graphicFrame>
      <p:pic>
        <p:nvPicPr>
          <p:cNvPr id="10" name="Immagine 9" descr="Immagine che contiene testo, diagramm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5B2176F4-79CE-9490-A869-B697952C6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12" y="1425582"/>
            <a:ext cx="5442274" cy="216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00351"/>
      </p:ext>
    </p:extLst>
  </p:cSld>
  <p:clrMapOvr>
    <a:masterClrMapping/>
  </p:clrMapOvr>
</p:sld>
</file>

<file path=ppt/theme/theme1.xml><?xml version="1.0" encoding="utf-8"?>
<a:theme xmlns:a="http://schemas.openxmlformats.org/drawingml/2006/main" name="1_Dividendi">
  <a:themeElements>
    <a:clrScheme name="Custom 8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C8102E"/>
      </a:accent1>
      <a:accent2>
        <a:srgbClr val="920C22"/>
      </a:accent2>
      <a:accent3>
        <a:srgbClr val="F04A66"/>
      </a:accent3>
      <a:accent4>
        <a:srgbClr val="C8102E"/>
      </a:accent4>
      <a:accent5>
        <a:srgbClr val="F3677E"/>
      </a:accent5>
      <a:accent6>
        <a:srgbClr val="FFC000"/>
      </a:accent6>
      <a:hlink>
        <a:srgbClr val="920C22"/>
      </a:hlink>
      <a:folHlink>
        <a:srgbClr val="262626"/>
      </a:folHlink>
    </a:clrScheme>
    <a:fontScheme name="Dividendi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i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Dividendi">
  <a:themeElements>
    <a:clrScheme name="Custom 8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C8102E"/>
      </a:accent1>
      <a:accent2>
        <a:srgbClr val="920C22"/>
      </a:accent2>
      <a:accent3>
        <a:srgbClr val="F04A66"/>
      </a:accent3>
      <a:accent4>
        <a:srgbClr val="C8102E"/>
      </a:accent4>
      <a:accent5>
        <a:srgbClr val="F3677E"/>
      </a:accent5>
      <a:accent6>
        <a:srgbClr val="FFC000"/>
      </a:accent6>
      <a:hlink>
        <a:srgbClr val="920C22"/>
      </a:hlink>
      <a:folHlink>
        <a:srgbClr val="262626"/>
      </a:folHlink>
    </a:clrScheme>
    <a:fontScheme name="Dividendi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i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11654</TotalTime>
  <Words>534</Words>
  <Application>Microsoft Office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11</vt:i4>
      </vt:variant>
    </vt:vector>
  </HeadingPairs>
  <TitlesOfParts>
    <vt:vector size="20" baseType="lpstr">
      <vt:lpstr>Aptos</vt:lpstr>
      <vt:lpstr>Arial</vt:lpstr>
      <vt:lpstr>Calibri</vt:lpstr>
      <vt:lpstr>Gill Sans MT</vt:lpstr>
      <vt:lpstr>Grandview</vt:lpstr>
      <vt:lpstr>Times New Roman</vt:lpstr>
      <vt:lpstr>Wingdings 2</vt:lpstr>
      <vt:lpstr>1_Dividendi</vt:lpstr>
      <vt:lpstr>Dividendi</vt:lpstr>
      <vt:lpstr>FINAL RESULTS Self-powered co-harvesting for batteryless sensing and actuation in two-wheeled IoT applications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Doglioni</dc:creator>
  <cp:lastModifiedBy>Pasquini, Giuseppe</cp:lastModifiedBy>
  <cp:revision>30</cp:revision>
  <cp:lastPrinted>2025-10-24T14:45:22Z</cp:lastPrinted>
  <dcterms:created xsi:type="dcterms:W3CDTF">2024-09-16T07:54:47Z</dcterms:created>
  <dcterms:modified xsi:type="dcterms:W3CDTF">2026-02-03T13:14:10Z</dcterms:modified>
</cp:coreProperties>
</file>